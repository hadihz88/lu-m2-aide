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4" r:id="rId21"/>
    <p:sldId id="278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BBC7-2261-400A-AF4A-026363EC701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F3857-A3FC-4E5B-94C2-127EBE2D2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5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844FF-B64A-416C-9EB1-3F38C0EBA27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F48D1-306C-42A2-BC24-0B27AB2969F2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AB67-9A44-4576-847E-AD042D7DE38C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3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61F7-CCC4-4E06-8DF6-4A89E7BD0CF9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1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210C-B151-4ABF-ADBB-3DE8BB9CC0A7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CB097-DCC3-485A-BA24-20127064A87C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2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57FA-2EC0-4EDE-9814-AE22A19C355C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0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E81C-15C9-450A-B943-7DE658D086F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9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812-C5C5-476F-8AA5-825A558FE68E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747A-781C-4C50-B793-2770CE45F1B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0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CA69-A625-443C-87FC-5CBC26A228A7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515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2F37-6EE7-41F0-9F1F-F25E1209030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63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CC3A-B722-4A80-8859-A89F94CB0A84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3796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48720-C962-4C63-9876-384D7380676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14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EAF17-BAEF-4D57-9089-43C2BDFCCE3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63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7ED1-6CC5-44D2-A618-E7B46B6B6BDC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7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A93BF-615F-47BA-B13F-043A1E8DD53C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2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Chapter </a:t>
            </a:r>
            <a:r>
              <a:rPr lang="en-US" dirty="0"/>
              <a:t>3</a:t>
            </a:r>
            <a:r>
              <a:rPr dirty="0"/>
              <a:t> – Writing a Professional Technical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For Master 2 </a:t>
            </a:r>
            <a:r>
              <a:t>Professional</a:t>
            </a:r>
            <a:r>
              <a:rPr lang="en-US"/>
              <a:t>, </a:t>
            </a:r>
            <a:r>
              <a:t>in </a:t>
            </a:r>
            <a:r>
              <a:rPr dirty="0"/>
              <a:t>Data Science &amp;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12F2E-B468-0E38-39CA-4F8D1B09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&amp;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b="1" dirty="0"/>
              <a:t>Goal: To help students understand how to plan, organize, and write a complete professional report.</a:t>
            </a:r>
          </a:p>
          <a:p>
            <a:pPr algn="just"/>
            <a:r>
              <a:rPr dirty="0"/>
              <a:t>Identify the structu</a:t>
            </a:r>
            <a:r>
              <a:rPr lang="en-US" dirty="0"/>
              <a:t>r</a:t>
            </a:r>
            <a:r>
              <a:rPr dirty="0"/>
              <a:t>e of a professional report.</a:t>
            </a:r>
          </a:p>
          <a:p>
            <a:pPr algn="just"/>
            <a:r>
              <a:rPr dirty="0"/>
              <a:t>Write organized and well-formatted documents.</a:t>
            </a:r>
          </a:p>
          <a:p>
            <a:pPr algn="just"/>
            <a:r>
              <a:rPr dirty="0"/>
              <a:t>Create lists of figures, tables, and references.</a:t>
            </a:r>
          </a:p>
          <a:p>
            <a:pPr algn="just"/>
            <a:r>
              <a:rPr dirty="0"/>
              <a:t>Use professional layout and formatting standards.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53F70-041D-FF3C-F9F8-490046DF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Professional Report?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/>
              <a:t>A professional report communicates results, methods, and recommendations clearly and formally.</a:t>
            </a:r>
          </a:p>
          <a:p>
            <a:pPr algn="just"/>
            <a:r>
              <a:rPr dirty="0"/>
              <a:t>Focuses on solution and application (not theory).</a:t>
            </a:r>
          </a:p>
          <a:p>
            <a:pPr algn="just"/>
            <a:r>
              <a:rPr dirty="0"/>
              <a:t>Used in companies, internships, and applied projects.</a:t>
            </a:r>
          </a:p>
          <a:p>
            <a:pPr algn="just"/>
            <a:r>
              <a:rPr dirty="0"/>
              <a:t>Examples: Data analysis reports, ML system documentation.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F3727-E80E-A0B5-8A2C-F538D7D2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Professional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pPr algn="just"/>
            <a:r>
              <a:rPr dirty="0"/>
              <a:t>1. Cover Page</a:t>
            </a:r>
          </a:p>
          <a:p>
            <a:pPr algn="just"/>
            <a:r>
              <a:rPr dirty="0"/>
              <a:t>2. Acknowledgements (</a:t>
            </a:r>
            <a:r>
              <a:rPr dirty="0" err="1"/>
              <a:t>Remerciements</a:t>
            </a:r>
            <a:r>
              <a:rPr dirty="0"/>
              <a:t>)</a:t>
            </a:r>
          </a:p>
          <a:p>
            <a:pPr algn="just"/>
            <a:r>
              <a:rPr dirty="0"/>
              <a:t>3. Abstract </a:t>
            </a:r>
          </a:p>
          <a:p>
            <a:pPr algn="just"/>
            <a:r>
              <a:rPr dirty="0"/>
              <a:t>4. Table of Contents</a:t>
            </a:r>
          </a:p>
          <a:p>
            <a:pPr algn="just"/>
            <a:r>
              <a:rPr dirty="0"/>
              <a:t>5. List of Figures &amp; Tables</a:t>
            </a:r>
          </a:p>
          <a:p>
            <a:pPr algn="just"/>
            <a:r>
              <a:rPr dirty="0"/>
              <a:t>6. Introduction</a:t>
            </a:r>
          </a:p>
          <a:p>
            <a:pPr algn="just"/>
            <a:r>
              <a:rPr dirty="0"/>
              <a:t>7. Background / Context</a:t>
            </a:r>
          </a:p>
          <a:p>
            <a:pPr algn="just"/>
            <a:r>
              <a:rPr dirty="0"/>
              <a:t>8. Methodology</a:t>
            </a:r>
          </a:p>
          <a:p>
            <a:pPr algn="just"/>
            <a:r>
              <a:rPr dirty="0"/>
              <a:t>9. Results &amp; Analysis</a:t>
            </a:r>
          </a:p>
          <a:p>
            <a:pPr algn="just"/>
            <a:r>
              <a:rPr dirty="0"/>
              <a:t>10. Discussion &amp; Recommendations</a:t>
            </a:r>
          </a:p>
          <a:p>
            <a:pPr algn="just"/>
            <a:r>
              <a:rPr dirty="0"/>
              <a:t>11. Conclusion</a:t>
            </a:r>
          </a:p>
          <a:p>
            <a:pPr algn="just"/>
            <a:r>
              <a:rPr dirty="0"/>
              <a:t>12. References</a:t>
            </a:r>
          </a:p>
          <a:p>
            <a:pPr algn="just"/>
            <a:r>
              <a:rPr dirty="0"/>
              <a:t>13. Appendices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DC680-5BFD-D23F-B043-9F97C1D5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0323-2C13-28B0-3A2C-4AC715C0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Cover Page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FDE6-0014-9862-470D-D3ADADE92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Includes:</a:t>
            </a:r>
          </a:p>
          <a:p>
            <a:pPr algn="just"/>
            <a:r>
              <a:rPr lang="en-US" dirty="0"/>
              <a:t>Title of project/report</a:t>
            </a:r>
          </a:p>
          <a:p>
            <a:pPr algn="just"/>
            <a:r>
              <a:rPr lang="en-US" dirty="0"/>
              <a:t>Author(s) name(s)</a:t>
            </a:r>
          </a:p>
          <a:p>
            <a:pPr algn="just"/>
            <a:r>
              <a:rPr lang="en-US" dirty="0"/>
              <a:t>Institution / company name</a:t>
            </a:r>
          </a:p>
          <a:p>
            <a:pPr algn="just"/>
            <a:r>
              <a:rPr lang="en-US" dirty="0"/>
              <a:t>Department / program</a:t>
            </a:r>
          </a:p>
          <a:p>
            <a:pPr algn="just"/>
            <a:r>
              <a:rPr lang="en-US" dirty="0"/>
              <a:t>Supervisor </a:t>
            </a:r>
          </a:p>
          <a:p>
            <a:pPr algn="just"/>
            <a:r>
              <a:rPr lang="en-US" dirty="0"/>
              <a:t>Date of submission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D2E2D-9E2D-1AC8-2F7E-842297F4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1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Cover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Final Report – Machine Learning Model for Energy Consumption Prediction</a:t>
            </a:r>
          </a:p>
          <a:p>
            <a:pPr algn="just"/>
            <a:r>
              <a:rPr dirty="0"/>
              <a:t>Prepared by: Zeinab Abbas</a:t>
            </a:r>
          </a:p>
          <a:p>
            <a:pPr algn="just"/>
            <a:r>
              <a:rPr dirty="0"/>
              <a:t>Master 2 Professional – Data Science and AI</a:t>
            </a:r>
          </a:p>
          <a:p>
            <a:pPr algn="just"/>
            <a:r>
              <a:rPr dirty="0"/>
              <a:t>Supervisor: Dr. </a:t>
            </a:r>
            <a:r>
              <a:rPr lang="en-US" dirty="0"/>
              <a:t>Jean-Marc Girault</a:t>
            </a:r>
            <a:endParaRPr dirty="0"/>
          </a:p>
          <a:p>
            <a:pPr algn="just"/>
            <a:r>
              <a:rPr dirty="0"/>
              <a:t>Date: June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C9E34-B811-CF81-8D96-3D31D617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29E14A66-F16F-7BD9-6718-F919199EE964}"/>
              </a:ext>
            </a:extLst>
          </p:cNvPr>
          <p:cNvSpPr/>
          <p:nvPr/>
        </p:nvSpPr>
        <p:spPr>
          <a:xfrm>
            <a:off x="4719484" y="4350774"/>
            <a:ext cx="2477729" cy="1460399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I would like to express my gratitude to my supervisor, Dr. </a:t>
            </a:r>
            <a:r>
              <a:rPr lang="en-US" dirty="0"/>
              <a:t>Jean-Marc Girault</a:t>
            </a:r>
            <a:r>
              <a:rPr dirty="0"/>
              <a:t>, for his continuous support and guidance throughout this project. My appreciation also goes to my colleagues for their collaboration and insightful discussions.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A75B3-6D0D-D135-4517-608619D1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This project presents the development of a neural network for detecting fake news using NLP. The model was trained on 10,000 labeled articles and achieved 92% accuracy. Results show that fine-tuning BERT improved performance compared to TF-IDF approaches. Future work includes deployment on a web application.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4AAEB-B162-7E43-A885-030C09B8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A156-6B58-FE52-E5EF-EBC2DA73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18C8-3DE0-ECB0-1C21-F87EC3BA6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Table of Contents, List of Figures, and List of Tables</a:t>
            </a:r>
          </a:p>
          <a:p>
            <a:pPr algn="just"/>
            <a:r>
              <a:rPr lang="en-US" dirty="0"/>
              <a:t>Generated automatically (Word/LaTeX).</a:t>
            </a:r>
          </a:p>
          <a:p>
            <a:pPr algn="just"/>
            <a:r>
              <a:rPr lang="en-US" dirty="0"/>
              <a:t>Helps the reader navigate the report.</a:t>
            </a:r>
          </a:p>
          <a:p>
            <a:pPr algn="just"/>
            <a:r>
              <a:rPr lang="en-US" dirty="0"/>
              <a:t>Use consistent numbering (1.1, 1.2, etc.).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5A136-85B4-CF7F-8F24-F165F188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&amp; Layout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just"/>
            <a:r>
              <a:rPr dirty="0"/>
              <a:t>Font: Times New Roman or Arial, size 12</a:t>
            </a:r>
          </a:p>
          <a:p>
            <a:pPr algn="just"/>
            <a:r>
              <a:rPr dirty="0"/>
              <a:t>Line spacing: 1.5</a:t>
            </a:r>
          </a:p>
          <a:p>
            <a:pPr algn="just"/>
            <a:r>
              <a:rPr dirty="0"/>
              <a:t>Margins: 2.5 cm on all sides</a:t>
            </a:r>
          </a:p>
          <a:p>
            <a:pPr algn="just"/>
            <a:r>
              <a:rPr dirty="0"/>
              <a:t>Page numbering: Bottom center</a:t>
            </a:r>
          </a:p>
          <a:p>
            <a:pPr algn="just"/>
            <a:r>
              <a:rPr dirty="0"/>
              <a:t>Figures/Tables: Numbered and captioned</a:t>
            </a:r>
          </a:p>
          <a:p>
            <a:pPr algn="just"/>
            <a:r>
              <a:rPr dirty="0"/>
              <a:t>Length: 15–25 pages for professional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5F64D-22BA-6E3B-8A4E-1F73CF33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E4779-C099-B691-3517-EC979449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4C84BF-6452-D404-2E79-57FC40E21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389" y="2967335"/>
            <a:ext cx="523572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problem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objectives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Explain why the project is important.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Outline report structure.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05CFC1-D945-50F5-A9CF-0A1B8FEA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58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DCA8-6688-3AF9-30AB-3DEA8325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/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BF5B-BF74-9959-0E59-303A48607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Present necessary theory or background concepts (e.g., NLP, CNNs).</a:t>
            </a:r>
          </a:p>
          <a:p>
            <a:pPr algn="just"/>
            <a:r>
              <a:rPr lang="en-US" dirty="0"/>
              <a:t>Mention similar existing work (briefly).</a:t>
            </a:r>
          </a:p>
          <a:p>
            <a:pPr algn="just"/>
            <a:r>
              <a:rPr lang="en-US" dirty="0"/>
              <a:t>Provide definitions and diagrams if needed.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99D27-CDBA-F241-D7C7-03B0886BB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0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4179-F2D2-E88E-DE55-08732403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EB9DB4-C8B2-7326-85C4-75E9AE2F4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2805" y="3085314"/>
            <a:ext cx="52213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Describe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tools, datasets, and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used.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Include steps like: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preprocessing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training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Evaluation metrics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Hardware/software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B39F2-6594-903B-5F09-88392F04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5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2B00-13E1-404B-7444-FD10477C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and Analysis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B8E5C8-701F-4603-74B8-05D2DCA46A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0376" y="2004228"/>
            <a:ext cx="54457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Present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tables, charts, and graphs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captions.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 results between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Interpret results professionally.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C22AD-ADD4-5046-4D58-D68F076B6B12}"/>
              </a:ext>
            </a:extLst>
          </p:cNvPr>
          <p:cNvSpPr txBox="1"/>
          <p:nvPr/>
        </p:nvSpPr>
        <p:spPr>
          <a:xfrm>
            <a:off x="1217236" y="4471671"/>
            <a:ext cx="4741111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dirty="0"/>
              <a:t>As shown in Table 2, BERT achieved the highest accuracy (92%) and F1-score (0.91), outperforming baseline models by 7%.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B9F7F7-606E-88BB-4E6B-6ED955A0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21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0ECF-669C-3E86-44EE-6DF1403D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556FEC-DD07-F409-69ED-A096928B87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62" y="3777811"/>
            <a:ext cx="58015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what the results mean in real-world context.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 improvements or next steps.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A331E-B92E-BF7A-6D1C-85B38A1C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7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A91E-0344-3548-90D5-BA58D2321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5ED1E5-C167-A7B4-6B26-802CA6DBBA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2176" y="3777811"/>
            <a:ext cx="49025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Restate objective and summarize outcomes.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new information here.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2F171A-2D5E-CFBF-48EC-7C98AA0D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3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C248-C2F3-4F84-85FF-4F289F92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/ 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FE615-5529-527F-41F2-EADAE6CDA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a consistent citation style (APA, IEEE, etc.)</a:t>
            </a:r>
          </a:p>
          <a:p>
            <a:r>
              <a:rPr lang="en-US" dirty="0"/>
              <a:t>Include all books, articles, or websites cited.</a:t>
            </a:r>
          </a:p>
          <a:p>
            <a:pPr marL="0" indent="0">
              <a:buNone/>
            </a:pPr>
            <a:r>
              <a:rPr lang="en-US" b="1" dirty="0"/>
              <a:t>Example (APA style):</a:t>
            </a:r>
            <a:endParaRPr lang="en-US" dirty="0"/>
          </a:p>
          <a:p>
            <a:r>
              <a:rPr lang="en-US" dirty="0"/>
              <a:t>Devlin, J., Chang, M. W., Lee, K., &amp; Toutanova, K. (2019). </a:t>
            </a:r>
            <a:r>
              <a:rPr lang="en-US" i="1" dirty="0"/>
              <a:t>BERT: Pre-training of Deep Bidirectional Transformers for Language Understanding</a:t>
            </a:r>
            <a:r>
              <a:rPr lang="en-US" dirty="0"/>
              <a:t>. NAACL-HLT.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EE1CC-D298-A53B-57F6-BEFB253C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5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32C0-4398-33CE-04F5-1EDD752C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F896-56DC-E2FE-2F4C-C69FAC17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large tables, full code, or documentation that doesn’t fit in the main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02D52-D212-0A02-9D60-B309830B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73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A41D-D5A3-B5D1-33C7-E0267F97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503E4E-AD8A-FF68-609D-8EF757E203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881633"/>
              </p:ext>
            </p:extLst>
          </p:nvPr>
        </p:nvGraphicFramePr>
        <p:xfrm>
          <a:off x="457200" y="2460609"/>
          <a:ext cx="8229600" cy="2834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6524712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371107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677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Times New Roman or Arial, size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53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 spacing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78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Margins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2.5 cm all sides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127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 numbering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Bottom center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979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Figures and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Numbered and captioned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204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pages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Typically, 15–25 pages (for professional master project)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3281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5F3868-9B86-8DB3-F844-0929C7237115}"/>
              </a:ext>
            </a:extLst>
          </p:cNvPr>
          <p:cNvSpPr txBox="1"/>
          <p:nvPr/>
        </p:nvSpPr>
        <p:spPr>
          <a:xfrm>
            <a:off x="1578077" y="553931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Tip:</a:t>
            </a:r>
            <a:r>
              <a:rPr lang="en-US" dirty="0"/>
              <a:t> Use consistent </a:t>
            </a:r>
            <a:r>
              <a:rPr lang="en-US" b="1" dirty="0"/>
              <a:t>styles</a:t>
            </a:r>
            <a:r>
              <a:rPr lang="en-US" dirty="0"/>
              <a:t> (Headings 1, 2, 3) to auto-generate Table of Contents.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2A16C2-6232-EDA5-00A9-36F05A9C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94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Class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22324"/>
            <a:ext cx="6661356" cy="4419040"/>
          </a:xfrm>
        </p:spPr>
        <p:txBody>
          <a:bodyPr>
            <a:normAutofit fontScale="92500" lnSpcReduction="10000"/>
          </a:bodyPr>
          <a:lstStyle/>
          <a:p>
            <a:pPr algn="just"/>
            <a:endParaRPr dirty="0"/>
          </a:p>
          <a:p>
            <a:r>
              <a:rPr b="1" dirty="0"/>
              <a:t>Activity </a:t>
            </a:r>
            <a:r>
              <a:rPr lang="en-US" b="1" dirty="0"/>
              <a:t>1</a:t>
            </a:r>
            <a:r>
              <a:rPr b="1" dirty="0"/>
              <a:t>– </a:t>
            </a:r>
            <a:r>
              <a:rPr lang="en-US" b="1" dirty="0"/>
              <a:t>Group Mini-Report on an AI Topic</a:t>
            </a:r>
          </a:p>
          <a:p>
            <a:pPr lvl="1"/>
            <a:r>
              <a:rPr lang="en-US" dirty="0"/>
              <a:t>Predicting House Prices using Linear Regression</a:t>
            </a:r>
          </a:p>
          <a:p>
            <a:pPr lvl="1"/>
            <a:r>
              <a:rPr lang="en-US" dirty="0"/>
              <a:t>Image Classification with CNNs</a:t>
            </a:r>
          </a:p>
          <a:p>
            <a:pPr lvl="1"/>
            <a:r>
              <a:rPr lang="en-US" dirty="0"/>
              <a:t>Brain Tumor Classification using Deep Learning</a:t>
            </a:r>
          </a:p>
          <a:p>
            <a:r>
              <a:rPr lang="en-US" b="1" dirty="0"/>
              <a:t>Provide a template with:</a:t>
            </a:r>
          </a:p>
          <a:p>
            <a:pPr lvl="1"/>
            <a:r>
              <a:rPr lang="en-US" dirty="0"/>
              <a:t>Title </a:t>
            </a:r>
          </a:p>
          <a:p>
            <a:pPr lvl="1"/>
            <a:r>
              <a:rPr lang="en-US" dirty="0"/>
              <a:t>Abstract (3–4 sentences)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Methodology (how they would do it)</a:t>
            </a:r>
          </a:p>
          <a:p>
            <a:pPr lvl="1"/>
            <a:r>
              <a:rPr lang="en-US" dirty="0"/>
              <a:t>Expected Results</a:t>
            </a:r>
          </a:p>
          <a:p>
            <a:pPr lvl="1"/>
            <a:r>
              <a:rPr lang="en-US" dirty="0"/>
              <a:t>Discussion</a:t>
            </a:r>
          </a:p>
          <a:p>
            <a:pPr lvl="1"/>
            <a:r>
              <a:rPr lang="en-US" dirty="0"/>
              <a:t>Conclusion</a:t>
            </a:r>
          </a:p>
          <a:p>
            <a:pPr algn="just"/>
            <a:endParaRPr lang="en-US" dirty="0"/>
          </a:p>
          <a:p>
            <a:pPr algn="just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44345-DF1C-4533-2443-01D2CB8A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D56C-4CA6-8AC3-8299-281B86AB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C6CF7-A063-38EA-1DF6-BF782AD7C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Activity 2 – Formatting Challenge (optional)</a:t>
            </a:r>
          </a:p>
          <a:p>
            <a:r>
              <a:rPr lang="en-US" dirty="0"/>
              <a:t>In Microsoft Word:</a:t>
            </a:r>
          </a:p>
          <a:p>
            <a:r>
              <a:rPr lang="en-US" dirty="0"/>
              <a:t>Insert automatic Table of Contents</a:t>
            </a:r>
          </a:p>
          <a:p>
            <a:r>
              <a:rPr lang="en-US" dirty="0"/>
              <a:t>Create List of Figures and Tables</a:t>
            </a:r>
          </a:p>
          <a:p>
            <a:r>
              <a:rPr lang="en-US" dirty="0"/>
              <a:t>Add page numbers and section titles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0FB5D-10AA-8E21-9DFF-BA956AC4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50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Professional reports must be structured, formal, and consistent.</a:t>
            </a:r>
          </a:p>
          <a:p>
            <a:r>
              <a:t>Always include figures, tables, and references.</a:t>
            </a:r>
          </a:p>
          <a:p>
            <a:r>
              <a:t>Presentation and clarity matter as much as technical content.</a:t>
            </a:r>
          </a:p>
          <a:p>
            <a:r>
              <a:t>Use Word or LaTeX tools to automate tables of contents and numbering.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70F9D-B556-5549-26DF-5D3082B5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874</Words>
  <Application>Microsoft Office PowerPoint</Application>
  <PresentationFormat>On-screen Show (4:3)</PresentationFormat>
  <Paragraphs>155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Trebuchet MS</vt:lpstr>
      <vt:lpstr>Wingdings</vt:lpstr>
      <vt:lpstr>Wingdings 3</vt:lpstr>
      <vt:lpstr>Facet</vt:lpstr>
      <vt:lpstr>Chapter 3 – Writing a Professional Technical Report</vt:lpstr>
      <vt:lpstr>Goal &amp; Learning Objectives</vt:lpstr>
      <vt:lpstr>What is a Professional Report?</vt:lpstr>
      <vt:lpstr>Structure of a Professional Report</vt:lpstr>
      <vt:lpstr> Cover Page </vt:lpstr>
      <vt:lpstr>Example: Cover Page</vt:lpstr>
      <vt:lpstr>Acknowledgements Example</vt:lpstr>
      <vt:lpstr>Abstract Example</vt:lpstr>
      <vt:lpstr>PowerPoint Presentation</vt:lpstr>
      <vt:lpstr>Formatting &amp; Layout Guidelines</vt:lpstr>
      <vt:lpstr>Introduction</vt:lpstr>
      <vt:lpstr>Background / Context</vt:lpstr>
      <vt:lpstr>Methodology</vt:lpstr>
      <vt:lpstr>Results and Analysis</vt:lpstr>
      <vt:lpstr>Discussion and Recommendations</vt:lpstr>
      <vt:lpstr>Conclusion</vt:lpstr>
      <vt:lpstr>References / Bibliography</vt:lpstr>
      <vt:lpstr>Appendices</vt:lpstr>
      <vt:lpstr>PowerPoint Presentation</vt:lpstr>
      <vt:lpstr>Class Activities</vt:lpstr>
      <vt:lpstr>Class Activities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zeinab</dc:creator>
  <cp:keywords/>
  <dc:description>generated using python-pptx</dc:description>
  <cp:lastModifiedBy>Zeinab Abbas</cp:lastModifiedBy>
  <cp:revision>49</cp:revision>
  <dcterms:created xsi:type="dcterms:W3CDTF">2013-01-27T09:14:16Z</dcterms:created>
  <dcterms:modified xsi:type="dcterms:W3CDTF">2025-11-07T13:09:26Z</dcterms:modified>
  <cp:category/>
</cp:coreProperties>
</file>