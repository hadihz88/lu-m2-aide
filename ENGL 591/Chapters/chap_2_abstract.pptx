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65" r:id="rId2"/>
    <p:sldId id="266" r:id="rId3"/>
    <p:sldId id="267" r:id="rId4"/>
    <p:sldId id="268" r:id="rId5"/>
    <p:sldId id="269" r:id="rId6"/>
    <p:sldId id="270" r:id="rId7"/>
    <p:sldId id="273" r:id="rId8"/>
    <p:sldId id="281" r:id="rId9"/>
    <p:sldId id="272" r:id="rId10"/>
    <p:sldId id="275" r:id="rId11"/>
    <p:sldId id="274" r:id="rId12"/>
    <p:sldId id="276" r:id="rId13"/>
    <p:sldId id="256" r:id="rId14"/>
    <p:sldId id="257" r:id="rId15"/>
    <p:sldId id="258" r:id="rId16"/>
    <p:sldId id="259" r:id="rId17"/>
    <p:sldId id="260" r:id="rId18"/>
    <p:sldId id="261" r:id="rId19"/>
    <p:sldId id="262" r:id="rId20"/>
    <p:sldId id="280" r:id="rId21"/>
    <p:sldId id="263" r:id="rId22"/>
    <p:sldId id="264" r:id="rId23"/>
    <p:sldId id="277" r:id="rId24"/>
    <p:sldId id="278" r:id="rId25"/>
    <p:sldId id="279" r:id="rId26"/>
    <p:sldId id="283" r:id="rId27"/>
    <p:sldId id="282" r:id="rId28"/>
    <p:sldId id="285" r:id="rId29"/>
    <p:sldId id="284" r:id="rId30"/>
    <p:sldId id="28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3BC474-9977-4E19-AD46-A3F4564876AD}"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1A3DB-066C-4385-82DB-81E20CE2E737}" type="slidenum">
              <a:rPr lang="en-US" smtClean="0"/>
              <a:t>‹#›</a:t>
            </a:fld>
            <a:endParaRPr lang="en-US"/>
          </a:p>
        </p:txBody>
      </p:sp>
    </p:spTree>
    <p:extLst>
      <p:ext uri="{BB962C8B-B14F-4D97-AF65-F5344CB8AC3E}">
        <p14:creationId xmlns:p14="http://schemas.microsoft.com/office/powerpoint/2010/main" val="1901571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highlight or label</a:t>
            </a:r>
            <a:r>
              <a:rPr lang="en-US" dirty="0"/>
              <a:t> the parts:</a:t>
            </a:r>
          </a:p>
          <a:p>
            <a:r>
              <a:rPr lang="en-US" b="1" dirty="0"/>
              <a:t>Purpose/Goal</a:t>
            </a:r>
            <a:endParaRPr lang="en-US" dirty="0"/>
          </a:p>
          <a:p>
            <a:r>
              <a:rPr lang="en-US" b="1" dirty="0"/>
              <a:t>Method</a:t>
            </a:r>
            <a:endParaRPr lang="en-US" dirty="0"/>
          </a:p>
          <a:p>
            <a:r>
              <a:rPr lang="en-US" b="1" dirty="0"/>
              <a:t>Results</a:t>
            </a:r>
            <a:endParaRPr lang="en-US" dirty="0"/>
          </a:p>
          <a:p>
            <a:r>
              <a:rPr lang="en-US" b="1" dirty="0"/>
              <a:t>Conclusion/Implication</a:t>
            </a:r>
            <a:endParaRPr lang="en-US" dirty="0"/>
          </a:p>
          <a:p>
            <a:endParaRPr lang="en-US" dirty="0"/>
          </a:p>
        </p:txBody>
      </p:sp>
      <p:sp>
        <p:nvSpPr>
          <p:cNvPr id="4" name="Slide Number Placeholder 3"/>
          <p:cNvSpPr>
            <a:spLocks noGrp="1"/>
          </p:cNvSpPr>
          <p:nvPr>
            <p:ph type="sldNum" sz="quarter" idx="5"/>
          </p:nvPr>
        </p:nvSpPr>
        <p:spPr/>
        <p:txBody>
          <a:bodyPr/>
          <a:lstStyle/>
          <a:p>
            <a:fld id="{F451A3DB-066C-4385-82DB-81E20CE2E737}" type="slidenum">
              <a:rPr lang="en-US" smtClean="0"/>
              <a:t>23</a:t>
            </a:fld>
            <a:endParaRPr lang="en-US"/>
          </a:p>
        </p:txBody>
      </p:sp>
    </p:spTree>
    <p:extLst>
      <p:ext uri="{BB962C8B-B14F-4D97-AF65-F5344CB8AC3E}">
        <p14:creationId xmlns:p14="http://schemas.microsoft.com/office/powerpoint/2010/main" val="2765239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cloud-based data pipeline</a:t>
            </a:r>
            <a:r>
              <a:rPr lang="en-US" dirty="0"/>
              <a:t> is a system that </a:t>
            </a:r>
            <a:r>
              <a:rPr lang="en-US" b="1" dirty="0"/>
              <a:t>collects, processes, and moves data using cloud computing services</a:t>
            </a:r>
            <a:r>
              <a:rPr lang="en-US" dirty="0"/>
              <a:t> instead of local computers or servers.</a:t>
            </a:r>
          </a:p>
          <a:p>
            <a:r>
              <a:rPr lang="en-US" dirty="0"/>
              <a:t>Breaking it down:</a:t>
            </a:r>
          </a:p>
          <a:p>
            <a:r>
              <a:rPr lang="en-US" b="1" dirty="0"/>
              <a:t>Data pipeline</a:t>
            </a:r>
            <a:r>
              <a:rPr lang="en-US" dirty="0"/>
              <a:t> → a series of steps that take raw data from different sources, clean it, organize it, and send it to a system where it can be analyzed.</a:t>
            </a:r>
          </a:p>
          <a:p>
            <a:r>
              <a:rPr lang="en-US" b="1"/>
              <a:t>Cloud-based</a:t>
            </a:r>
            <a:r>
              <a:rPr lang="en-US"/>
              <a:t> → all of this happens on the </a:t>
            </a:r>
            <a:r>
              <a:rPr lang="en-US" b="1"/>
              <a:t>internet (cloud)</a:t>
            </a:r>
            <a:r>
              <a:rPr lang="en-US"/>
              <a:t> using servers and services provided by companies like Amazon Web Services, Microsoft Azure, or Google Cloud, rather than on your own computer.</a:t>
            </a:r>
          </a:p>
          <a:p>
            <a:endParaRPr lang="en-US"/>
          </a:p>
        </p:txBody>
      </p:sp>
      <p:sp>
        <p:nvSpPr>
          <p:cNvPr id="4" name="Slide Number Placeholder 3"/>
          <p:cNvSpPr>
            <a:spLocks noGrp="1"/>
          </p:cNvSpPr>
          <p:nvPr>
            <p:ph type="sldNum" sz="quarter" idx="5"/>
          </p:nvPr>
        </p:nvSpPr>
        <p:spPr/>
        <p:txBody>
          <a:bodyPr/>
          <a:lstStyle/>
          <a:p>
            <a:fld id="{F451A3DB-066C-4385-82DB-81E20CE2E737}" type="slidenum">
              <a:rPr lang="en-US" smtClean="0"/>
              <a:t>27</a:t>
            </a:fld>
            <a:endParaRPr lang="en-US"/>
          </a:p>
        </p:txBody>
      </p:sp>
    </p:spTree>
    <p:extLst>
      <p:ext uri="{BB962C8B-B14F-4D97-AF65-F5344CB8AC3E}">
        <p14:creationId xmlns:p14="http://schemas.microsoft.com/office/powerpoint/2010/main" val="3373237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45EE-DB7B-4497-B801-6F4AF1B0E51C}"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319652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DDC148-4F74-4F84-B784-589F29CA6282}"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2317570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B21062-7977-45C4-BB79-25044FDA4FEB}"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290223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354F8B-95A0-41E0-8E21-8E52385F4B0E}"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2123765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07503B-373C-433C-BD55-944577AA85FB}" type="datetime1">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2666002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DF5B4B-1FBC-4DDB-98E0-8B37D4DEA3D7}" type="datetime1">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1524057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3DD9F-8C04-4E14-A31C-73EFC88F447C}" type="datetime1">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1062597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68F4FC-BB0E-4B71-A38B-CE40F29A76F0}"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2799219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DF6A72-BAE9-4188-A9E8-CA072C846189}"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3055715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B983F-9C2A-4AD1-BB7B-C6DB3E6E796C}"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10684367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B983F-9C2A-4AD1-BB7B-C6DB3E6E796C}"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673958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B983F-9C2A-4AD1-BB7B-C6DB3E6E796C}"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182565215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B983F-9C2A-4AD1-BB7B-C6DB3E6E796C}"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1925330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B983F-9C2A-4AD1-BB7B-C6DB3E6E796C}"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160668095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148FC-CA82-46AE-99DE-1208C44F4EF5}"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1153121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DED336-BD14-4A4F-8686-7AC064C67D35}"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10A8A8-9E52-47DC-B028-D90FA570F151}" type="slidenum">
              <a:rPr lang="en-US" smtClean="0"/>
              <a:t>‹#›</a:t>
            </a:fld>
            <a:endParaRPr lang="en-US"/>
          </a:p>
        </p:txBody>
      </p:sp>
    </p:spTree>
    <p:extLst>
      <p:ext uri="{BB962C8B-B14F-4D97-AF65-F5344CB8AC3E}">
        <p14:creationId xmlns:p14="http://schemas.microsoft.com/office/powerpoint/2010/main" val="3278078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56B983F-9C2A-4AD1-BB7B-C6DB3E6E796C}" type="datetime1">
              <a:rPr lang="en-US" smtClean="0"/>
              <a:t>9/22/2026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810A8A8-9E52-47DC-B028-D90FA570F151}" type="slidenum">
              <a:rPr lang="en-US" smtClean="0"/>
              <a:t>‹#›</a:t>
            </a:fld>
            <a:endParaRPr lang="en-US"/>
          </a:p>
        </p:txBody>
      </p:sp>
    </p:spTree>
    <p:extLst>
      <p:ext uri="{BB962C8B-B14F-4D97-AF65-F5344CB8AC3E}">
        <p14:creationId xmlns:p14="http://schemas.microsoft.com/office/powerpoint/2010/main" val="9928484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234/jair.2023.12345"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oi.org/10.1234/jair.2021.45678"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AB94-0932-16AB-8A59-9355761BB640}"/>
              </a:ext>
            </a:extLst>
          </p:cNvPr>
          <p:cNvSpPr>
            <a:spLocks noGrp="1"/>
          </p:cNvSpPr>
          <p:nvPr>
            <p:ph type="ctrTitle"/>
          </p:nvPr>
        </p:nvSpPr>
        <p:spPr/>
        <p:txBody>
          <a:bodyPr/>
          <a:lstStyle/>
          <a:p>
            <a:r>
              <a:rPr lang="en-US" dirty="0"/>
              <a:t>Writing Effective Summaries in AI and Data Engineering</a:t>
            </a:r>
          </a:p>
        </p:txBody>
      </p:sp>
      <p:sp>
        <p:nvSpPr>
          <p:cNvPr id="3" name="Subtitle 2">
            <a:extLst>
              <a:ext uri="{FF2B5EF4-FFF2-40B4-BE49-F238E27FC236}">
                <a16:creationId xmlns:a16="http://schemas.microsoft.com/office/drawing/2014/main" id="{CD9BABF3-7577-618D-031F-E4B311DBFAD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13A65327-B4FE-58F7-9F13-854E62712470}"/>
              </a:ext>
            </a:extLst>
          </p:cNvPr>
          <p:cNvSpPr>
            <a:spLocks noGrp="1"/>
          </p:cNvSpPr>
          <p:nvPr>
            <p:ph type="sldNum" sz="quarter" idx="12"/>
          </p:nvPr>
        </p:nvSpPr>
        <p:spPr/>
        <p:txBody>
          <a:bodyPr/>
          <a:lstStyle/>
          <a:p>
            <a:fld id="{B810A8A8-9E52-47DC-B028-D90FA570F151}" type="slidenum">
              <a:rPr lang="en-US" smtClean="0"/>
              <a:t>1</a:t>
            </a:fld>
            <a:endParaRPr lang="en-US"/>
          </a:p>
        </p:txBody>
      </p:sp>
    </p:spTree>
    <p:extLst>
      <p:ext uri="{BB962C8B-B14F-4D97-AF65-F5344CB8AC3E}">
        <p14:creationId xmlns:p14="http://schemas.microsoft.com/office/powerpoint/2010/main" val="1717908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192C1-16E3-8A8C-8DF4-2FCEEBFEA8F4}"/>
              </a:ext>
            </a:extLst>
          </p:cNvPr>
          <p:cNvSpPr>
            <a:spLocks noGrp="1"/>
          </p:cNvSpPr>
          <p:nvPr>
            <p:ph type="title"/>
          </p:nvPr>
        </p:nvSpPr>
        <p:spPr/>
        <p:txBody>
          <a:bodyPr/>
          <a:lstStyle/>
          <a:p>
            <a:r>
              <a:rPr lang="en-US" dirty="0"/>
              <a:t>Introduction to Summaries</a:t>
            </a:r>
          </a:p>
        </p:txBody>
      </p:sp>
      <p:sp>
        <p:nvSpPr>
          <p:cNvPr id="5" name="Rectangle 1">
            <a:extLst>
              <a:ext uri="{FF2B5EF4-FFF2-40B4-BE49-F238E27FC236}">
                <a16:creationId xmlns:a16="http://schemas.microsoft.com/office/drawing/2014/main" id="{6CCF7297-8A03-B253-EB17-23479A41E0B6}"/>
              </a:ext>
            </a:extLst>
          </p:cNvPr>
          <p:cNvSpPr>
            <a:spLocks noGrp="1" noChangeArrowheads="1"/>
          </p:cNvSpPr>
          <p:nvPr>
            <p:ph idx="1"/>
          </p:nvPr>
        </p:nvSpPr>
        <p:spPr bwMode="auto">
          <a:xfrm>
            <a:off x="1047135" y="2367998"/>
            <a:ext cx="8200104"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mj-lt"/>
              </a:rPr>
              <a:t>Definition: A summary is a concise version of a longer text that highlights the main points.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mj-lt"/>
              </a:rPr>
              <a:t>Purpose: </a:t>
            </a:r>
          </a:p>
          <a:p>
            <a:pPr marL="400050" lvl="1" indent="0" algn="just" defTabSz="914400" eaLnBrk="0" fontAlgn="base" hangingPunct="0">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mj-lt"/>
              </a:rPr>
              <a:t>To provide a quick overview of the content. </a:t>
            </a:r>
          </a:p>
          <a:p>
            <a:pPr marL="400050" lvl="1" indent="0" algn="just" defTabSz="914400" eaLnBrk="0" fontAlgn="base" hangingPunct="0">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mj-lt"/>
              </a:rPr>
              <a:t>To help readers understand the essential messages without reading the entire document.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1395B103-C54A-EB58-753A-6E04F12D3911}"/>
              </a:ext>
            </a:extLst>
          </p:cNvPr>
          <p:cNvSpPr>
            <a:spLocks noGrp="1"/>
          </p:cNvSpPr>
          <p:nvPr>
            <p:ph type="sldNum" sz="quarter" idx="12"/>
          </p:nvPr>
        </p:nvSpPr>
        <p:spPr/>
        <p:txBody>
          <a:bodyPr/>
          <a:lstStyle/>
          <a:p>
            <a:fld id="{B810A8A8-9E52-47DC-B028-D90FA570F151}" type="slidenum">
              <a:rPr lang="en-US" smtClean="0"/>
              <a:t>2</a:t>
            </a:fld>
            <a:endParaRPr lang="en-US"/>
          </a:p>
        </p:txBody>
      </p:sp>
    </p:spTree>
    <p:extLst>
      <p:ext uri="{BB962C8B-B14F-4D97-AF65-F5344CB8AC3E}">
        <p14:creationId xmlns:p14="http://schemas.microsoft.com/office/powerpoint/2010/main" val="1080132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3F8C3-8F07-83D6-CC6B-B90574C6571D}"/>
              </a:ext>
            </a:extLst>
          </p:cNvPr>
          <p:cNvSpPr>
            <a:spLocks noGrp="1"/>
          </p:cNvSpPr>
          <p:nvPr>
            <p:ph type="title"/>
          </p:nvPr>
        </p:nvSpPr>
        <p:spPr/>
        <p:txBody>
          <a:bodyPr/>
          <a:lstStyle/>
          <a:p>
            <a:r>
              <a:rPr lang="en-US" dirty="0"/>
              <a:t>Importance of Summaries</a:t>
            </a:r>
          </a:p>
        </p:txBody>
      </p:sp>
      <p:sp>
        <p:nvSpPr>
          <p:cNvPr id="5" name="Rectangle 1">
            <a:extLst>
              <a:ext uri="{FF2B5EF4-FFF2-40B4-BE49-F238E27FC236}">
                <a16:creationId xmlns:a16="http://schemas.microsoft.com/office/drawing/2014/main" id="{F63E2295-9088-67A5-8DAC-F07639B2357B}"/>
              </a:ext>
            </a:extLst>
          </p:cNvPr>
          <p:cNvSpPr>
            <a:spLocks noGrp="1" noChangeArrowheads="1"/>
          </p:cNvSpPr>
          <p:nvPr>
            <p:ph idx="1"/>
          </p:nvPr>
        </p:nvSpPr>
        <p:spPr bwMode="auto">
          <a:xfrm>
            <a:off x="897194" y="2459504"/>
            <a:ext cx="786334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Facilitates Understanding:</a:t>
            </a:r>
            <a:r>
              <a:rPr kumimoji="0" lang="en-US" altLang="en-US" sz="2000" b="0" i="0" u="none" strike="noStrike" cap="none" normalizeH="0" baseline="0" dirty="0">
                <a:ln>
                  <a:noFill/>
                </a:ln>
                <a:solidFill>
                  <a:schemeClr val="tx1"/>
                </a:solidFill>
                <a:effectLst/>
                <a:latin typeface="+mj-lt"/>
              </a:rPr>
              <a:t> Summaries distill complex information into digestible formats.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Saves Time:</a:t>
            </a:r>
            <a:r>
              <a:rPr kumimoji="0" lang="en-US" altLang="en-US" sz="2000" b="0" i="0" u="none" strike="noStrike" cap="none" normalizeH="0" baseline="0" dirty="0">
                <a:ln>
                  <a:noFill/>
                </a:ln>
                <a:solidFill>
                  <a:schemeClr val="tx1"/>
                </a:solidFill>
                <a:effectLst/>
                <a:latin typeface="+mj-lt"/>
              </a:rPr>
              <a:t> Readers can quickly ascertain the relevance of the material.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Essential for Abstracts:</a:t>
            </a:r>
            <a:r>
              <a:rPr kumimoji="0" lang="en-US" altLang="en-US" sz="2000" b="0" i="0" u="none" strike="noStrike" cap="none" normalizeH="0" baseline="0" dirty="0">
                <a:ln>
                  <a:noFill/>
                </a:ln>
                <a:solidFill>
                  <a:schemeClr val="tx1"/>
                </a:solidFill>
                <a:effectLst/>
                <a:latin typeface="+mj-lt"/>
              </a:rPr>
              <a:t> Summaries serve as the foundation for writing effective abstracts</a:t>
            </a:r>
            <a:r>
              <a:rPr kumimoji="0" lang="en-US" altLang="en-US" sz="1800" b="0" i="0" u="none" strike="noStrike" cap="none" normalizeH="0" baseline="0" dirty="0">
                <a:ln>
                  <a:noFill/>
                </a:ln>
                <a:solidFill>
                  <a:schemeClr val="tx1"/>
                </a:solidFill>
                <a:effectLst/>
                <a:latin typeface="+mj-lt"/>
              </a:rPr>
              <a:t>. </a:t>
            </a:r>
          </a:p>
        </p:txBody>
      </p:sp>
      <p:sp>
        <p:nvSpPr>
          <p:cNvPr id="4" name="Slide Number Placeholder 3">
            <a:extLst>
              <a:ext uri="{FF2B5EF4-FFF2-40B4-BE49-F238E27FC236}">
                <a16:creationId xmlns:a16="http://schemas.microsoft.com/office/drawing/2014/main" id="{0AFFE346-8630-DE53-1D19-B35D3298487F}"/>
              </a:ext>
            </a:extLst>
          </p:cNvPr>
          <p:cNvSpPr>
            <a:spLocks noGrp="1"/>
          </p:cNvSpPr>
          <p:nvPr>
            <p:ph type="sldNum" sz="quarter" idx="12"/>
          </p:nvPr>
        </p:nvSpPr>
        <p:spPr/>
        <p:txBody>
          <a:bodyPr/>
          <a:lstStyle/>
          <a:p>
            <a:fld id="{B810A8A8-9E52-47DC-B028-D90FA570F151}" type="slidenum">
              <a:rPr lang="en-US" smtClean="0"/>
              <a:t>3</a:t>
            </a:fld>
            <a:endParaRPr lang="en-US"/>
          </a:p>
        </p:txBody>
      </p:sp>
    </p:spTree>
    <p:extLst>
      <p:ext uri="{BB962C8B-B14F-4D97-AF65-F5344CB8AC3E}">
        <p14:creationId xmlns:p14="http://schemas.microsoft.com/office/powerpoint/2010/main" val="2774999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E645-450A-F7AD-B3B6-FCC105BD444E}"/>
              </a:ext>
            </a:extLst>
          </p:cNvPr>
          <p:cNvSpPr>
            <a:spLocks noGrp="1"/>
          </p:cNvSpPr>
          <p:nvPr>
            <p:ph type="title"/>
          </p:nvPr>
        </p:nvSpPr>
        <p:spPr/>
        <p:txBody>
          <a:bodyPr/>
          <a:lstStyle/>
          <a:p>
            <a:r>
              <a:rPr lang="en-US" dirty="0"/>
              <a:t>Key Elements of a Summary</a:t>
            </a:r>
          </a:p>
        </p:txBody>
      </p:sp>
      <p:sp>
        <p:nvSpPr>
          <p:cNvPr id="5" name="Rectangle 1">
            <a:extLst>
              <a:ext uri="{FF2B5EF4-FFF2-40B4-BE49-F238E27FC236}">
                <a16:creationId xmlns:a16="http://schemas.microsoft.com/office/drawing/2014/main" id="{69F77F0D-F846-0C2F-EFCD-6D45DA6D6CBB}"/>
              </a:ext>
            </a:extLst>
          </p:cNvPr>
          <p:cNvSpPr>
            <a:spLocks noGrp="1" noChangeArrowheads="1"/>
          </p:cNvSpPr>
          <p:nvPr>
            <p:ph idx="1"/>
          </p:nvPr>
        </p:nvSpPr>
        <p:spPr bwMode="auto">
          <a:xfrm>
            <a:off x="986872" y="2354665"/>
            <a:ext cx="760379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Main Idea:</a:t>
            </a:r>
            <a:r>
              <a:rPr kumimoji="0" lang="en-US" altLang="en-US" sz="2000" b="0" i="0" u="none" strike="noStrike" cap="none" normalizeH="0" baseline="0" dirty="0">
                <a:ln>
                  <a:noFill/>
                </a:ln>
                <a:solidFill>
                  <a:schemeClr val="tx1"/>
                </a:solidFill>
                <a:effectLst/>
                <a:latin typeface="+mj-lt"/>
              </a:rPr>
              <a:t> The central theme or argument of the text.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Supporting Points:</a:t>
            </a:r>
            <a:r>
              <a:rPr kumimoji="0" lang="en-US" altLang="en-US" sz="2000" b="0" i="0" u="none" strike="noStrike" cap="none" normalizeH="0" baseline="0" dirty="0">
                <a:ln>
                  <a:noFill/>
                </a:ln>
                <a:solidFill>
                  <a:schemeClr val="tx1"/>
                </a:solidFill>
                <a:effectLst/>
                <a:latin typeface="+mj-lt"/>
              </a:rPr>
              <a:t> Key arguments or findings that support the main idea.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Conclusion:</a:t>
            </a:r>
            <a:r>
              <a:rPr kumimoji="0" lang="en-US" altLang="en-US" sz="2000" b="0" i="0" u="none" strike="noStrike" cap="none" normalizeH="0" baseline="0" dirty="0">
                <a:ln>
                  <a:noFill/>
                </a:ln>
                <a:solidFill>
                  <a:schemeClr val="tx1"/>
                </a:solidFill>
                <a:effectLst/>
                <a:latin typeface="+mj-lt"/>
              </a:rPr>
              <a:t> The overall implication or takeaway from the document. </a:t>
            </a:r>
          </a:p>
        </p:txBody>
      </p:sp>
      <p:sp>
        <p:nvSpPr>
          <p:cNvPr id="4" name="Slide Number Placeholder 3">
            <a:extLst>
              <a:ext uri="{FF2B5EF4-FFF2-40B4-BE49-F238E27FC236}">
                <a16:creationId xmlns:a16="http://schemas.microsoft.com/office/drawing/2014/main" id="{E74C2B59-29E8-4536-80CA-9C4DA9D699D4}"/>
              </a:ext>
            </a:extLst>
          </p:cNvPr>
          <p:cNvSpPr>
            <a:spLocks noGrp="1"/>
          </p:cNvSpPr>
          <p:nvPr>
            <p:ph type="sldNum" sz="quarter" idx="12"/>
          </p:nvPr>
        </p:nvSpPr>
        <p:spPr/>
        <p:txBody>
          <a:bodyPr/>
          <a:lstStyle/>
          <a:p>
            <a:fld id="{B810A8A8-9E52-47DC-B028-D90FA570F151}" type="slidenum">
              <a:rPr lang="en-US" smtClean="0"/>
              <a:t>4</a:t>
            </a:fld>
            <a:endParaRPr lang="en-US"/>
          </a:p>
        </p:txBody>
      </p:sp>
    </p:spTree>
    <p:extLst>
      <p:ext uri="{BB962C8B-B14F-4D97-AF65-F5344CB8AC3E}">
        <p14:creationId xmlns:p14="http://schemas.microsoft.com/office/powerpoint/2010/main" val="1419047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BA4DB-0641-48F9-CD89-238FAAA80C36}"/>
              </a:ext>
            </a:extLst>
          </p:cNvPr>
          <p:cNvSpPr>
            <a:spLocks noGrp="1"/>
          </p:cNvSpPr>
          <p:nvPr>
            <p:ph type="title"/>
          </p:nvPr>
        </p:nvSpPr>
        <p:spPr/>
        <p:txBody>
          <a:bodyPr/>
          <a:lstStyle/>
          <a:p>
            <a:r>
              <a:rPr lang="en-US" dirty="0"/>
              <a:t>Steps to Write an Effective Summary</a:t>
            </a:r>
          </a:p>
        </p:txBody>
      </p:sp>
      <p:sp>
        <p:nvSpPr>
          <p:cNvPr id="5" name="Rectangle 1">
            <a:extLst>
              <a:ext uri="{FF2B5EF4-FFF2-40B4-BE49-F238E27FC236}">
                <a16:creationId xmlns:a16="http://schemas.microsoft.com/office/drawing/2014/main" id="{736F454C-6CB8-4F24-F10B-3A7CBB3EC5DB}"/>
              </a:ext>
            </a:extLst>
          </p:cNvPr>
          <p:cNvSpPr>
            <a:spLocks noGrp="1" noChangeArrowheads="1"/>
          </p:cNvSpPr>
          <p:nvPr>
            <p:ph idx="1"/>
          </p:nvPr>
        </p:nvSpPr>
        <p:spPr bwMode="auto">
          <a:xfrm>
            <a:off x="1366905" y="2327730"/>
            <a:ext cx="7223758"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Read the Original Text:</a:t>
            </a:r>
            <a:endParaRPr kumimoji="0" lang="en-US" altLang="en-US" sz="1800" b="0" i="0" u="none" strike="noStrike" cap="none" normalizeH="0" baseline="0" dirty="0">
              <a:ln>
                <a:noFill/>
              </a:ln>
              <a:solidFill>
                <a:schemeClr val="tx1"/>
              </a:solidFill>
              <a:effectLst/>
              <a:latin typeface="+mj-lt"/>
            </a:endParaRPr>
          </a:p>
          <a:p>
            <a:pPr marL="400050" lvl="1"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mj-lt"/>
              </a:rPr>
              <a:t>Understand the content.</a:t>
            </a:r>
          </a:p>
          <a:p>
            <a:pPr marL="400050" lvl="1"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mj-lt"/>
              </a:rPr>
              <a:t>Take notes on key points.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Identify Key Elements:</a:t>
            </a:r>
            <a:endParaRPr kumimoji="0" lang="en-US" altLang="en-US" sz="1800" b="0" i="0" u="none" strike="noStrike" cap="none" normalizeH="0" baseline="0" dirty="0">
              <a:ln>
                <a:noFill/>
              </a:ln>
              <a:solidFill>
                <a:schemeClr val="tx1"/>
              </a:solidFill>
              <a:effectLst/>
              <a:latin typeface="+mj-lt"/>
            </a:endParaRPr>
          </a:p>
          <a:p>
            <a:pPr marL="400050" lvl="1"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mj-lt"/>
              </a:rPr>
              <a:t>Determine the main idea, supporting points, and conclusion.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Write the Summary:</a:t>
            </a:r>
            <a:endParaRPr kumimoji="0" lang="en-US" altLang="en-US" sz="1800" b="0" i="0" u="none" strike="noStrike" cap="none" normalizeH="0" baseline="0" dirty="0">
              <a:ln>
                <a:noFill/>
              </a:ln>
              <a:solidFill>
                <a:schemeClr val="tx1"/>
              </a:solidFill>
              <a:effectLst/>
              <a:latin typeface="+mj-lt"/>
            </a:endParaRPr>
          </a:p>
          <a:p>
            <a:pPr marL="400050" lvl="1"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mj-lt"/>
              </a:rPr>
              <a:t>Use your own words to convey the main idea and supporting points. </a:t>
            </a:r>
          </a:p>
          <a:p>
            <a:pPr marL="400050" lvl="1"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mj-lt"/>
              </a:rPr>
              <a:t>Keep it concise (typically 10-20% of the original text length).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Review and Revise:</a:t>
            </a:r>
            <a:endParaRPr kumimoji="0" lang="en-US" altLang="en-US" sz="1800" b="0" i="0" u="none" strike="noStrike" cap="none" normalizeH="0" baseline="0" dirty="0">
              <a:ln>
                <a:noFill/>
              </a:ln>
              <a:solidFill>
                <a:schemeClr val="tx1"/>
              </a:solidFill>
              <a:effectLst/>
              <a:latin typeface="+mj-lt"/>
            </a:endParaRPr>
          </a:p>
          <a:p>
            <a:pPr marL="400050" lvl="1"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mj-lt"/>
              </a:rPr>
              <a:t>Ensure clarity and coherence. </a:t>
            </a:r>
          </a:p>
          <a:p>
            <a:pPr marL="400050" lvl="1"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mj-lt"/>
              </a:rPr>
              <a:t>Check for grammatical accuracy and completeness.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41A7C33C-8D1A-0E6F-32F0-C5301FDD4324}"/>
              </a:ext>
            </a:extLst>
          </p:cNvPr>
          <p:cNvSpPr>
            <a:spLocks noGrp="1"/>
          </p:cNvSpPr>
          <p:nvPr>
            <p:ph type="sldNum" sz="quarter" idx="12"/>
          </p:nvPr>
        </p:nvSpPr>
        <p:spPr/>
        <p:txBody>
          <a:bodyPr/>
          <a:lstStyle/>
          <a:p>
            <a:fld id="{B810A8A8-9E52-47DC-B028-D90FA570F151}" type="slidenum">
              <a:rPr lang="en-US" smtClean="0"/>
              <a:t>5</a:t>
            </a:fld>
            <a:endParaRPr lang="en-US"/>
          </a:p>
        </p:txBody>
      </p:sp>
    </p:spTree>
    <p:extLst>
      <p:ext uri="{BB962C8B-B14F-4D97-AF65-F5344CB8AC3E}">
        <p14:creationId xmlns:p14="http://schemas.microsoft.com/office/powerpoint/2010/main" val="344900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52FA4-B3B5-F3F6-CCEA-06B364091E5A}"/>
              </a:ext>
            </a:extLst>
          </p:cNvPr>
          <p:cNvSpPr>
            <a:spLocks noGrp="1"/>
          </p:cNvSpPr>
          <p:nvPr>
            <p:ph type="title"/>
          </p:nvPr>
        </p:nvSpPr>
        <p:spPr/>
        <p:txBody>
          <a:bodyPr/>
          <a:lstStyle/>
          <a:p>
            <a:r>
              <a:rPr lang="en-US" dirty="0"/>
              <a:t>Example Summary</a:t>
            </a:r>
          </a:p>
        </p:txBody>
      </p:sp>
      <p:sp>
        <p:nvSpPr>
          <p:cNvPr id="3" name="Content Placeholder 2">
            <a:extLst>
              <a:ext uri="{FF2B5EF4-FFF2-40B4-BE49-F238E27FC236}">
                <a16:creationId xmlns:a16="http://schemas.microsoft.com/office/drawing/2014/main" id="{99D39C70-F090-4486-B5BD-6517E1FD5A31}"/>
              </a:ext>
            </a:extLst>
          </p:cNvPr>
          <p:cNvSpPr>
            <a:spLocks noGrp="1"/>
          </p:cNvSpPr>
          <p:nvPr>
            <p:ph idx="1"/>
          </p:nvPr>
        </p:nvSpPr>
        <p:spPr/>
        <p:txBody>
          <a:bodyPr/>
          <a:lstStyle/>
          <a:p>
            <a:pPr marL="0" indent="0" algn="just">
              <a:buNone/>
            </a:pPr>
            <a:r>
              <a:rPr lang="en-US" dirty="0"/>
              <a:t>“Neural networks have revolutionized the field of artificial intelligence by enabling machines to learn from data. With the advent of deep learning, these networks can model complex relationships and perform tasks such as image recognition, natural language processing, and game playing. However, training deep neural networks requires significant computational resources and can lead to challenges such as overfitting."</a:t>
            </a:r>
          </a:p>
        </p:txBody>
      </p:sp>
      <p:sp>
        <p:nvSpPr>
          <p:cNvPr id="4" name="Slide Number Placeholder 3">
            <a:extLst>
              <a:ext uri="{FF2B5EF4-FFF2-40B4-BE49-F238E27FC236}">
                <a16:creationId xmlns:a16="http://schemas.microsoft.com/office/drawing/2014/main" id="{04B25BE8-233B-77DE-780D-FC0A77CC0798}"/>
              </a:ext>
            </a:extLst>
          </p:cNvPr>
          <p:cNvSpPr>
            <a:spLocks noGrp="1"/>
          </p:cNvSpPr>
          <p:nvPr>
            <p:ph type="sldNum" sz="quarter" idx="12"/>
          </p:nvPr>
        </p:nvSpPr>
        <p:spPr/>
        <p:txBody>
          <a:bodyPr/>
          <a:lstStyle/>
          <a:p>
            <a:fld id="{B810A8A8-9E52-47DC-B028-D90FA570F151}" type="slidenum">
              <a:rPr lang="en-US" smtClean="0"/>
              <a:t>6</a:t>
            </a:fld>
            <a:endParaRPr lang="en-US"/>
          </a:p>
        </p:txBody>
      </p:sp>
      <p:sp>
        <p:nvSpPr>
          <p:cNvPr id="7" name="Arrow: Pentagon 6">
            <a:extLst>
              <a:ext uri="{FF2B5EF4-FFF2-40B4-BE49-F238E27FC236}">
                <a16:creationId xmlns:a16="http://schemas.microsoft.com/office/drawing/2014/main" id="{04E500D5-9E24-41F3-4409-C41275FC7E5A}"/>
              </a:ext>
            </a:extLst>
          </p:cNvPr>
          <p:cNvSpPr/>
          <p:nvPr/>
        </p:nvSpPr>
        <p:spPr>
          <a:xfrm>
            <a:off x="6636774" y="4719484"/>
            <a:ext cx="1489587" cy="61943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9286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8C22B-AB1C-91C1-490F-94B6D5B377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85DD1B-5686-4D3A-63F2-F36009B0F5E7}"/>
              </a:ext>
            </a:extLst>
          </p:cNvPr>
          <p:cNvSpPr>
            <a:spLocks noGrp="1"/>
          </p:cNvSpPr>
          <p:nvPr>
            <p:ph idx="1"/>
          </p:nvPr>
        </p:nvSpPr>
        <p:spPr/>
        <p:txBody>
          <a:bodyPr/>
          <a:lstStyle/>
          <a:p>
            <a:pPr algn="just"/>
            <a:r>
              <a:rPr lang="en-US" b="1" dirty="0"/>
              <a:t>Summary: </a:t>
            </a:r>
            <a:r>
              <a:rPr lang="en-US" dirty="0"/>
              <a:t>Neural networks enable machines to learn from data, revolutionizing AI through deep learning for tasks like image recognition and natural language processing. However, training these networks requires substantial computational power and can lead to overfitting.</a:t>
            </a:r>
          </a:p>
          <a:p>
            <a:endParaRPr lang="en-US" dirty="0"/>
          </a:p>
        </p:txBody>
      </p:sp>
      <p:sp>
        <p:nvSpPr>
          <p:cNvPr id="4" name="Slide Number Placeholder 3">
            <a:extLst>
              <a:ext uri="{FF2B5EF4-FFF2-40B4-BE49-F238E27FC236}">
                <a16:creationId xmlns:a16="http://schemas.microsoft.com/office/drawing/2014/main" id="{184E85A2-34F7-3584-4ADC-E7D4149D5EA4}"/>
              </a:ext>
            </a:extLst>
          </p:cNvPr>
          <p:cNvSpPr>
            <a:spLocks noGrp="1"/>
          </p:cNvSpPr>
          <p:nvPr>
            <p:ph type="sldNum" sz="quarter" idx="12"/>
          </p:nvPr>
        </p:nvSpPr>
        <p:spPr/>
        <p:txBody>
          <a:bodyPr/>
          <a:lstStyle/>
          <a:p>
            <a:fld id="{B810A8A8-9E52-47DC-B028-D90FA570F151}" type="slidenum">
              <a:rPr lang="en-US" smtClean="0"/>
              <a:t>7</a:t>
            </a:fld>
            <a:endParaRPr lang="en-US"/>
          </a:p>
        </p:txBody>
      </p:sp>
    </p:spTree>
    <p:extLst>
      <p:ext uri="{BB962C8B-B14F-4D97-AF65-F5344CB8AC3E}">
        <p14:creationId xmlns:p14="http://schemas.microsoft.com/office/powerpoint/2010/main" val="1938090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59F55-006A-2284-2DD2-BC455B0A4EDD}"/>
              </a:ext>
            </a:extLst>
          </p:cNvPr>
          <p:cNvSpPr>
            <a:spLocks noGrp="1"/>
          </p:cNvSpPr>
          <p:nvPr>
            <p:ph type="title"/>
          </p:nvPr>
        </p:nvSpPr>
        <p:spPr/>
        <p:txBody>
          <a:bodyPr/>
          <a:lstStyle/>
          <a:p>
            <a:r>
              <a:rPr lang="en-US" dirty="0"/>
              <a:t>Common Mistakes to Avoid</a:t>
            </a:r>
          </a:p>
        </p:txBody>
      </p:sp>
      <p:sp>
        <p:nvSpPr>
          <p:cNvPr id="3" name="Content Placeholder 2">
            <a:extLst>
              <a:ext uri="{FF2B5EF4-FFF2-40B4-BE49-F238E27FC236}">
                <a16:creationId xmlns:a16="http://schemas.microsoft.com/office/drawing/2014/main" id="{E0914128-B7A1-B3D2-58D5-E145691A8539}"/>
              </a:ext>
            </a:extLst>
          </p:cNvPr>
          <p:cNvSpPr>
            <a:spLocks noGrp="1"/>
          </p:cNvSpPr>
          <p:nvPr>
            <p:ph idx="1"/>
          </p:nvPr>
        </p:nvSpPr>
        <p:spPr>
          <a:xfrm>
            <a:off x="677334" y="1930401"/>
            <a:ext cx="8596668" cy="4110962"/>
          </a:xfrm>
        </p:spPr>
        <p:txBody>
          <a:bodyPr/>
          <a:lstStyle/>
          <a:p>
            <a:pPr marL="0" lvl="0" indent="0" algn="just" defTabSz="914400" eaLnBrk="0" fontAlgn="base" hangingPunct="0">
              <a:spcBef>
                <a:spcPct val="0"/>
              </a:spcBef>
              <a:spcAft>
                <a:spcPct val="0"/>
              </a:spcAft>
              <a:buClrTx/>
              <a:buSzTx/>
              <a:buFontTx/>
              <a:buChar char="•"/>
            </a:pPr>
            <a:r>
              <a:rPr lang="en-US" altLang="en-US" b="1" dirty="0">
                <a:solidFill>
                  <a:schemeClr val="tx1"/>
                </a:solidFill>
                <a:latin typeface="+mj-lt"/>
              </a:rPr>
              <a:t>Overly Detailed:</a:t>
            </a:r>
            <a:r>
              <a:rPr lang="en-US" altLang="en-US" dirty="0">
                <a:solidFill>
                  <a:schemeClr val="tx1"/>
                </a:solidFill>
                <a:latin typeface="+mj-lt"/>
              </a:rPr>
              <a:t> A summary should be concise, not a detailed rehash. </a:t>
            </a:r>
          </a:p>
          <a:p>
            <a:pPr marL="0" lvl="0" indent="0" algn="just" defTabSz="914400" eaLnBrk="0" fontAlgn="base" hangingPunct="0">
              <a:spcBef>
                <a:spcPct val="0"/>
              </a:spcBef>
              <a:spcAft>
                <a:spcPct val="0"/>
              </a:spcAft>
              <a:buClrTx/>
              <a:buSzTx/>
              <a:buFontTx/>
              <a:buChar char="•"/>
            </a:pPr>
            <a:r>
              <a:rPr lang="en-US" altLang="en-US" b="1" dirty="0">
                <a:solidFill>
                  <a:schemeClr val="tx1"/>
                </a:solidFill>
                <a:latin typeface="+mj-lt"/>
              </a:rPr>
              <a:t>Using Original Language:</a:t>
            </a:r>
            <a:r>
              <a:rPr lang="en-US" altLang="en-US" dirty="0">
                <a:solidFill>
                  <a:schemeClr val="tx1"/>
                </a:solidFill>
                <a:latin typeface="+mj-lt"/>
              </a:rPr>
              <a:t> Avoid copying phrases from the original text; paraphrase instead. </a:t>
            </a:r>
          </a:p>
          <a:p>
            <a:pPr marL="0" lvl="0" indent="0" algn="just" defTabSz="914400" eaLnBrk="0" fontAlgn="base" hangingPunct="0">
              <a:spcBef>
                <a:spcPct val="0"/>
              </a:spcBef>
              <a:spcAft>
                <a:spcPct val="0"/>
              </a:spcAft>
              <a:buClrTx/>
              <a:buSzTx/>
              <a:buFontTx/>
              <a:buChar char="•"/>
            </a:pPr>
            <a:r>
              <a:rPr lang="en-US" altLang="en-US" b="1" dirty="0">
                <a:solidFill>
                  <a:schemeClr val="tx1"/>
                </a:solidFill>
                <a:latin typeface="+mj-lt"/>
              </a:rPr>
              <a:t>Ignoring Main Ideas:</a:t>
            </a:r>
            <a:r>
              <a:rPr lang="en-US" altLang="en-US" dirty="0">
                <a:solidFill>
                  <a:schemeClr val="tx1"/>
                </a:solidFill>
                <a:latin typeface="+mj-lt"/>
              </a:rPr>
              <a:t> Ensure the summary captures the essence of the text. </a:t>
            </a:r>
          </a:p>
          <a:p>
            <a:endParaRPr lang="en-US" dirty="0"/>
          </a:p>
        </p:txBody>
      </p:sp>
      <p:sp>
        <p:nvSpPr>
          <p:cNvPr id="4" name="Slide Number Placeholder 3">
            <a:extLst>
              <a:ext uri="{FF2B5EF4-FFF2-40B4-BE49-F238E27FC236}">
                <a16:creationId xmlns:a16="http://schemas.microsoft.com/office/drawing/2014/main" id="{4120FA77-6B88-E3DA-D566-F5681825FAD8}"/>
              </a:ext>
            </a:extLst>
          </p:cNvPr>
          <p:cNvSpPr>
            <a:spLocks noGrp="1"/>
          </p:cNvSpPr>
          <p:nvPr>
            <p:ph type="sldNum" sz="quarter" idx="12"/>
          </p:nvPr>
        </p:nvSpPr>
        <p:spPr/>
        <p:txBody>
          <a:bodyPr/>
          <a:lstStyle/>
          <a:p>
            <a:fld id="{B810A8A8-9E52-47DC-B028-D90FA570F151}" type="slidenum">
              <a:rPr lang="en-US" smtClean="0"/>
              <a:t>8</a:t>
            </a:fld>
            <a:endParaRPr lang="en-US"/>
          </a:p>
        </p:txBody>
      </p:sp>
    </p:spTree>
    <p:extLst>
      <p:ext uri="{BB962C8B-B14F-4D97-AF65-F5344CB8AC3E}">
        <p14:creationId xmlns:p14="http://schemas.microsoft.com/office/powerpoint/2010/main" val="509575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E7AD5-CA40-9A91-DC87-8582B92804D3}"/>
              </a:ext>
            </a:extLst>
          </p:cNvPr>
          <p:cNvSpPr>
            <a:spLocks noGrp="1"/>
          </p:cNvSpPr>
          <p:nvPr>
            <p:ph type="title"/>
          </p:nvPr>
        </p:nvSpPr>
        <p:spPr/>
        <p:txBody>
          <a:bodyPr/>
          <a:lstStyle/>
          <a:p>
            <a:r>
              <a:rPr lang="en-US" b="1" dirty="0"/>
              <a:t>Example Text 1:</a:t>
            </a:r>
            <a:endParaRPr lang="en-US" dirty="0"/>
          </a:p>
        </p:txBody>
      </p:sp>
      <p:sp>
        <p:nvSpPr>
          <p:cNvPr id="3" name="Content Placeholder 2">
            <a:extLst>
              <a:ext uri="{FF2B5EF4-FFF2-40B4-BE49-F238E27FC236}">
                <a16:creationId xmlns:a16="http://schemas.microsoft.com/office/drawing/2014/main" id="{0E55D634-0B8F-C6A6-2D1B-406464A93FD7}"/>
              </a:ext>
            </a:extLst>
          </p:cNvPr>
          <p:cNvSpPr>
            <a:spLocks noGrp="1"/>
          </p:cNvSpPr>
          <p:nvPr>
            <p:ph idx="1"/>
          </p:nvPr>
        </p:nvSpPr>
        <p:spPr/>
        <p:txBody>
          <a:bodyPr>
            <a:normAutofit/>
          </a:bodyPr>
          <a:lstStyle/>
          <a:p>
            <a:pPr marL="0" indent="0" algn="just">
              <a:buNone/>
            </a:pPr>
            <a:r>
              <a:rPr lang="en-US" b="1" dirty="0"/>
              <a:t>Machine Learning in Healthcare</a:t>
            </a:r>
          </a:p>
          <a:p>
            <a:pPr marL="0" indent="0" algn="just">
              <a:buNone/>
            </a:pPr>
            <a:r>
              <a:rPr lang="en-US" dirty="0"/>
              <a:t>"Machine learning has become a transformative force in the healthcare industry. By analyzing vast amounts of patient data, machine learning algorithms can identify patterns that may not be apparent to human clinicians. For instance, predictive models can assess the likelihood of diseases such as diabetes and heart conditions, allowing for early intervention. Additionally, machine learning aids in personalized medicine, tailoring treatments to individual patient profiles based on historical data. Despite its potential, the implementation of machine learning in healthcare faces challenges, including data privacy concerns and the need for robust validation of algorithms."</a:t>
            </a:r>
          </a:p>
          <a:p>
            <a:endParaRPr lang="en-US" dirty="0"/>
          </a:p>
        </p:txBody>
      </p:sp>
      <p:sp>
        <p:nvSpPr>
          <p:cNvPr id="4" name="Slide Number Placeholder 3">
            <a:extLst>
              <a:ext uri="{FF2B5EF4-FFF2-40B4-BE49-F238E27FC236}">
                <a16:creationId xmlns:a16="http://schemas.microsoft.com/office/drawing/2014/main" id="{08323992-85F0-0400-4860-F71FEFF74908}"/>
              </a:ext>
            </a:extLst>
          </p:cNvPr>
          <p:cNvSpPr>
            <a:spLocks noGrp="1"/>
          </p:cNvSpPr>
          <p:nvPr>
            <p:ph type="sldNum" sz="quarter" idx="12"/>
          </p:nvPr>
        </p:nvSpPr>
        <p:spPr/>
        <p:txBody>
          <a:bodyPr/>
          <a:lstStyle/>
          <a:p>
            <a:fld id="{B810A8A8-9E52-47DC-B028-D90FA570F151}" type="slidenum">
              <a:rPr lang="en-US" smtClean="0"/>
              <a:t>9</a:t>
            </a:fld>
            <a:endParaRPr lang="en-US"/>
          </a:p>
        </p:txBody>
      </p:sp>
    </p:spTree>
    <p:extLst>
      <p:ext uri="{BB962C8B-B14F-4D97-AF65-F5344CB8AC3E}">
        <p14:creationId xmlns:p14="http://schemas.microsoft.com/office/powerpoint/2010/main" val="1606455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1AEF-F257-B862-2A95-1AE3A4D09F93}"/>
              </a:ext>
            </a:extLst>
          </p:cNvPr>
          <p:cNvSpPr>
            <a:spLocks noGrp="1"/>
          </p:cNvSpPr>
          <p:nvPr>
            <p:ph type="title"/>
          </p:nvPr>
        </p:nvSpPr>
        <p:spPr/>
        <p:txBody>
          <a:bodyPr/>
          <a:lstStyle/>
          <a:p>
            <a:r>
              <a:rPr lang="en-US" dirty="0"/>
              <a:t>Summary for Example Text 1: Machine Learning in Healthcare</a:t>
            </a:r>
          </a:p>
        </p:txBody>
      </p:sp>
      <p:sp>
        <p:nvSpPr>
          <p:cNvPr id="3" name="Content Placeholder 2">
            <a:extLst>
              <a:ext uri="{FF2B5EF4-FFF2-40B4-BE49-F238E27FC236}">
                <a16:creationId xmlns:a16="http://schemas.microsoft.com/office/drawing/2014/main" id="{9CF13747-5806-CC80-FCEF-8FE119E819C1}"/>
              </a:ext>
            </a:extLst>
          </p:cNvPr>
          <p:cNvSpPr>
            <a:spLocks noGrp="1"/>
          </p:cNvSpPr>
          <p:nvPr>
            <p:ph idx="1"/>
          </p:nvPr>
        </p:nvSpPr>
        <p:spPr/>
        <p:txBody>
          <a:bodyPr/>
          <a:lstStyle/>
          <a:p>
            <a:pPr algn="just"/>
            <a:r>
              <a:rPr lang="en-US" dirty="0"/>
              <a:t>Machine learning is transforming healthcare by analyzing patient data to identify patterns and predict diseases like diabetes and heart conditions, enabling early intervention. It also supports personalized medicine by tailoring treatments to individual profiles. However, challenges such as data privacy concerns and the need for robust algorithm validation hinder its implementation.</a:t>
            </a:r>
          </a:p>
        </p:txBody>
      </p:sp>
      <p:sp>
        <p:nvSpPr>
          <p:cNvPr id="4" name="Slide Number Placeholder 3">
            <a:extLst>
              <a:ext uri="{FF2B5EF4-FFF2-40B4-BE49-F238E27FC236}">
                <a16:creationId xmlns:a16="http://schemas.microsoft.com/office/drawing/2014/main" id="{4423F213-708B-9768-C665-47393737275A}"/>
              </a:ext>
            </a:extLst>
          </p:cNvPr>
          <p:cNvSpPr>
            <a:spLocks noGrp="1"/>
          </p:cNvSpPr>
          <p:nvPr>
            <p:ph type="sldNum" sz="quarter" idx="12"/>
          </p:nvPr>
        </p:nvSpPr>
        <p:spPr/>
        <p:txBody>
          <a:bodyPr/>
          <a:lstStyle/>
          <a:p>
            <a:fld id="{B810A8A8-9E52-47DC-B028-D90FA570F151}" type="slidenum">
              <a:rPr lang="en-US" smtClean="0"/>
              <a:t>10</a:t>
            </a:fld>
            <a:endParaRPr lang="en-US"/>
          </a:p>
        </p:txBody>
      </p:sp>
    </p:spTree>
    <p:extLst>
      <p:ext uri="{BB962C8B-B14F-4D97-AF65-F5344CB8AC3E}">
        <p14:creationId xmlns:p14="http://schemas.microsoft.com/office/powerpoint/2010/main" val="4013812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E1A9A-2E3A-B27D-BF79-D5DFD235C416}"/>
              </a:ext>
            </a:extLst>
          </p:cNvPr>
          <p:cNvSpPr>
            <a:spLocks noGrp="1"/>
          </p:cNvSpPr>
          <p:nvPr>
            <p:ph type="title"/>
          </p:nvPr>
        </p:nvSpPr>
        <p:spPr/>
        <p:txBody>
          <a:bodyPr/>
          <a:lstStyle/>
          <a:p>
            <a:r>
              <a:rPr lang="en-US" dirty="0"/>
              <a:t>Example Text 2: Big Data Analytics</a:t>
            </a:r>
          </a:p>
        </p:txBody>
      </p:sp>
      <p:sp>
        <p:nvSpPr>
          <p:cNvPr id="3" name="Content Placeholder 2">
            <a:extLst>
              <a:ext uri="{FF2B5EF4-FFF2-40B4-BE49-F238E27FC236}">
                <a16:creationId xmlns:a16="http://schemas.microsoft.com/office/drawing/2014/main" id="{6B52F684-5910-9C0A-6BD6-F3C849F886C4}"/>
              </a:ext>
            </a:extLst>
          </p:cNvPr>
          <p:cNvSpPr>
            <a:spLocks noGrp="1"/>
          </p:cNvSpPr>
          <p:nvPr>
            <p:ph idx="1"/>
          </p:nvPr>
        </p:nvSpPr>
        <p:spPr/>
        <p:txBody>
          <a:bodyPr/>
          <a:lstStyle/>
          <a:p>
            <a:pPr algn="just"/>
            <a:r>
              <a:rPr lang="en-US" dirty="0"/>
              <a:t>"Big data analytics refers to the process of examining large and complex datasets to uncover hidden patterns, correlations, and insights. This practice is increasingly essential in various fields, including marketing, finance, and cybersecurity. By leveraging advanced analytics tools, organizations can make data-driven decisions, enhance operational efficiency, and improve customer experiences. However, the integration of big data analytics also presents challenges, such as ensuring data quality, managing data security, and addressing the skills gap in the workforce. Organizations must navigate these hurdles to fully harness the power of big data."</a:t>
            </a:r>
          </a:p>
          <a:p>
            <a:endParaRPr lang="en-US" dirty="0"/>
          </a:p>
        </p:txBody>
      </p:sp>
      <p:sp>
        <p:nvSpPr>
          <p:cNvPr id="4" name="Slide Number Placeholder 3">
            <a:extLst>
              <a:ext uri="{FF2B5EF4-FFF2-40B4-BE49-F238E27FC236}">
                <a16:creationId xmlns:a16="http://schemas.microsoft.com/office/drawing/2014/main" id="{1E9A6D2F-27C8-2AEA-26FE-747EF9B60292}"/>
              </a:ext>
            </a:extLst>
          </p:cNvPr>
          <p:cNvSpPr>
            <a:spLocks noGrp="1"/>
          </p:cNvSpPr>
          <p:nvPr>
            <p:ph type="sldNum" sz="quarter" idx="12"/>
          </p:nvPr>
        </p:nvSpPr>
        <p:spPr/>
        <p:txBody>
          <a:bodyPr/>
          <a:lstStyle/>
          <a:p>
            <a:fld id="{B810A8A8-9E52-47DC-B028-D90FA570F151}" type="slidenum">
              <a:rPr lang="en-US" smtClean="0"/>
              <a:t>11</a:t>
            </a:fld>
            <a:endParaRPr lang="en-US"/>
          </a:p>
        </p:txBody>
      </p:sp>
    </p:spTree>
    <p:extLst>
      <p:ext uri="{BB962C8B-B14F-4D97-AF65-F5344CB8AC3E}">
        <p14:creationId xmlns:p14="http://schemas.microsoft.com/office/powerpoint/2010/main" val="56223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0B3D7-CDC5-D4B1-D0C8-282B3AB15DA5}"/>
              </a:ext>
            </a:extLst>
          </p:cNvPr>
          <p:cNvSpPr>
            <a:spLocks noGrp="1"/>
          </p:cNvSpPr>
          <p:nvPr>
            <p:ph type="title"/>
          </p:nvPr>
        </p:nvSpPr>
        <p:spPr/>
        <p:txBody>
          <a:bodyPr/>
          <a:lstStyle/>
          <a:p>
            <a:r>
              <a:rPr lang="en-US" dirty="0"/>
              <a:t>Summary for Example Text 2: Big Data Analytics</a:t>
            </a:r>
          </a:p>
        </p:txBody>
      </p:sp>
      <p:sp>
        <p:nvSpPr>
          <p:cNvPr id="3" name="Content Placeholder 2">
            <a:extLst>
              <a:ext uri="{FF2B5EF4-FFF2-40B4-BE49-F238E27FC236}">
                <a16:creationId xmlns:a16="http://schemas.microsoft.com/office/drawing/2014/main" id="{B2A68C65-C377-8557-8377-513837CD4DE4}"/>
              </a:ext>
            </a:extLst>
          </p:cNvPr>
          <p:cNvSpPr>
            <a:spLocks noGrp="1"/>
          </p:cNvSpPr>
          <p:nvPr>
            <p:ph idx="1"/>
          </p:nvPr>
        </p:nvSpPr>
        <p:spPr/>
        <p:txBody>
          <a:bodyPr/>
          <a:lstStyle/>
          <a:p>
            <a:pPr algn="just"/>
            <a:r>
              <a:rPr lang="en-US" dirty="0"/>
              <a:t>Big data analytics involves examining large datasets to uncover insights that enhance decision-making and efficiency. While highly beneficial, it also presents challenges related to data quality, security, and workforce skills.</a:t>
            </a:r>
          </a:p>
        </p:txBody>
      </p:sp>
      <p:sp>
        <p:nvSpPr>
          <p:cNvPr id="4" name="Slide Number Placeholder 3">
            <a:extLst>
              <a:ext uri="{FF2B5EF4-FFF2-40B4-BE49-F238E27FC236}">
                <a16:creationId xmlns:a16="http://schemas.microsoft.com/office/drawing/2014/main" id="{CDCED986-35DA-678A-26D3-4D3578BAF88F}"/>
              </a:ext>
            </a:extLst>
          </p:cNvPr>
          <p:cNvSpPr>
            <a:spLocks noGrp="1"/>
          </p:cNvSpPr>
          <p:nvPr>
            <p:ph type="sldNum" sz="quarter" idx="12"/>
          </p:nvPr>
        </p:nvSpPr>
        <p:spPr/>
        <p:txBody>
          <a:bodyPr/>
          <a:lstStyle/>
          <a:p>
            <a:fld id="{B810A8A8-9E52-47DC-B028-D90FA570F151}" type="slidenum">
              <a:rPr lang="en-US" smtClean="0"/>
              <a:t>12</a:t>
            </a:fld>
            <a:endParaRPr lang="en-US"/>
          </a:p>
        </p:txBody>
      </p:sp>
      <p:sp>
        <p:nvSpPr>
          <p:cNvPr id="5" name="Rectangle: Beveled 4">
            <a:extLst>
              <a:ext uri="{FF2B5EF4-FFF2-40B4-BE49-F238E27FC236}">
                <a16:creationId xmlns:a16="http://schemas.microsoft.com/office/drawing/2014/main" id="{A025AFB2-3D85-E2AE-5892-840DBD67C63F}"/>
              </a:ext>
            </a:extLst>
          </p:cNvPr>
          <p:cNvSpPr/>
          <p:nvPr/>
        </p:nvSpPr>
        <p:spPr>
          <a:xfrm>
            <a:off x="2241755" y="3878826"/>
            <a:ext cx="5840361" cy="1460090"/>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workforce skills</a:t>
            </a:r>
            <a:r>
              <a:rPr lang="en-US"/>
              <a:t> means the </a:t>
            </a:r>
            <a:r>
              <a:rPr lang="en-US" b="1"/>
              <a:t>knowledge and abilities of employees</a:t>
            </a:r>
            <a:r>
              <a:rPr lang="en-US"/>
              <a:t> who work with big data (such as data analysts, engineers, or IT specialists).</a:t>
            </a:r>
          </a:p>
        </p:txBody>
      </p:sp>
    </p:spTree>
    <p:extLst>
      <p:ext uri="{BB962C8B-B14F-4D97-AF65-F5344CB8AC3E}">
        <p14:creationId xmlns:p14="http://schemas.microsoft.com/office/powerpoint/2010/main" val="3831743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6D64-7AB8-6BCA-2139-F1762D766910}"/>
              </a:ext>
            </a:extLst>
          </p:cNvPr>
          <p:cNvSpPr>
            <a:spLocks noGrp="1"/>
          </p:cNvSpPr>
          <p:nvPr>
            <p:ph type="ctrTitle"/>
          </p:nvPr>
        </p:nvSpPr>
        <p:spPr/>
        <p:txBody>
          <a:bodyPr/>
          <a:lstStyle/>
          <a:p>
            <a:r>
              <a:rPr lang="en-US" dirty="0"/>
              <a:t>Writing Effective Abstracts in AI and Data Engineering</a:t>
            </a:r>
          </a:p>
        </p:txBody>
      </p:sp>
      <p:sp>
        <p:nvSpPr>
          <p:cNvPr id="3" name="Subtitle 2">
            <a:extLst>
              <a:ext uri="{FF2B5EF4-FFF2-40B4-BE49-F238E27FC236}">
                <a16:creationId xmlns:a16="http://schemas.microsoft.com/office/drawing/2014/main" id="{9258B12D-4B0A-E09A-F4B9-065F5D3E588A}"/>
              </a:ext>
            </a:extLst>
          </p:cNvPr>
          <p:cNvSpPr>
            <a:spLocks noGrp="1"/>
          </p:cNvSpPr>
          <p:nvPr>
            <p:ph type="subTitle" idx="1"/>
          </p:nvPr>
        </p:nvSpPr>
        <p:spPr/>
        <p:txBody>
          <a:bodyPr/>
          <a:lstStyle/>
          <a:p>
            <a:r>
              <a:rPr lang="en-US" dirty="0"/>
              <a:t>Dr. Zeinab Abbas</a:t>
            </a:r>
          </a:p>
        </p:txBody>
      </p:sp>
      <p:sp>
        <p:nvSpPr>
          <p:cNvPr id="4" name="Slide Number Placeholder 3">
            <a:extLst>
              <a:ext uri="{FF2B5EF4-FFF2-40B4-BE49-F238E27FC236}">
                <a16:creationId xmlns:a16="http://schemas.microsoft.com/office/drawing/2014/main" id="{E6617F07-697A-D66E-290A-64B132AEA625}"/>
              </a:ext>
            </a:extLst>
          </p:cNvPr>
          <p:cNvSpPr>
            <a:spLocks noGrp="1"/>
          </p:cNvSpPr>
          <p:nvPr>
            <p:ph type="sldNum" sz="quarter" idx="12"/>
          </p:nvPr>
        </p:nvSpPr>
        <p:spPr/>
        <p:txBody>
          <a:bodyPr/>
          <a:lstStyle/>
          <a:p>
            <a:fld id="{B810A8A8-9E52-47DC-B028-D90FA570F151}" type="slidenum">
              <a:rPr lang="en-US" smtClean="0"/>
              <a:t>13</a:t>
            </a:fld>
            <a:endParaRPr lang="en-US"/>
          </a:p>
        </p:txBody>
      </p:sp>
    </p:spTree>
    <p:extLst>
      <p:ext uri="{BB962C8B-B14F-4D97-AF65-F5344CB8AC3E}">
        <p14:creationId xmlns:p14="http://schemas.microsoft.com/office/powerpoint/2010/main" val="2331139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CFB14-E9C9-8537-4892-B56907DCAB3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6010E1C-52A4-7565-34AF-19F21CAB2926}"/>
              </a:ext>
            </a:extLst>
          </p:cNvPr>
          <p:cNvSpPr>
            <a:spLocks noGrp="1"/>
          </p:cNvSpPr>
          <p:nvPr>
            <p:ph idx="1"/>
          </p:nvPr>
        </p:nvSpPr>
        <p:spPr/>
        <p:txBody>
          <a:bodyPr/>
          <a:lstStyle/>
          <a:p>
            <a:pPr marL="0" indent="0">
              <a:buNone/>
            </a:pPr>
            <a:r>
              <a:rPr lang="en-US" b="1" dirty="0"/>
              <a:t>What is an Abstract?</a:t>
            </a:r>
            <a:r>
              <a:rPr lang="en-US" dirty="0"/>
              <a:t> </a:t>
            </a:r>
          </a:p>
          <a:p>
            <a:r>
              <a:rPr lang="en-US" dirty="0"/>
              <a:t>Definition: A concise summary of a research paper or project.</a:t>
            </a:r>
          </a:p>
          <a:p>
            <a:r>
              <a:rPr lang="en-US" dirty="0"/>
              <a:t>Importance in the field of AI and Data Engineering.</a:t>
            </a:r>
          </a:p>
          <a:p>
            <a:endParaRPr lang="en-US" dirty="0"/>
          </a:p>
        </p:txBody>
      </p:sp>
      <p:sp>
        <p:nvSpPr>
          <p:cNvPr id="4" name="Slide Number Placeholder 3">
            <a:extLst>
              <a:ext uri="{FF2B5EF4-FFF2-40B4-BE49-F238E27FC236}">
                <a16:creationId xmlns:a16="http://schemas.microsoft.com/office/drawing/2014/main" id="{6001383B-8F9B-7C37-4AA3-E08FC5574F9B}"/>
              </a:ext>
            </a:extLst>
          </p:cNvPr>
          <p:cNvSpPr>
            <a:spLocks noGrp="1"/>
          </p:cNvSpPr>
          <p:nvPr>
            <p:ph type="sldNum" sz="quarter" idx="12"/>
          </p:nvPr>
        </p:nvSpPr>
        <p:spPr/>
        <p:txBody>
          <a:bodyPr/>
          <a:lstStyle/>
          <a:p>
            <a:fld id="{B810A8A8-9E52-47DC-B028-D90FA570F151}" type="slidenum">
              <a:rPr lang="en-US" smtClean="0"/>
              <a:t>14</a:t>
            </a:fld>
            <a:endParaRPr lang="en-US"/>
          </a:p>
        </p:txBody>
      </p:sp>
    </p:spTree>
    <p:extLst>
      <p:ext uri="{BB962C8B-B14F-4D97-AF65-F5344CB8AC3E}">
        <p14:creationId xmlns:p14="http://schemas.microsoft.com/office/powerpoint/2010/main" val="2533998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7CAF3-9DA7-4290-C769-E99FCDA4CE36}"/>
              </a:ext>
            </a:extLst>
          </p:cNvPr>
          <p:cNvSpPr>
            <a:spLocks noGrp="1"/>
          </p:cNvSpPr>
          <p:nvPr>
            <p:ph type="title"/>
          </p:nvPr>
        </p:nvSpPr>
        <p:spPr/>
        <p:txBody>
          <a:bodyPr/>
          <a:lstStyle/>
          <a:p>
            <a:r>
              <a:rPr lang="en-US" dirty="0"/>
              <a:t>Importance of an Abstract</a:t>
            </a:r>
          </a:p>
        </p:txBody>
      </p:sp>
      <p:sp>
        <p:nvSpPr>
          <p:cNvPr id="4" name="Rectangle 1">
            <a:extLst>
              <a:ext uri="{FF2B5EF4-FFF2-40B4-BE49-F238E27FC236}">
                <a16:creationId xmlns:a16="http://schemas.microsoft.com/office/drawing/2014/main" id="{EC9EAEE5-3443-FB37-75A8-0D2C8C0746C4}"/>
              </a:ext>
            </a:extLst>
          </p:cNvPr>
          <p:cNvSpPr>
            <a:spLocks noGrp="1" noChangeArrowheads="1"/>
          </p:cNvSpPr>
          <p:nvPr>
            <p:ph idx="1"/>
          </p:nvPr>
        </p:nvSpPr>
        <p:spPr bwMode="auto">
          <a:xfrm>
            <a:off x="677334" y="2550669"/>
            <a:ext cx="887962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
                <a:srgbClr val="92D050"/>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j-lt"/>
              </a:rPr>
              <a:t>Helps readers see if the work is useful to them.</a:t>
            </a:r>
          </a:p>
          <a:p>
            <a:pPr marR="0" lvl="0" algn="just" defTabSz="914400" rtl="0" eaLnBrk="0" fontAlgn="base" latinLnBrk="0" hangingPunct="0">
              <a:lnSpc>
                <a:spcPct val="100000"/>
              </a:lnSpc>
              <a:spcBef>
                <a:spcPct val="0"/>
              </a:spcBef>
              <a:spcAft>
                <a:spcPct val="0"/>
              </a:spcAft>
              <a:buClr>
                <a:srgbClr val="92D050"/>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j-lt"/>
              </a:rPr>
              <a:t>Summarizes the main results and methods.</a:t>
            </a:r>
          </a:p>
          <a:p>
            <a:pPr marR="0" lvl="0" algn="just" defTabSz="914400" rtl="0" eaLnBrk="0" fontAlgn="base" latinLnBrk="0" hangingPunct="0">
              <a:lnSpc>
                <a:spcPct val="100000"/>
              </a:lnSpc>
              <a:spcBef>
                <a:spcPct val="0"/>
              </a:spcBef>
              <a:spcAft>
                <a:spcPct val="0"/>
              </a:spcAft>
              <a:buClr>
                <a:srgbClr val="92D050"/>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j-lt"/>
              </a:rPr>
              <a:t>Makes it easier to find in searches or databases.</a:t>
            </a:r>
          </a:p>
        </p:txBody>
      </p:sp>
      <p:sp>
        <p:nvSpPr>
          <p:cNvPr id="5" name="Slide Number Placeholder 4">
            <a:extLst>
              <a:ext uri="{FF2B5EF4-FFF2-40B4-BE49-F238E27FC236}">
                <a16:creationId xmlns:a16="http://schemas.microsoft.com/office/drawing/2014/main" id="{114EC040-59AE-02EC-2310-C11359A695B6}"/>
              </a:ext>
            </a:extLst>
          </p:cNvPr>
          <p:cNvSpPr>
            <a:spLocks noGrp="1"/>
          </p:cNvSpPr>
          <p:nvPr>
            <p:ph type="sldNum" sz="quarter" idx="12"/>
          </p:nvPr>
        </p:nvSpPr>
        <p:spPr/>
        <p:txBody>
          <a:bodyPr/>
          <a:lstStyle/>
          <a:p>
            <a:fld id="{B810A8A8-9E52-47DC-B028-D90FA570F151}" type="slidenum">
              <a:rPr lang="en-US" smtClean="0"/>
              <a:t>15</a:t>
            </a:fld>
            <a:endParaRPr lang="en-US"/>
          </a:p>
        </p:txBody>
      </p:sp>
    </p:spTree>
    <p:extLst>
      <p:ext uri="{BB962C8B-B14F-4D97-AF65-F5344CB8AC3E}">
        <p14:creationId xmlns:p14="http://schemas.microsoft.com/office/powerpoint/2010/main" val="1964281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ADFA4-EF6E-C2A0-AE07-87F48616CE3A}"/>
              </a:ext>
            </a:extLst>
          </p:cNvPr>
          <p:cNvSpPr>
            <a:spLocks noGrp="1"/>
          </p:cNvSpPr>
          <p:nvPr>
            <p:ph type="title"/>
          </p:nvPr>
        </p:nvSpPr>
        <p:spPr/>
        <p:txBody>
          <a:bodyPr/>
          <a:lstStyle/>
          <a:p>
            <a:r>
              <a:rPr lang="en-US" dirty="0"/>
              <a:t>Key Elements of an Abstract</a:t>
            </a:r>
          </a:p>
        </p:txBody>
      </p:sp>
      <p:sp>
        <p:nvSpPr>
          <p:cNvPr id="4" name="Rectangle 1">
            <a:extLst>
              <a:ext uri="{FF2B5EF4-FFF2-40B4-BE49-F238E27FC236}">
                <a16:creationId xmlns:a16="http://schemas.microsoft.com/office/drawing/2014/main" id="{4414B54B-2334-A21F-3630-F1FD3FC1AB45}"/>
              </a:ext>
            </a:extLst>
          </p:cNvPr>
          <p:cNvSpPr>
            <a:spLocks noGrp="1" noChangeArrowheads="1"/>
          </p:cNvSpPr>
          <p:nvPr>
            <p:ph idx="1"/>
          </p:nvPr>
        </p:nvSpPr>
        <p:spPr bwMode="auto">
          <a:xfrm>
            <a:off x="1377363" y="2285679"/>
            <a:ext cx="548579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Background:</a:t>
            </a:r>
            <a:r>
              <a:rPr kumimoji="0" lang="en-US" altLang="en-US" sz="1800" b="0" i="0" u="none" strike="noStrike" cap="none" normalizeH="0" baseline="0" dirty="0">
                <a:ln>
                  <a:noFill/>
                </a:ln>
                <a:solidFill>
                  <a:schemeClr val="tx1"/>
                </a:solidFill>
                <a:effectLst/>
                <a:latin typeface="+mj-lt"/>
              </a:rPr>
              <a:t> Context of the research.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Aims:</a:t>
            </a:r>
            <a:r>
              <a:rPr kumimoji="0" lang="en-US" altLang="en-US" sz="1800" b="0" i="0" u="none" strike="noStrike" cap="none" normalizeH="0" baseline="0" dirty="0">
                <a:ln>
                  <a:noFill/>
                </a:ln>
                <a:solidFill>
                  <a:schemeClr val="tx1"/>
                </a:solidFill>
                <a:effectLst/>
                <a:latin typeface="+mj-lt"/>
              </a:rPr>
              <a:t> Purpose of the study.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Methods:</a:t>
            </a:r>
            <a:r>
              <a:rPr kumimoji="0" lang="en-US" altLang="en-US" sz="1800" b="0" i="0" u="none" strike="noStrike" cap="none" normalizeH="0" baseline="0" dirty="0">
                <a:ln>
                  <a:noFill/>
                </a:ln>
                <a:solidFill>
                  <a:schemeClr val="tx1"/>
                </a:solidFill>
                <a:effectLst/>
                <a:latin typeface="+mj-lt"/>
              </a:rPr>
              <a:t> Brief description of the approach used.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Results:</a:t>
            </a:r>
            <a:r>
              <a:rPr kumimoji="0" lang="en-US" altLang="en-US" sz="1800" b="0" i="0" u="none" strike="noStrike" cap="none" normalizeH="0" baseline="0" dirty="0">
                <a:ln>
                  <a:noFill/>
                </a:ln>
                <a:solidFill>
                  <a:schemeClr val="tx1"/>
                </a:solidFill>
                <a:effectLst/>
                <a:latin typeface="+mj-lt"/>
              </a:rPr>
              <a:t> Main findings.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Conclusions:</a:t>
            </a:r>
            <a:r>
              <a:rPr kumimoji="0" lang="en-US" altLang="en-US" sz="1800" b="0" i="0" u="none" strike="noStrike" cap="none" normalizeH="0" baseline="0" dirty="0">
                <a:ln>
                  <a:noFill/>
                </a:ln>
                <a:solidFill>
                  <a:schemeClr val="tx1"/>
                </a:solidFill>
                <a:effectLst/>
                <a:latin typeface="+mj-lt"/>
              </a:rPr>
              <a:t> Implications of the results. </a:t>
            </a:r>
          </a:p>
        </p:txBody>
      </p:sp>
      <p:sp>
        <p:nvSpPr>
          <p:cNvPr id="5" name="Slide Number Placeholder 4">
            <a:extLst>
              <a:ext uri="{FF2B5EF4-FFF2-40B4-BE49-F238E27FC236}">
                <a16:creationId xmlns:a16="http://schemas.microsoft.com/office/drawing/2014/main" id="{A8EB6AFD-40E5-B0C6-9AA9-17FE855F873D}"/>
              </a:ext>
            </a:extLst>
          </p:cNvPr>
          <p:cNvSpPr>
            <a:spLocks noGrp="1"/>
          </p:cNvSpPr>
          <p:nvPr>
            <p:ph type="sldNum" sz="quarter" idx="12"/>
          </p:nvPr>
        </p:nvSpPr>
        <p:spPr/>
        <p:txBody>
          <a:bodyPr/>
          <a:lstStyle/>
          <a:p>
            <a:fld id="{B810A8A8-9E52-47DC-B028-D90FA570F151}" type="slidenum">
              <a:rPr lang="en-US" smtClean="0"/>
              <a:t>16</a:t>
            </a:fld>
            <a:endParaRPr lang="en-US"/>
          </a:p>
        </p:txBody>
      </p:sp>
      <p:sp>
        <p:nvSpPr>
          <p:cNvPr id="3" name="Lightning Bolt 2">
            <a:extLst>
              <a:ext uri="{FF2B5EF4-FFF2-40B4-BE49-F238E27FC236}">
                <a16:creationId xmlns:a16="http://schemas.microsoft.com/office/drawing/2014/main" id="{3C10187A-06D2-6857-4351-BFB584D574A4}"/>
              </a:ext>
            </a:extLst>
          </p:cNvPr>
          <p:cNvSpPr/>
          <p:nvPr/>
        </p:nvSpPr>
        <p:spPr>
          <a:xfrm>
            <a:off x="7341116" y="2155433"/>
            <a:ext cx="1454930" cy="1607574"/>
          </a:xfrm>
          <a:prstGeom prst="lightningBol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3533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410E7-7082-49E7-B67E-44CAD28CE666}"/>
              </a:ext>
            </a:extLst>
          </p:cNvPr>
          <p:cNvSpPr>
            <a:spLocks noGrp="1"/>
          </p:cNvSpPr>
          <p:nvPr>
            <p:ph type="title"/>
          </p:nvPr>
        </p:nvSpPr>
        <p:spPr/>
        <p:txBody>
          <a:bodyPr/>
          <a:lstStyle/>
          <a:p>
            <a:r>
              <a:rPr lang="en-US" dirty="0"/>
              <a:t>Questions an Abstract Should Answer</a:t>
            </a:r>
          </a:p>
        </p:txBody>
      </p:sp>
      <p:sp>
        <p:nvSpPr>
          <p:cNvPr id="4" name="Rectangle 1">
            <a:extLst>
              <a:ext uri="{FF2B5EF4-FFF2-40B4-BE49-F238E27FC236}">
                <a16:creationId xmlns:a16="http://schemas.microsoft.com/office/drawing/2014/main" id="{28438825-CACF-9F5D-5681-165A6CB57805}"/>
              </a:ext>
            </a:extLst>
          </p:cNvPr>
          <p:cNvSpPr>
            <a:spLocks noGrp="1" noChangeArrowheads="1"/>
          </p:cNvSpPr>
          <p:nvPr>
            <p:ph idx="1"/>
          </p:nvPr>
        </p:nvSpPr>
        <p:spPr bwMode="auto">
          <a:xfrm>
            <a:off x="1530327" y="2154592"/>
            <a:ext cx="45656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Why is this research important?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What was done and how? </a:t>
            </a:r>
          </a:p>
          <a:p>
            <a:pPr marL="0" lvl="0" indent="0" algn="just" defTabSz="914400" eaLnBrk="0" fontAlgn="base" hangingPunct="0">
              <a:spcBef>
                <a:spcPct val="0"/>
              </a:spcBef>
              <a:spcAft>
                <a:spcPct val="0"/>
              </a:spcAft>
              <a:buClrTx/>
              <a:buSzTx/>
              <a:buFontTx/>
              <a:buChar char="•"/>
            </a:pPr>
            <a:r>
              <a:rPr lang="en-US" dirty="0">
                <a:solidFill>
                  <a:schemeClr val="tx1">
                    <a:lumMod val="95000"/>
                    <a:lumOff val="5000"/>
                  </a:schemeClr>
                </a:solidFill>
              </a:rPr>
              <a:t>What did the study or research discover?</a:t>
            </a:r>
          </a:p>
          <a:p>
            <a:pPr marL="0" lvl="0" indent="0" algn="just"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mj-lt"/>
              </a:rPr>
              <a:t>What do the findings mean for the field? </a:t>
            </a:r>
          </a:p>
        </p:txBody>
      </p:sp>
      <p:sp>
        <p:nvSpPr>
          <p:cNvPr id="5" name="Slide Number Placeholder 4">
            <a:extLst>
              <a:ext uri="{FF2B5EF4-FFF2-40B4-BE49-F238E27FC236}">
                <a16:creationId xmlns:a16="http://schemas.microsoft.com/office/drawing/2014/main" id="{538BBF2D-472B-B04F-B2A4-AF751AFADB1E}"/>
              </a:ext>
            </a:extLst>
          </p:cNvPr>
          <p:cNvSpPr>
            <a:spLocks noGrp="1"/>
          </p:cNvSpPr>
          <p:nvPr>
            <p:ph type="sldNum" sz="quarter" idx="12"/>
          </p:nvPr>
        </p:nvSpPr>
        <p:spPr/>
        <p:txBody>
          <a:bodyPr/>
          <a:lstStyle/>
          <a:p>
            <a:fld id="{B810A8A8-9E52-47DC-B028-D90FA570F151}" type="slidenum">
              <a:rPr lang="en-US" smtClean="0"/>
              <a:t>17</a:t>
            </a:fld>
            <a:endParaRPr lang="en-US"/>
          </a:p>
        </p:txBody>
      </p:sp>
      <p:sp>
        <p:nvSpPr>
          <p:cNvPr id="3" name="Rectangle 2">
            <a:extLst>
              <a:ext uri="{FF2B5EF4-FFF2-40B4-BE49-F238E27FC236}">
                <a16:creationId xmlns:a16="http://schemas.microsoft.com/office/drawing/2014/main" id="{CFE40AEA-E8A7-8D59-A9DC-ABB2C648E3B3}"/>
              </a:ext>
            </a:extLst>
          </p:cNvPr>
          <p:cNvSpPr/>
          <p:nvPr/>
        </p:nvSpPr>
        <p:spPr>
          <a:xfrm>
            <a:off x="7402414" y="1930400"/>
            <a:ext cx="1188249" cy="3154710"/>
          </a:xfrm>
          <a:prstGeom prst="rect">
            <a:avLst/>
          </a:prstGeom>
          <a:noFill/>
        </p:spPr>
        <p:txBody>
          <a:bodyPr wrap="square" lIns="91440" tIns="45720" rIns="91440" bIns="45720">
            <a:spAutoFit/>
          </a:bodyPr>
          <a:lstStyle/>
          <a:p>
            <a:pPr algn="ctr"/>
            <a:r>
              <a:rPr lang="en-US" sz="19900" b="1" dirty="0">
                <a:ln w="6600">
                  <a:solidFill>
                    <a:schemeClr val="accent2"/>
                  </a:solidFill>
                  <a:prstDash val="solid"/>
                </a:ln>
                <a:solidFill>
                  <a:srgbClr val="FFFFFF"/>
                </a:solidFill>
                <a:effectLst>
                  <a:outerShdw dist="38100" dir="2700000" algn="tl" rotWithShape="0">
                    <a:schemeClr val="accent2"/>
                  </a:outerShdw>
                </a:effectLst>
              </a:rPr>
              <a:t>?</a:t>
            </a:r>
          </a:p>
        </p:txBody>
      </p:sp>
    </p:spTree>
    <p:extLst>
      <p:ext uri="{BB962C8B-B14F-4D97-AF65-F5344CB8AC3E}">
        <p14:creationId xmlns:p14="http://schemas.microsoft.com/office/powerpoint/2010/main" val="152923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38C61-627C-B276-7AB9-6DE6E647E0D9}"/>
              </a:ext>
            </a:extLst>
          </p:cNvPr>
          <p:cNvSpPr>
            <a:spLocks noGrp="1"/>
          </p:cNvSpPr>
          <p:nvPr>
            <p:ph type="title"/>
          </p:nvPr>
        </p:nvSpPr>
        <p:spPr/>
        <p:txBody>
          <a:bodyPr/>
          <a:lstStyle/>
          <a:p>
            <a:r>
              <a:rPr lang="en-US" dirty="0"/>
              <a:t>Writing Tips</a:t>
            </a:r>
          </a:p>
        </p:txBody>
      </p:sp>
      <p:sp>
        <p:nvSpPr>
          <p:cNvPr id="4" name="Rectangle 1">
            <a:extLst>
              <a:ext uri="{FF2B5EF4-FFF2-40B4-BE49-F238E27FC236}">
                <a16:creationId xmlns:a16="http://schemas.microsoft.com/office/drawing/2014/main" id="{79BB1D03-59CD-7FD9-A4D3-F4C6E650D6B7}"/>
              </a:ext>
            </a:extLst>
          </p:cNvPr>
          <p:cNvSpPr>
            <a:spLocks noGrp="1" noChangeArrowheads="1"/>
          </p:cNvSpPr>
          <p:nvPr>
            <p:ph idx="1"/>
          </p:nvPr>
        </p:nvSpPr>
        <p:spPr bwMode="auto">
          <a:xfrm>
            <a:off x="1074032" y="2508553"/>
            <a:ext cx="444063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Read through the entire paper first.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Summarize key points without copying.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Keep it concise (100-250 words).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Revise for clarity and coherence. </a:t>
            </a:r>
          </a:p>
        </p:txBody>
      </p:sp>
      <p:sp>
        <p:nvSpPr>
          <p:cNvPr id="5" name="Slide Number Placeholder 4">
            <a:extLst>
              <a:ext uri="{FF2B5EF4-FFF2-40B4-BE49-F238E27FC236}">
                <a16:creationId xmlns:a16="http://schemas.microsoft.com/office/drawing/2014/main" id="{44D04C36-8D30-340D-321F-E958307F1937}"/>
              </a:ext>
            </a:extLst>
          </p:cNvPr>
          <p:cNvSpPr>
            <a:spLocks noGrp="1"/>
          </p:cNvSpPr>
          <p:nvPr>
            <p:ph type="sldNum" sz="quarter" idx="12"/>
          </p:nvPr>
        </p:nvSpPr>
        <p:spPr/>
        <p:txBody>
          <a:bodyPr/>
          <a:lstStyle/>
          <a:p>
            <a:fld id="{B810A8A8-9E52-47DC-B028-D90FA570F151}" type="slidenum">
              <a:rPr lang="en-US" smtClean="0"/>
              <a:t>18</a:t>
            </a:fld>
            <a:endParaRPr lang="en-US"/>
          </a:p>
        </p:txBody>
      </p:sp>
    </p:spTree>
    <p:extLst>
      <p:ext uri="{BB962C8B-B14F-4D97-AF65-F5344CB8AC3E}">
        <p14:creationId xmlns:p14="http://schemas.microsoft.com/office/powerpoint/2010/main" val="799630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3F60E-4B61-A2DB-6DC9-ACE8E1659837}"/>
              </a:ext>
            </a:extLst>
          </p:cNvPr>
          <p:cNvSpPr>
            <a:spLocks noGrp="1"/>
          </p:cNvSpPr>
          <p:nvPr>
            <p:ph type="title"/>
          </p:nvPr>
        </p:nvSpPr>
        <p:spPr/>
        <p:txBody>
          <a:bodyPr/>
          <a:lstStyle/>
          <a:p>
            <a:r>
              <a:rPr lang="en-US" dirty="0"/>
              <a:t>Example Abstract</a:t>
            </a:r>
          </a:p>
        </p:txBody>
      </p:sp>
      <p:sp>
        <p:nvSpPr>
          <p:cNvPr id="5" name="Slide Number Placeholder 4">
            <a:extLst>
              <a:ext uri="{FF2B5EF4-FFF2-40B4-BE49-F238E27FC236}">
                <a16:creationId xmlns:a16="http://schemas.microsoft.com/office/drawing/2014/main" id="{C8D8F9EE-0966-1606-59C1-0F442DFDD2BC}"/>
              </a:ext>
            </a:extLst>
          </p:cNvPr>
          <p:cNvSpPr>
            <a:spLocks noGrp="1"/>
          </p:cNvSpPr>
          <p:nvPr>
            <p:ph type="sldNum" sz="quarter" idx="12"/>
          </p:nvPr>
        </p:nvSpPr>
        <p:spPr/>
        <p:txBody>
          <a:bodyPr/>
          <a:lstStyle/>
          <a:p>
            <a:fld id="{B810A8A8-9E52-47DC-B028-D90FA570F151}" type="slidenum">
              <a:rPr lang="en-US" smtClean="0"/>
              <a:t>19</a:t>
            </a:fld>
            <a:endParaRPr lang="en-US"/>
          </a:p>
        </p:txBody>
      </p:sp>
      <p:sp>
        <p:nvSpPr>
          <p:cNvPr id="7" name="TextBox 6">
            <a:extLst>
              <a:ext uri="{FF2B5EF4-FFF2-40B4-BE49-F238E27FC236}">
                <a16:creationId xmlns:a16="http://schemas.microsoft.com/office/drawing/2014/main" id="{1BB030D8-4BB6-D182-A041-0A356DEE7BFD}"/>
              </a:ext>
            </a:extLst>
          </p:cNvPr>
          <p:cNvSpPr txBox="1"/>
          <p:nvPr/>
        </p:nvSpPr>
        <p:spPr>
          <a:xfrm>
            <a:off x="651388" y="2014597"/>
            <a:ext cx="6098458" cy="4524315"/>
          </a:xfrm>
          <a:prstGeom prst="rect">
            <a:avLst/>
          </a:prstGeom>
          <a:noFill/>
        </p:spPr>
        <p:txBody>
          <a:bodyPr wrap="square">
            <a:spAutoFit/>
          </a:bodyPr>
          <a:lstStyle/>
          <a:p>
            <a:pPr algn="just">
              <a:buNone/>
            </a:pPr>
            <a:r>
              <a:rPr lang="en-US" b="1" dirty="0"/>
              <a:t>Title:</a:t>
            </a:r>
            <a:r>
              <a:rPr lang="en-US" dirty="0"/>
              <a:t> Efficient Data Processing in AI Systems</a:t>
            </a:r>
          </a:p>
          <a:p>
            <a:pPr algn="just">
              <a:buNone/>
            </a:pPr>
            <a:r>
              <a:rPr lang="en-US" b="1" dirty="0"/>
              <a:t>Abstract:</a:t>
            </a:r>
          </a:p>
          <a:p>
            <a:pPr algn="just">
              <a:buNone/>
            </a:pPr>
            <a:br>
              <a:rPr lang="en-US" dirty="0"/>
            </a:br>
            <a:r>
              <a:rPr lang="en-US" dirty="0"/>
              <a:t>In this study, we investigate the integration of advanced data processing techniques within artificial intelligence systems to enhance performance and reduce latency. Our approach combines machine learning algorithms with optimized data structures, resulting in a significant improvement in processing speed. We conducted a series of experiments using both synthetic and real-world datasets to evaluate the effectiveness of our proposed methods. The results indicate a reduction in processing time by up to 75% compared to traditional approaches, while maintaining accuracy levels above 90%. These findings suggest that our methodology can be effectively implemented in various AI applications, facilitating faster decision-making and improved user experience.</a:t>
            </a:r>
          </a:p>
        </p:txBody>
      </p:sp>
      <p:sp>
        <p:nvSpPr>
          <p:cNvPr id="10" name="TextBox 9">
            <a:extLst>
              <a:ext uri="{FF2B5EF4-FFF2-40B4-BE49-F238E27FC236}">
                <a16:creationId xmlns:a16="http://schemas.microsoft.com/office/drawing/2014/main" id="{8CCFC9C7-E353-FB77-9232-B97091C569F3}"/>
              </a:ext>
            </a:extLst>
          </p:cNvPr>
          <p:cNvSpPr txBox="1"/>
          <p:nvPr/>
        </p:nvSpPr>
        <p:spPr>
          <a:xfrm>
            <a:off x="6835603" y="2123990"/>
            <a:ext cx="5270089" cy="369332"/>
          </a:xfrm>
          <a:prstGeom prst="rect">
            <a:avLst/>
          </a:prstGeom>
          <a:noFill/>
        </p:spPr>
        <p:txBody>
          <a:bodyPr wrap="square">
            <a:spAutoFit/>
          </a:bodyPr>
          <a:lstStyle/>
          <a:p>
            <a:pPr algn="just">
              <a:buNone/>
            </a:pPr>
            <a:r>
              <a:rPr lang="en-US" dirty="0"/>
              <a:t>.</a:t>
            </a:r>
          </a:p>
        </p:txBody>
      </p:sp>
      <p:sp>
        <p:nvSpPr>
          <p:cNvPr id="12" name="TextBox 11">
            <a:extLst>
              <a:ext uri="{FF2B5EF4-FFF2-40B4-BE49-F238E27FC236}">
                <a16:creationId xmlns:a16="http://schemas.microsoft.com/office/drawing/2014/main" id="{9A2A747D-EFFD-2FA8-CDAB-A46F9B09766E}"/>
              </a:ext>
            </a:extLst>
          </p:cNvPr>
          <p:cNvSpPr txBox="1"/>
          <p:nvPr/>
        </p:nvSpPr>
        <p:spPr>
          <a:xfrm>
            <a:off x="6835603" y="3667177"/>
            <a:ext cx="4540042" cy="1200329"/>
          </a:xfrm>
          <a:prstGeom prst="rect">
            <a:avLst/>
          </a:prstGeom>
          <a:noFill/>
        </p:spPr>
        <p:txBody>
          <a:bodyPr wrap="square">
            <a:spAutoFit/>
          </a:bodyPr>
          <a:lstStyle/>
          <a:p>
            <a:pPr algn="just"/>
            <a:r>
              <a:rPr lang="en-US" dirty="0"/>
              <a:t>Haroun, A. (2023). </a:t>
            </a:r>
            <a:r>
              <a:rPr lang="en-US" i="1" dirty="0"/>
              <a:t>Efficient Data Processing in AI Systems</a:t>
            </a:r>
            <a:r>
              <a:rPr lang="en-US" dirty="0"/>
              <a:t>. Journal of Artificial Intelligence Research, 15(3), 123-145. </a:t>
            </a:r>
            <a:r>
              <a:rPr lang="en-US" dirty="0">
                <a:hlinkClick r:id="rId2"/>
              </a:rPr>
              <a:t>https://doi.org/10.1234/jair.2023.12345</a:t>
            </a:r>
            <a:endParaRPr lang="en-US" dirty="0"/>
          </a:p>
        </p:txBody>
      </p:sp>
    </p:spTree>
    <p:extLst>
      <p:ext uri="{BB962C8B-B14F-4D97-AF65-F5344CB8AC3E}">
        <p14:creationId xmlns:p14="http://schemas.microsoft.com/office/powerpoint/2010/main" val="1559733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8D46A-89B3-EB59-B888-0E35F41A8414}"/>
              </a:ext>
            </a:extLst>
          </p:cNvPr>
          <p:cNvSpPr>
            <a:spLocks noGrp="1"/>
          </p:cNvSpPr>
          <p:nvPr>
            <p:ph type="title"/>
          </p:nvPr>
        </p:nvSpPr>
        <p:spPr/>
        <p:txBody>
          <a:bodyPr/>
          <a:lstStyle/>
          <a:p>
            <a:r>
              <a:rPr lang="en-US" dirty="0"/>
              <a:t>Example Abstract</a:t>
            </a:r>
          </a:p>
        </p:txBody>
      </p:sp>
      <p:sp>
        <p:nvSpPr>
          <p:cNvPr id="3" name="Content Placeholder 2">
            <a:extLst>
              <a:ext uri="{FF2B5EF4-FFF2-40B4-BE49-F238E27FC236}">
                <a16:creationId xmlns:a16="http://schemas.microsoft.com/office/drawing/2014/main" id="{F10EE2D9-FAF5-E906-C931-4AD8CDE665A0}"/>
              </a:ext>
            </a:extLst>
          </p:cNvPr>
          <p:cNvSpPr>
            <a:spLocks noGrp="1"/>
          </p:cNvSpPr>
          <p:nvPr>
            <p:ph sz="half" idx="1"/>
          </p:nvPr>
        </p:nvSpPr>
        <p:spPr/>
        <p:txBody>
          <a:bodyPr>
            <a:normAutofit fontScale="92500"/>
          </a:bodyPr>
          <a:lstStyle/>
          <a:p>
            <a:pPr algn="just">
              <a:buNone/>
            </a:pPr>
            <a:r>
              <a:rPr lang="en-US" b="1" dirty="0"/>
              <a:t>Key Elements Highlighted:</a:t>
            </a:r>
          </a:p>
          <a:p>
            <a:pPr marL="285750" indent="-285750" algn="just">
              <a:buClr>
                <a:srgbClr val="92D050"/>
              </a:buClr>
              <a:buFont typeface="Wingdings" panose="05000000000000000000" pitchFamily="2" charset="2"/>
              <a:buChar char="Ø"/>
            </a:pPr>
            <a:r>
              <a:rPr lang="en-US" b="1" dirty="0"/>
              <a:t>Background:</a:t>
            </a:r>
            <a:r>
              <a:rPr lang="en-US" dirty="0"/>
              <a:t> Integration of advanced data processing techniques.</a:t>
            </a:r>
          </a:p>
          <a:p>
            <a:pPr marL="285750" indent="-285750" algn="just">
              <a:buClr>
                <a:srgbClr val="92D050"/>
              </a:buClr>
              <a:buFont typeface="Wingdings" panose="05000000000000000000" pitchFamily="2" charset="2"/>
              <a:buChar char="Ø"/>
            </a:pPr>
            <a:r>
              <a:rPr lang="en-US" b="1" dirty="0"/>
              <a:t>Aims:</a:t>
            </a:r>
            <a:r>
              <a:rPr lang="en-US" dirty="0"/>
              <a:t> Enhance performance and reduce latency.</a:t>
            </a:r>
          </a:p>
          <a:p>
            <a:pPr marL="285750" indent="-285750" algn="just">
              <a:buClr>
                <a:srgbClr val="92D050"/>
              </a:buClr>
              <a:buFont typeface="Wingdings" panose="05000000000000000000" pitchFamily="2" charset="2"/>
              <a:buChar char="Ø"/>
            </a:pPr>
            <a:r>
              <a:rPr lang="en-US" b="1" dirty="0"/>
              <a:t>Methods:</a:t>
            </a:r>
            <a:r>
              <a:rPr lang="en-US" dirty="0"/>
              <a:t> Combination of machine learning algorithms with optimized data structures.</a:t>
            </a:r>
          </a:p>
          <a:p>
            <a:pPr marL="285750" indent="-285750" algn="just">
              <a:buClr>
                <a:srgbClr val="92D050"/>
              </a:buClr>
              <a:buFont typeface="Wingdings" panose="05000000000000000000" pitchFamily="2" charset="2"/>
              <a:buChar char="Ø"/>
            </a:pPr>
            <a:r>
              <a:rPr lang="en-US" b="1" dirty="0"/>
              <a:t>Results:</a:t>
            </a:r>
            <a:r>
              <a:rPr lang="en-US" dirty="0"/>
              <a:t> 75% reduction in processing time, accuracy above 90%.</a:t>
            </a:r>
          </a:p>
          <a:p>
            <a:pPr marL="285750" indent="-285750" algn="just">
              <a:buClr>
                <a:srgbClr val="92D050"/>
              </a:buClr>
              <a:buFont typeface="Wingdings" panose="05000000000000000000" pitchFamily="2" charset="2"/>
              <a:buChar char="Ø"/>
            </a:pPr>
            <a:r>
              <a:rPr lang="en-US" b="1" dirty="0"/>
              <a:t>Conclusions:</a:t>
            </a:r>
            <a:r>
              <a:rPr lang="en-US" dirty="0"/>
              <a:t> Methodology is applicable in various AI applications</a:t>
            </a:r>
          </a:p>
        </p:txBody>
      </p:sp>
      <p:sp>
        <p:nvSpPr>
          <p:cNvPr id="5" name="Slide Number Placeholder 4">
            <a:extLst>
              <a:ext uri="{FF2B5EF4-FFF2-40B4-BE49-F238E27FC236}">
                <a16:creationId xmlns:a16="http://schemas.microsoft.com/office/drawing/2014/main" id="{A3089B5C-2719-02FB-93F7-E94192F5A57A}"/>
              </a:ext>
            </a:extLst>
          </p:cNvPr>
          <p:cNvSpPr>
            <a:spLocks noGrp="1"/>
          </p:cNvSpPr>
          <p:nvPr>
            <p:ph type="sldNum" sz="quarter" idx="12"/>
          </p:nvPr>
        </p:nvSpPr>
        <p:spPr/>
        <p:txBody>
          <a:bodyPr/>
          <a:lstStyle/>
          <a:p>
            <a:fld id="{B810A8A8-9E52-47DC-B028-D90FA570F151}" type="slidenum">
              <a:rPr lang="en-US" smtClean="0"/>
              <a:t>20</a:t>
            </a:fld>
            <a:endParaRPr lang="en-US"/>
          </a:p>
        </p:txBody>
      </p:sp>
      <p:sp>
        <p:nvSpPr>
          <p:cNvPr id="4" name="Content Placeholder 3">
            <a:extLst>
              <a:ext uri="{FF2B5EF4-FFF2-40B4-BE49-F238E27FC236}">
                <a16:creationId xmlns:a16="http://schemas.microsoft.com/office/drawing/2014/main" id="{A39D58FF-30C7-7D01-D63C-19EA8CFCEC72}"/>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264750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A7B1B-34EE-B5D5-48F3-68EF77155604}"/>
              </a:ext>
            </a:extLst>
          </p:cNvPr>
          <p:cNvSpPr>
            <a:spLocks noGrp="1"/>
          </p:cNvSpPr>
          <p:nvPr>
            <p:ph type="title"/>
          </p:nvPr>
        </p:nvSpPr>
        <p:spPr/>
        <p:txBody>
          <a:bodyPr/>
          <a:lstStyle/>
          <a:p>
            <a:r>
              <a:rPr lang="en-US" dirty="0"/>
              <a:t>Common Mistakes to Avoid</a:t>
            </a:r>
          </a:p>
        </p:txBody>
      </p:sp>
      <p:sp>
        <p:nvSpPr>
          <p:cNvPr id="4" name="Rectangle 1">
            <a:extLst>
              <a:ext uri="{FF2B5EF4-FFF2-40B4-BE49-F238E27FC236}">
                <a16:creationId xmlns:a16="http://schemas.microsoft.com/office/drawing/2014/main" id="{BF8663EC-FCE9-BB08-A390-6B8768BE6618}"/>
              </a:ext>
            </a:extLst>
          </p:cNvPr>
          <p:cNvSpPr>
            <a:spLocks noGrp="1" noChangeArrowheads="1"/>
          </p:cNvSpPr>
          <p:nvPr>
            <p:ph idx="1"/>
          </p:nvPr>
        </p:nvSpPr>
        <p:spPr bwMode="auto">
          <a:xfrm>
            <a:off x="1046044" y="1930400"/>
            <a:ext cx="313419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
                <a:srgbClr val="92D050"/>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Overly technical jargon. </a:t>
            </a:r>
          </a:p>
          <a:p>
            <a:pPr marR="0" lvl="0" algn="just" defTabSz="914400" rtl="0" eaLnBrk="0" fontAlgn="base" latinLnBrk="0" hangingPunct="0">
              <a:lnSpc>
                <a:spcPct val="100000"/>
              </a:lnSpc>
              <a:spcBef>
                <a:spcPct val="0"/>
              </a:spcBef>
              <a:spcAft>
                <a:spcPct val="0"/>
              </a:spcAft>
              <a:buClr>
                <a:srgbClr val="92D050"/>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Excessive length. </a:t>
            </a:r>
          </a:p>
          <a:p>
            <a:pPr marR="0" lvl="0" algn="just" defTabSz="914400" rtl="0" eaLnBrk="0" fontAlgn="base" latinLnBrk="0" hangingPunct="0">
              <a:lnSpc>
                <a:spcPct val="100000"/>
              </a:lnSpc>
              <a:spcBef>
                <a:spcPct val="0"/>
              </a:spcBef>
              <a:spcAft>
                <a:spcPct val="0"/>
              </a:spcAft>
              <a:buClr>
                <a:srgbClr val="92D050"/>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Lack of clarity and focus. </a:t>
            </a:r>
          </a:p>
        </p:txBody>
      </p:sp>
      <p:sp>
        <p:nvSpPr>
          <p:cNvPr id="5" name="Slide Number Placeholder 4">
            <a:extLst>
              <a:ext uri="{FF2B5EF4-FFF2-40B4-BE49-F238E27FC236}">
                <a16:creationId xmlns:a16="http://schemas.microsoft.com/office/drawing/2014/main" id="{C6F473B3-453B-9945-9CB5-82D7FC436A17}"/>
              </a:ext>
            </a:extLst>
          </p:cNvPr>
          <p:cNvSpPr>
            <a:spLocks noGrp="1"/>
          </p:cNvSpPr>
          <p:nvPr>
            <p:ph type="sldNum" sz="quarter" idx="12"/>
          </p:nvPr>
        </p:nvSpPr>
        <p:spPr/>
        <p:txBody>
          <a:bodyPr/>
          <a:lstStyle/>
          <a:p>
            <a:fld id="{B810A8A8-9E52-47DC-B028-D90FA570F151}" type="slidenum">
              <a:rPr lang="en-US" smtClean="0"/>
              <a:t>21</a:t>
            </a:fld>
            <a:endParaRPr lang="en-US"/>
          </a:p>
        </p:txBody>
      </p:sp>
    </p:spTree>
    <p:extLst>
      <p:ext uri="{BB962C8B-B14F-4D97-AF65-F5344CB8AC3E}">
        <p14:creationId xmlns:p14="http://schemas.microsoft.com/office/powerpoint/2010/main" val="3258758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FFB6B-B37E-94D0-8955-36332486EBAB}"/>
              </a:ext>
            </a:extLst>
          </p:cNvPr>
          <p:cNvSpPr>
            <a:spLocks noGrp="1"/>
          </p:cNvSpPr>
          <p:nvPr>
            <p:ph type="title"/>
          </p:nvPr>
        </p:nvSpPr>
        <p:spPr/>
        <p:txBody>
          <a:bodyPr/>
          <a:lstStyle/>
          <a:p>
            <a:r>
              <a:rPr lang="en-US" b="1" dirty="0"/>
              <a:t>Citation</a:t>
            </a:r>
            <a:endParaRPr lang="en-US" dirty="0"/>
          </a:p>
        </p:txBody>
      </p:sp>
      <p:sp>
        <p:nvSpPr>
          <p:cNvPr id="3" name="Content Placeholder 2">
            <a:extLst>
              <a:ext uri="{FF2B5EF4-FFF2-40B4-BE49-F238E27FC236}">
                <a16:creationId xmlns:a16="http://schemas.microsoft.com/office/drawing/2014/main" id="{15865741-B7A9-D9C0-CECB-42EC9C98BFAD}"/>
              </a:ext>
            </a:extLst>
          </p:cNvPr>
          <p:cNvSpPr>
            <a:spLocks noGrp="1"/>
          </p:cNvSpPr>
          <p:nvPr>
            <p:ph idx="1"/>
          </p:nvPr>
        </p:nvSpPr>
        <p:spPr>
          <a:xfrm>
            <a:off x="888232" y="1253331"/>
            <a:ext cx="10515600" cy="4351338"/>
          </a:xfrm>
        </p:spPr>
        <p:txBody>
          <a:bodyPr/>
          <a:lstStyle/>
          <a:p>
            <a:pPr marL="0" indent="0">
              <a:buNone/>
            </a:pPr>
            <a:r>
              <a:rPr lang="en-US" dirty="0"/>
              <a:t>Author(s). (Year). </a:t>
            </a:r>
            <a:r>
              <a:rPr lang="en-US" i="1" dirty="0"/>
              <a:t>Title of the Paper</a:t>
            </a:r>
            <a:r>
              <a:rPr lang="en-US" dirty="0"/>
              <a:t>. Journal Name, Volume(Issue), Page Range. DOI/Link (if available).</a:t>
            </a:r>
          </a:p>
        </p:txBody>
      </p:sp>
      <p:sp>
        <p:nvSpPr>
          <p:cNvPr id="4" name="Slide Number Placeholder 3">
            <a:extLst>
              <a:ext uri="{FF2B5EF4-FFF2-40B4-BE49-F238E27FC236}">
                <a16:creationId xmlns:a16="http://schemas.microsoft.com/office/drawing/2014/main" id="{D5C2A8C6-06AE-C8F4-F572-6DDAAF61012E}"/>
              </a:ext>
            </a:extLst>
          </p:cNvPr>
          <p:cNvSpPr>
            <a:spLocks noGrp="1"/>
          </p:cNvSpPr>
          <p:nvPr>
            <p:ph type="sldNum" sz="quarter" idx="12"/>
          </p:nvPr>
        </p:nvSpPr>
        <p:spPr/>
        <p:txBody>
          <a:bodyPr/>
          <a:lstStyle/>
          <a:p>
            <a:fld id="{B810A8A8-9E52-47DC-B028-D90FA570F151}" type="slidenum">
              <a:rPr lang="en-US" smtClean="0"/>
              <a:t>22</a:t>
            </a:fld>
            <a:endParaRPr lang="en-US"/>
          </a:p>
        </p:txBody>
      </p:sp>
      <p:graphicFrame>
        <p:nvGraphicFramePr>
          <p:cNvPr id="5" name="Table 4">
            <a:extLst>
              <a:ext uri="{FF2B5EF4-FFF2-40B4-BE49-F238E27FC236}">
                <a16:creationId xmlns:a16="http://schemas.microsoft.com/office/drawing/2014/main" id="{F873EDB2-8DC7-1FEB-AEB5-6353FA07B8FE}"/>
              </a:ext>
            </a:extLst>
          </p:cNvPr>
          <p:cNvGraphicFramePr>
            <a:graphicFrameLocks noGrp="1"/>
          </p:cNvGraphicFramePr>
          <p:nvPr>
            <p:extLst>
              <p:ext uri="{D42A27DB-BD31-4B8C-83A1-F6EECF244321}">
                <p14:modId xmlns:p14="http://schemas.microsoft.com/office/powerpoint/2010/main" val="3649196074"/>
              </p:ext>
            </p:extLst>
          </p:nvPr>
        </p:nvGraphicFramePr>
        <p:xfrm>
          <a:off x="1200406" y="1930400"/>
          <a:ext cx="8935782" cy="4776986"/>
        </p:xfrm>
        <a:graphic>
          <a:graphicData uri="http://schemas.openxmlformats.org/drawingml/2006/table">
            <a:tbl>
              <a:tblPr>
                <a:tableStyleId>{BC89EF96-8CEA-46FF-86C4-4CE0E7609802}</a:tableStyleId>
              </a:tblPr>
              <a:tblGrid>
                <a:gridCol w="2978594">
                  <a:extLst>
                    <a:ext uri="{9D8B030D-6E8A-4147-A177-3AD203B41FA5}">
                      <a16:colId xmlns:a16="http://schemas.microsoft.com/office/drawing/2014/main" val="2456106290"/>
                    </a:ext>
                  </a:extLst>
                </a:gridCol>
                <a:gridCol w="2978594">
                  <a:extLst>
                    <a:ext uri="{9D8B030D-6E8A-4147-A177-3AD203B41FA5}">
                      <a16:colId xmlns:a16="http://schemas.microsoft.com/office/drawing/2014/main" val="3845038292"/>
                    </a:ext>
                  </a:extLst>
                </a:gridCol>
                <a:gridCol w="2978594">
                  <a:extLst>
                    <a:ext uri="{9D8B030D-6E8A-4147-A177-3AD203B41FA5}">
                      <a16:colId xmlns:a16="http://schemas.microsoft.com/office/drawing/2014/main" val="2955007507"/>
                    </a:ext>
                  </a:extLst>
                </a:gridCol>
              </a:tblGrid>
              <a:tr h="310810">
                <a:tc>
                  <a:txBody>
                    <a:bodyPr/>
                    <a:lstStyle/>
                    <a:p>
                      <a:pPr>
                        <a:buNone/>
                      </a:pPr>
                      <a:r>
                        <a:rPr lang="en-US" sz="1500" b="1"/>
                        <a:t>Type</a:t>
                      </a:r>
                      <a:endParaRPr lang="en-US" sz="1500"/>
                    </a:p>
                  </a:txBody>
                  <a:tcPr marL="77702" marR="77702" marT="38851" marB="38851" anchor="ctr"/>
                </a:tc>
                <a:tc>
                  <a:txBody>
                    <a:bodyPr/>
                    <a:lstStyle/>
                    <a:p>
                      <a:pPr>
                        <a:buNone/>
                      </a:pPr>
                      <a:r>
                        <a:rPr lang="en-US" sz="1500" b="1"/>
                        <a:t>Format</a:t>
                      </a:r>
                      <a:endParaRPr lang="en-US" sz="1500"/>
                    </a:p>
                  </a:txBody>
                  <a:tcPr marL="77702" marR="77702" marT="38851" marB="38851" anchor="ctr"/>
                </a:tc>
                <a:tc>
                  <a:txBody>
                    <a:bodyPr/>
                    <a:lstStyle/>
                    <a:p>
                      <a:pPr>
                        <a:buNone/>
                      </a:pPr>
                      <a:r>
                        <a:rPr lang="en-US" sz="1500" b="1"/>
                        <a:t>Example</a:t>
                      </a:r>
                      <a:endParaRPr lang="en-US" sz="1500"/>
                    </a:p>
                  </a:txBody>
                  <a:tcPr marL="77702" marR="77702" marT="38851" marB="38851" anchor="ctr"/>
                </a:tc>
                <a:extLst>
                  <a:ext uri="{0D108BD9-81ED-4DB2-BD59-A6C34878D82A}">
                    <a16:rowId xmlns:a16="http://schemas.microsoft.com/office/drawing/2014/main" val="1400006209"/>
                  </a:ext>
                </a:extLst>
              </a:tr>
              <a:tr h="777025">
                <a:tc>
                  <a:txBody>
                    <a:bodyPr/>
                    <a:lstStyle/>
                    <a:p>
                      <a:pPr>
                        <a:buNone/>
                      </a:pPr>
                      <a:r>
                        <a:rPr lang="en-US" sz="1500" b="1" dirty="0"/>
                        <a:t>Book</a:t>
                      </a:r>
                      <a:endParaRPr lang="en-US" sz="1500" dirty="0"/>
                    </a:p>
                  </a:txBody>
                  <a:tcPr marL="77702" marR="77702" marT="38851" marB="38851" anchor="ctr"/>
                </a:tc>
                <a:tc>
                  <a:txBody>
                    <a:bodyPr/>
                    <a:lstStyle/>
                    <a:p>
                      <a:pPr>
                        <a:buNone/>
                      </a:pPr>
                      <a:r>
                        <a:rPr lang="en-US" sz="1500"/>
                        <a:t>Author(s). (Year). Title of the book. Publisher.</a:t>
                      </a:r>
                    </a:p>
                  </a:txBody>
                  <a:tcPr marL="77702" marR="77702" marT="38851" marB="38851" anchor="ctr"/>
                </a:tc>
                <a:tc>
                  <a:txBody>
                    <a:bodyPr/>
                    <a:lstStyle/>
                    <a:p>
                      <a:pPr>
                        <a:buNone/>
                      </a:pPr>
                      <a:r>
                        <a:rPr lang="en-US" sz="1500"/>
                        <a:t>Smith, J. A. (2020). Understanding AI and Data Engineering. Tech Press.</a:t>
                      </a:r>
                    </a:p>
                  </a:txBody>
                  <a:tcPr marL="77702" marR="77702" marT="38851" marB="38851" anchor="ctr"/>
                </a:tc>
                <a:extLst>
                  <a:ext uri="{0D108BD9-81ED-4DB2-BD59-A6C34878D82A}">
                    <a16:rowId xmlns:a16="http://schemas.microsoft.com/office/drawing/2014/main" val="3138167539"/>
                  </a:ext>
                </a:extLst>
              </a:tr>
              <a:tr h="1476347">
                <a:tc>
                  <a:txBody>
                    <a:bodyPr/>
                    <a:lstStyle/>
                    <a:p>
                      <a:pPr>
                        <a:buNone/>
                      </a:pPr>
                      <a:r>
                        <a:rPr lang="en-US" sz="1500" b="1"/>
                        <a:t>Journal Article</a:t>
                      </a:r>
                      <a:endParaRPr lang="en-US" sz="1500"/>
                    </a:p>
                  </a:txBody>
                  <a:tcPr marL="77702" marR="77702" marT="38851" marB="38851" anchor="ctr"/>
                </a:tc>
                <a:tc>
                  <a:txBody>
                    <a:bodyPr/>
                    <a:lstStyle/>
                    <a:p>
                      <a:pPr>
                        <a:buNone/>
                      </a:pPr>
                      <a:r>
                        <a:rPr lang="en-US" sz="1500"/>
                        <a:t>Author(s). (Year). Title of the article. Title of the Journal, Volume(Issue), Page range. DOI</a:t>
                      </a:r>
                    </a:p>
                  </a:txBody>
                  <a:tcPr marL="77702" marR="77702" marT="38851" marB="38851" anchor="ctr"/>
                </a:tc>
                <a:tc>
                  <a:txBody>
                    <a:bodyPr/>
                    <a:lstStyle/>
                    <a:p>
                      <a:pPr>
                        <a:buNone/>
                      </a:pPr>
                      <a:r>
                        <a:rPr lang="en-US" sz="1500"/>
                        <a:t>Doe, J., &amp; Brown, R. (2021). Advances in machine learning. Journal of AI Research, 14(2), 45-67. </a:t>
                      </a:r>
                      <a:r>
                        <a:rPr lang="en-US" sz="1500">
                          <a:hlinkClick r:id="rId2"/>
                        </a:rPr>
                        <a:t>https://doi.org/10.1234/jair.2021.45678</a:t>
                      </a:r>
                      <a:endParaRPr lang="en-US" sz="1500"/>
                    </a:p>
                  </a:txBody>
                  <a:tcPr marL="77702" marR="77702" marT="38851" marB="38851" anchor="ctr"/>
                </a:tc>
                <a:extLst>
                  <a:ext uri="{0D108BD9-81ED-4DB2-BD59-A6C34878D82A}">
                    <a16:rowId xmlns:a16="http://schemas.microsoft.com/office/drawing/2014/main" val="4026164931"/>
                  </a:ext>
                </a:extLst>
              </a:tr>
              <a:tr h="1010132">
                <a:tc>
                  <a:txBody>
                    <a:bodyPr/>
                    <a:lstStyle/>
                    <a:p>
                      <a:pPr>
                        <a:buNone/>
                      </a:pPr>
                      <a:r>
                        <a:rPr lang="en-US" sz="1500" b="1"/>
                        <a:t>Conference Paper</a:t>
                      </a:r>
                      <a:endParaRPr lang="en-US" sz="1500"/>
                    </a:p>
                  </a:txBody>
                  <a:tcPr marL="77702" marR="77702" marT="38851" marB="38851" anchor="ctr"/>
                </a:tc>
                <a:tc>
                  <a:txBody>
                    <a:bodyPr/>
                    <a:lstStyle/>
                    <a:p>
                      <a:pPr>
                        <a:buNone/>
                      </a:pPr>
                      <a:r>
                        <a:rPr lang="en-US" sz="1500" dirty="0"/>
                        <a:t>Author(s). (Year). Title of the paper. In Proceedings of the Conference Name (pp. Page range). Publisher.</a:t>
                      </a:r>
                    </a:p>
                  </a:txBody>
                  <a:tcPr marL="77702" marR="77702" marT="38851" marB="38851" anchor="ctr"/>
                </a:tc>
                <a:tc>
                  <a:txBody>
                    <a:bodyPr/>
                    <a:lstStyle/>
                    <a:p>
                      <a:pPr>
                        <a:buNone/>
                      </a:pPr>
                      <a:r>
                        <a:rPr lang="en-US" sz="1500"/>
                        <a:t>Lee, K., &amp; Chen, M. (2022). Neural networks for data analysis. In Proceedings of the Intl. Conf. on AI (pp. 123-130). AI Society.</a:t>
                      </a:r>
                    </a:p>
                  </a:txBody>
                  <a:tcPr marL="77702" marR="77702" marT="38851" marB="38851" anchor="ctr"/>
                </a:tc>
                <a:extLst>
                  <a:ext uri="{0D108BD9-81ED-4DB2-BD59-A6C34878D82A}">
                    <a16:rowId xmlns:a16="http://schemas.microsoft.com/office/drawing/2014/main" val="881311591"/>
                  </a:ext>
                </a:extLst>
              </a:tr>
              <a:tr h="777025">
                <a:tc>
                  <a:txBody>
                    <a:bodyPr/>
                    <a:lstStyle/>
                    <a:p>
                      <a:pPr>
                        <a:buNone/>
                      </a:pPr>
                      <a:r>
                        <a:rPr lang="en-US" sz="1500" b="1"/>
                        <a:t>Report</a:t>
                      </a:r>
                      <a:endParaRPr lang="en-US" sz="1500"/>
                    </a:p>
                  </a:txBody>
                  <a:tcPr marL="77702" marR="77702" marT="38851" marB="38851" anchor="ctr"/>
                </a:tc>
                <a:tc>
                  <a:txBody>
                    <a:bodyPr/>
                    <a:lstStyle/>
                    <a:p>
                      <a:pPr>
                        <a:buNone/>
                      </a:pPr>
                      <a:r>
                        <a:rPr lang="en-US" sz="1500"/>
                        <a:t>Author(s) or Organization. (Year). Title of the report (Report No. if available). Publisher.</a:t>
                      </a:r>
                    </a:p>
                  </a:txBody>
                  <a:tcPr marL="77702" marR="77702" marT="38851" marB="38851" anchor="ctr"/>
                </a:tc>
                <a:tc>
                  <a:txBody>
                    <a:bodyPr/>
                    <a:lstStyle/>
                    <a:p>
                      <a:pPr>
                        <a:buNone/>
                      </a:pPr>
                      <a:r>
                        <a:rPr lang="en-US" sz="1500" dirty="0"/>
                        <a:t>World Health Organization. (2023). Global AI in healthcare report (Report No. WHO/AI/2023). WHO.</a:t>
                      </a:r>
                    </a:p>
                  </a:txBody>
                  <a:tcPr marL="77702" marR="77702" marT="38851" marB="38851" anchor="ctr"/>
                </a:tc>
                <a:extLst>
                  <a:ext uri="{0D108BD9-81ED-4DB2-BD59-A6C34878D82A}">
                    <a16:rowId xmlns:a16="http://schemas.microsoft.com/office/drawing/2014/main" val="3770864467"/>
                  </a:ext>
                </a:extLst>
              </a:tr>
            </a:tbl>
          </a:graphicData>
        </a:graphic>
      </p:graphicFrame>
    </p:spTree>
    <p:extLst>
      <p:ext uri="{BB962C8B-B14F-4D97-AF65-F5344CB8AC3E}">
        <p14:creationId xmlns:p14="http://schemas.microsoft.com/office/powerpoint/2010/main" val="3398348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EBF6D-6905-6E44-58DA-2D93DF96EDE2}"/>
              </a:ext>
            </a:extLst>
          </p:cNvPr>
          <p:cNvSpPr>
            <a:spLocks noGrp="1"/>
          </p:cNvSpPr>
          <p:nvPr>
            <p:ph type="title"/>
          </p:nvPr>
        </p:nvSpPr>
        <p:spPr/>
        <p:txBody>
          <a:bodyPr/>
          <a:lstStyle/>
          <a:p>
            <a:r>
              <a:rPr lang="en-US" dirty="0"/>
              <a:t>Strong Abstract</a:t>
            </a:r>
          </a:p>
        </p:txBody>
      </p:sp>
      <p:sp>
        <p:nvSpPr>
          <p:cNvPr id="3" name="Content Placeholder 2">
            <a:extLst>
              <a:ext uri="{FF2B5EF4-FFF2-40B4-BE49-F238E27FC236}">
                <a16:creationId xmlns:a16="http://schemas.microsoft.com/office/drawing/2014/main" id="{C90E5946-AEBD-2572-73AC-45A5CC60228B}"/>
              </a:ext>
            </a:extLst>
          </p:cNvPr>
          <p:cNvSpPr>
            <a:spLocks noGrp="1"/>
          </p:cNvSpPr>
          <p:nvPr>
            <p:ph idx="1"/>
          </p:nvPr>
        </p:nvSpPr>
        <p:spPr/>
        <p:txBody>
          <a:bodyPr>
            <a:normAutofit/>
          </a:bodyPr>
          <a:lstStyle/>
          <a:p>
            <a:pPr algn="just"/>
            <a:r>
              <a:rPr lang="en-US" b="1" dirty="0"/>
              <a:t>Title:</a:t>
            </a:r>
            <a:r>
              <a:rPr lang="en-US" dirty="0"/>
              <a:t> Enhancing Image Recognition with Deep Learning Algorithms</a:t>
            </a:r>
          </a:p>
          <a:p>
            <a:pPr algn="just"/>
            <a:r>
              <a:rPr lang="en-US" b="1" dirty="0"/>
              <a:t>Abstract:</a:t>
            </a:r>
            <a:br>
              <a:rPr lang="en-US" dirty="0"/>
            </a:br>
            <a:r>
              <a:rPr lang="en-US" dirty="0"/>
              <a:t>This study investigates the application of deep learning algorithms to improve image recognition accuracy in automated systems. Using a convolutional neural network (CNN) architecture, we trained models on a dataset of over 100,000 labeled images. Our results indicate an accuracy improvement of 15% compared to traditional image processing methods. We also implemented data augmentation techniques to enhance model robustness against variations in image quality. The findings suggest that deep learning significantly enhances performance in image recognition tasks, providing a pathway for future advancements in automated visual systems.</a:t>
            </a:r>
          </a:p>
          <a:p>
            <a:endParaRPr lang="en-US" dirty="0"/>
          </a:p>
        </p:txBody>
      </p:sp>
      <p:sp>
        <p:nvSpPr>
          <p:cNvPr id="4" name="Slide Number Placeholder 3">
            <a:extLst>
              <a:ext uri="{FF2B5EF4-FFF2-40B4-BE49-F238E27FC236}">
                <a16:creationId xmlns:a16="http://schemas.microsoft.com/office/drawing/2014/main" id="{587247AB-4F7E-20A1-62C3-CFCC55316074}"/>
              </a:ext>
            </a:extLst>
          </p:cNvPr>
          <p:cNvSpPr>
            <a:spLocks noGrp="1"/>
          </p:cNvSpPr>
          <p:nvPr>
            <p:ph type="sldNum" sz="quarter" idx="12"/>
          </p:nvPr>
        </p:nvSpPr>
        <p:spPr/>
        <p:txBody>
          <a:bodyPr/>
          <a:lstStyle/>
          <a:p>
            <a:fld id="{B810A8A8-9E52-47DC-B028-D90FA570F151}" type="slidenum">
              <a:rPr lang="en-US" smtClean="0"/>
              <a:t>23</a:t>
            </a:fld>
            <a:endParaRPr lang="en-US"/>
          </a:p>
        </p:txBody>
      </p:sp>
    </p:spTree>
    <p:extLst>
      <p:ext uri="{BB962C8B-B14F-4D97-AF65-F5344CB8AC3E}">
        <p14:creationId xmlns:p14="http://schemas.microsoft.com/office/powerpoint/2010/main" val="308819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32346-D0B9-2DE5-4C46-EE0E7797709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862BCE7-1176-6547-5DE2-DD3B0117C213}"/>
              </a:ext>
            </a:extLst>
          </p:cNvPr>
          <p:cNvSpPr>
            <a:spLocks noGrp="1"/>
          </p:cNvSpPr>
          <p:nvPr>
            <p:ph idx="1"/>
          </p:nvPr>
        </p:nvSpPr>
        <p:spPr/>
        <p:txBody>
          <a:bodyPr/>
          <a:lstStyle/>
          <a:p>
            <a:r>
              <a:rPr lang="en-US" b="1" dirty="0"/>
              <a:t>Key Elements:</a:t>
            </a:r>
          </a:p>
          <a:p>
            <a:pPr lvl="1"/>
            <a:r>
              <a:rPr lang="en-US" b="1" dirty="0"/>
              <a:t>Background:</a:t>
            </a:r>
            <a:r>
              <a:rPr lang="en-US" dirty="0"/>
              <a:t> Focus on image recognition and deep learning.</a:t>
            </a:r>
          </a:p>
          <a:p>
            <a:pPr lvl="1"/>
            <a:r>
              <a:rPr lang="en-US" b="1" dirty="0"/>
              <a:t>Aims:</a:t>
            </a:r>
            <a:r>
              <a:rPr lang="en-US" dirty="0"/>
              <a:t> Improve accuracy using deep learning algorithms.</a:t>
            </a:r>
          </a:p>
          <a:p>
            <a:pPr lvl="1"/>
            <a:r>
              <a:rPr lang="en-US" b="1" dirty="0"/>
              <a:t>Methods:</a:t>
            </a:r>
            <a:r>
              <a:rPr lang="en-US" dirty="0"/>
              <a:t> CNN architecture and dataset details.</a:t>
            </a:r>
          </a:p>
          <a:p>
            <a:pPr lvl="1"/>
            <a:r>
              <a:rPr lang="en-US" b="1" dirty="0"/>
              <a:t>Results:</a:t>
            </a:r>
            <a:r>
              <a:rPr lang="en-US" dirty="0"/>
              <a:t> 15% accuracy improvement.</a:t>
            </a:r>
          </a:p>
          <a:p>
            <a:pPr lvl="1"/>
            <a:r>
              <a:rPr lang="en-US" b="1" dirty="0"/>
              <a:t>Conclusions:</a:t>
            </a:r>
            <a:r>
              <a:rPr lang="en-US" dirty="0"/>
              <a:t> Deep learning enhances performance in image recognition.</a:t>
            </a:r>
          </a:p>
          <a:p>
            <a:endParaRPr lang="en-US" dirty="0"/>
          </a:p>
        </p:txBody>
      </p:sp>
      <p:sp>
        <p:nvSpPr>
          <p:cNvPr id="4" name="Slide Number Placeholder 3">
            <a:extLst>
              <a:ext uri="{FF2B5EF4-FFF2-40B4-BE49-F238E27FC236}">
                <a16:creationId xmlns:a16="http://schemas.microsoft.com/office/drawing/2014/main" id="{AD59A827-9C29-56CC-D699-F53F79D5F1CB}"/>
              </a:ext>
            </a:extLst>
          </p:cNvPr>
          <p:cNvSpPr>
            <a:spLocks noGrp="1"/>
          </p:cNvSpPr>
          <p:nvPr>
            <p:ph type="sldNum" sz="quarter" idx="12"/>
          </p:nvPr>
        </p:nvSpPr>
        <p:spPr/>
        <p:txBody>
          <a:bodyPr/>
          <a:lstStyle/>
          <a:p>
            <a:fld id="{B810A8A8-9E52-47DC-B028-D90FA570F151}" type="slidenum">
              <a:rPr lang="en-US" smtClean="0"/>
              <a:t>24</a:t>
            </a:fld>
            <a:endParaRPr lang="en-US"/>
          </a:p>
        </p:txBody>
      </p:sp>
    </p:spTree>
    <p:extLst>
      <p:ext uri="{BB962C8B-B14F-4D97-AF65-F5344CB8AC3E}">
        <p14:creationId xmlns:p14="http://schemas.microsoft.com/office/powerpoint/2010/main" val="3151473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9A6C5-B2FE-BA24-E1AD-9B2E3F9E2A01}"/>
              </a:ext>
            </a:extLst>
          </p:cNvPr>
          <p:cNvSpPr>
            <a:spLocks noGrp="1"/>
          </p:cNvSpPr>
          <p:nvPr>
            <p:ph type="title"/>
          </p:nvPr>
        </p:nvSpPr>
        <p:spPr/>
        <p:txBody>
          <a:bodyPr/>
          <a:lstStyle/>
          <a:p>
            <a:r>
              <a:rPr lang="en-US" dirty="0"/>
              <a:t>Weak Abstract</a:t>
            </a:r>
          </a:p>
        </p:txBody>
      </p:sp>
      <p:sp>
        <p:nvSpPr>
          <p:cNvPr id="3" name="Content Placeholder 2">
            <a:extLst>
              <a:ext uri="{FF2B5EF4-FFF2-40B4-BE49-F238E27FC236}">
                <a16:creationId xmlns:a16="http://schemas.microsoft.com/office/drawing/2014/main" id="{05E8BEFF-155F-3DA2-7F6E-917E8E9B1EE1}"/>
              </a:ext>
            </a:extLst>
          </p:cNvPr>
          <p:cNvSpPr>
            <a:spLocks noGrp="1"/>
          </p:cNvSpPr>
          <p:nvPr>
            <p:ph idx="1"/>
          </p:nvPr>
        </p:nvSpPr>
        <p:spPr/>
        <p:txBody>
          <a:bodyPr>
            <a:normAutofit fontScale="92500"/>
          </a:bodyPr>
          <a:lstStyle/>
          <a:p>
            <a:r>
              <a:rPr lang="en-US" b="1" dirty="0"/>
              <a:t>Title:</a:t>
            </a:r>
            <a:r>
              <a:rPr lang="en-US" dirty="0"/>
              <a:t> Image Recognition and Deep Learning</a:t>
            </a:r>
          </a:p>
          <a:p>
            <a:r>
              <a:rPr lang="en-US" b="1" dirty="0"/>
              <a:t>Abstract:</a:t>
            </a:r>
            <a:br>
              <a:rPr lang="en-US" dirty="0"/>
            </a:br>
            <a:r>
              <a:rPr lang="en-US" dirty="0"/>
              <a:t>This paper talks about image recognition and how deep learning is used in it. We did some tests and found that it is better than older methods. There are many images used, and we think that deep learning will help in the future. This is important for machines that see things.</a:t>
            </a:r>
          </a:p>
          <a:p>
            <a:r>
              <a:rPr lang="en-US" b="1" dirty="0"/>
              <a:t>Issues:</a:t>
            </a:r>
          </a:p>
          <a:p>
            <a:pPr lvl="1"/>
            <a:r>
              <a:rPr lang="en-US" b="1" dirty="0"/>
              <a:t>Lack of Specificity:</a:t>
            </a:r>
            <a:r>
              <a:rPr lang="en-US" dirty="0"/>
              <a:t> Vague terms like "better" without quantifiable results.</a:t>
            </a:r>
          </a:p>
          <a:p>
            <a:pPr lvl="1"/>
            <a:r>
              <a:rPr lang="en-US" b="1" dirty="0"/>
              <a:t>Missing Key Elements:</a:t>
            </a:r>
            <a:r>
              <a:rPr lang="en-US" dirty="0"/>
              <a:t> No clear methods, results, or conclusions.</a:t>
            </a:r>
          </a:p>
          <a:p>
            <a:pPr lvl="1"/>
            <a:r>
              <a:rPr lang="en-US" b="1" dirty="0"/>
              <a:t>Poor Clarity:</a:t>
            </a:r>
            <a:r>
              <a:rPr lang="en-US" dirty="0"/>
              <a:t> General statements that do not convey the significance of the findings.</a:t>
            </a:r>
          </a:p>
          <a:p>
            <a:pPr lvl="1"/>
            <a:r>
              <a:rPr lang="en-US" b="1" dirty="0"/>
              <a:t>Inadequate Detail:</a:t>
            </a:r>
            <a:r>
              <a:rPr lang="en-US" dirty="0"/>
              <a:t> Does not specify the type of deep learning algorithms or dataset used.</a:t>
            </a:r>
          </a:p>
          <a:p>
            <a:endParaRPr lang="en-US" dirty="0"/>
          </a:p>
        </p:txBody>
      </p:sp>
      <p:sp>
        <p:nvSpPr>
          <p:cNvPr id="4" name="Slide Number Placeholder 3">
            <a:extLst>
              <a:ext uri="{FF2B5EF4-FFF2-40B4-BE49-F238E27FC236}">
                <a16:creationId xmlns:a16="http://schemas.microsoft.com/office/drawing/2014/main" id="{13B6BFBF-1981-7F7A-FD6C-591641BD7D8E}"/>
              </a:ext>
            </a:extLst>
          </p:cNvPr>
          <p:cNvSpPr>
            <a:spLocks noGrp="1"/>
          </p:cNvSpPr>
          <p:nvPr>
            <p:ph type="sldNum" sz="quarter" idx="12"/>
          </p:nvPr>
        </p:nvSpPr>
        <p:spPr/>
        <p:txBody>
          <a:bodyPr/>
          <a:lstStyle/>
          <a:p>
            <a:fld id="{B810A8A8-9E52-47DC-B028-D90FA570F151}" type="slidenum">
              <a:rPr lang="en-US" smtClean="0"/>
              <a:t>25</a:t>
            </a:fld>
            <a:endParaRPr lang="en-US"/>
          </a:p>
        </p:txBody>
      </p:sp>
    </p:spTree>
    <p:extLst>
      <p:ext uri="{BB962C8B-B14F-4D97-AF65-F5344CB8AC3E}">
        <p14:creationId xmlns:p14="http://schemas.microsoft.com/office/powerpoint/2010/main" val="1790225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BCBCF-AA8A-1C45-7EC1-557E53A62A81}"/>
              </a:ext>
            </a:extLst>
          </p:cNvPr>
          <p:cNvSpPr>
            <a:spLocks noGrp="1"/>
          </p:cNvSpPr>
          <p:nvPr>
            <p:ph type="title"/>
          </p:nvPr>
        </p:nvSpPr>
        <p:spPr/>
        <p:txBody>
          <a:bodyPr/>
          <a:lstStyle/>
          <a:p>
            <a:r>
              <a:rPr lang="en-US" dirty="0"/>
              <a:t>Activity class</a:t>
            </a:r>
          </a:p>
        </p:txBody>
      </p:sp>
      <p:sp>
        <p:nvSpPr>
          <p:cNvPr id="3" name="Content Placeholder 2">
            <a:extLst>
              <a:ext uri="{FF2B5EF4-FFF2-40B4-BE49-F238E27FC236}">
                <a16:creationId xmlns:a16="http://schemas.microsoft.com/office/drawing/2014/main" id="{3B2CCE8F-A5CC-3063-C51E-F1537A807454}"/>
              </a:ext>
            </a:extLst>
          </p:cNvPr>
          <p:cNvSpPr>
            <a:spLocks noGrp="1"/>
          </p:cNvSpPr>
          <p:nvPr>
            <p:ph idx="1"/>
          </p:nvPr>
        </p:nvSpPr>
        <p:spPr/>
        <p:txBody>
          <a:bodyPr/>
          <a:lstStyle/>
          <a:p>
            <a:pPr marL="0" indent="0">
              <a:buNone/>
            </a:pPr>
            <a:r>
              <a:rPr lang="en-US" dirty="0"/>
              <a:t>Write a </a:t>
            </a:r>
            <a:r>
              <a:rPr lang="en-US" b="1" dirty="0"/>
              <a:t>4–5 sentence abstract</a:t>
            </a:r>
            <a:r>
              <a:rPr lang="en-US" dirty="0"/>
              <a:t> that includes:</a:t>
            </a:r>
          </a:p>
          <a:p>
            <a:r>
              <a:rPr lang="en-US" b="1" dirty="0"/>
              <a:t>Aim of the study</a:t>
            </a:r>
            <a:r>
              <a:rPr lang="en-US" dirty="0"/>
              <a:t> – What problem the project addresses</a:t>
            </a:r>
          </a:p>
          <a:p>
            <a:r>
              <a:rPr lang="en-US" b="1" dirty="0"/>
              <a:t>Method used</a:t>
            </a:r>
            <a:r>
              <a:rPr lang="en-US" dirty="0"/>
              <a:t> – How the team built or tested the system</a:t>
            </a:r>
          </a:p>
          <a:p>
            <a:r>
              <a:rPr lang="en-US" b="1" dirty="0"/>
              <a:t>Key results</a:t>
            </a:r>
            <a:r>
              <a:rPr lang="en-US" dirty="0"/>
              <a:t> – What they found or achieved</a:t>
            </a:r>
          </a:p>
          <a:p>
            <a:r>
              <a:rPr lang="en-US" b="1" dirty="0"/>
              <a:t>Conclusion</a:t>
            </a:r>
            <a:r>
              <a:rPr lang="en-US" dirty="0"/>
              <a:t> – What the results show or how they can be used</a:t>
            </a:r>
          </a:p>
          <a:p>
            <a:endParaRPr lang="en-US" dirty="0"/>
          </a:p>
        </p:txBody>
      </p:sp>
      <p:sp>
        <p:nvSpPr>
          <p:cNvPr id="4" name="Slide Number Placeholder 3">
            <a:extLst>
              <a:ext uri="{FF2B5EF4-FFF2-40B4-BE49-F238E27FC236}">
                <a16:creationId xmlns:a16="http://schemas.microsoft.com/office/drawing/2014/main" id="{AD754B51-D3A6-2BDC-E766-2A6305E35E89}"/>
              </a:ext>
            </a:extLst>
          </p:cNvPr>
          <p:cNvSpPr>
            <a:spLocks noGrp="1"/>
          </p:cNvSpPr>
          <p:nvPr>
            <p:ph type="sldNum" sz="quarter" idx="12"/>
          </p:nvPr>
        </p:nvSpPr>
        <p:spPr/>
        <p:txBody>
          <a:bodyPr/>
          <a:lstStyle/>
          <a:p>
            <a:fld id="{B810A8A8-9E52-47DC-B028-D90FA570F151}" type="slidenum">
              <a:rPr lang="en-US" smtClean="0"/>
              <a:t>26</a:t>
            </a:fld>
            <a:endParaRPr lang="en-US"/>
          </a:p>
        </p:txBody>
      </p:sp>
    </p:spTree>
    <p:extLst>
      <p:ext uri="{BB962C8B-B14F-4D97-AF65-F5344CB8AC3E}">
        <p14:creationId xmlns:p14="http://schemas.microsoft.com/office/powerpoint/2010/main" val="3412446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D1CD6-9748-1480-6E20-297A49C4A894}"/>
              </a:ext>
            </a:extLst>
          </p:cNvPr>
          <p:cNvSpPr>
            <a:spLocks noGrp="1"/>
          </p:cNvSpPr>
          <p:nvPr>
            <p:ph type="title"/>
          </p:nvPr>
        </p:nvSpPr>
        <p:spPr/>
        <p:txBody>
          <a:bodyPr/>
          <a:lstStyle/>
          <a:p>
            <a:r>
              <a:rPr lang="en-US" dirty="0"/>
              <a:t>Activity class</a:t>
            </a:r>
          </a:p>
        </p:txBody>
      </p:sp>
      <p:sp>
        <p:nvSpPr>
          <p:cNvPr id="3" name="Content Placeholder 2">
            <a:extLst>
              <a:ext uri="{FF2B5EF4-FFF2-40B4-BE49-F238E27FC236}">
                <a16:creationId xmlns:a16="http://schemas.microsoft.com/office/drawing/2014/main" id="{5B197201-DB18-B98F-587E-FD6E68A5FFC3}"/>
              </a:ext>
            </a:extLst>
          </p:cNvPr>
          <p:cNvSpPr>
            <a:spLocks noGrp="1"/>
          </p:cNvSpPr>
          <p:nvPr>
            <p:ph idx="1"/>
          </p:nvPr>
        </p:nvSpPr>
        <p:spPr/>
        <p:txBody>
          <a:bodyPr/>
          <a:lstStyle/>
          <a:p>
            <a:pPr algn="just"/>
            <a:r>
              <a:rPr lang="en-US" dirty="0"/>
              <a:t>A team of data engineers developed an AI system to predict city traffic congestion. They collected real-time traffic data from sensors, cameras, and GPS devices over three months. The data was cleaned, stored, and processed using cloud-based data pipelines. Machine learning algorithms were then trained to predict traffic levels during rush hours. The team compared the AI predictions with actual traffic reports to test accuracy.</a:t>
            </a:r>
          </a:p>
        </p:txBody>
      </p:sp>
      <p:sp>
        <p:nvSpPr>
          <p:cNvPr id="4" name="Slide Number Placeholder 3">
            <a:extLst>
              <a:ext uri="{FF2B5EF4-FFF2-40B4-BE49-F238E27FC236}">
                <a16:creationId xmlns:a16="http://schemas.microsoft.com/office/drawing/2014/main" id="{012AA61B-E01A-8E8B-802C-7F30481D03BF}"/>
              </a:ext>
            </a:extLst>
          </p:cNvPr>
          <p:cNvSpPr>
            <a:spLocks noGrp="1"/>
          </p:cNvSpPr>
          <p:nvPr>
            <p:ph type="sldNum" sz="quarter" idx="12"/>
          </p:nvPr>
        </p:nvSpPr>
        <p:spPr/>
        <p:txBody>
          <a:bodyPr/>
          <a:lstStyle/>
          <a:p>
            <a:fld id="{B810A8A8-9E52-47DC-B028-D90FA570F151}" type="slidenum">
              <a:rPr lang="en-US" smtClean="0"/>
              <a:t>27</a:t>
            </a:fld>
            <a:endParaRPr lang="en-US"/>
          </a:p>
        </p:txBody>
      </p:sp>
    </p:spTree>
    <p:extLst>
      <p:ext uri="{BB962C8B-B14F-4D97-AF65-F5344CB8AC3E}">
        <p14:creationId xmlns:p14="http://schemas.microsoft.com/office/powerpoint/2010/main" val="2255016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3A457-CE09-725F-4255-E2A6857C02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933880-B0A4-C4B4-47E1-4931BE923666}"/>
              </a:ext>
            </a:extLst>
          </p:cNvPr>
          <p:cNvSpPr>
            <a:spLocks noGrp="1"/>
          </p:cNvSpPr>
          <p:nvPr>
            <p:ph idx="1"/>
          </p:nvPr>
        </p:nvSpPr>
        <p:spPr/>
        <p:txBody>
          <a:bodyPr/>
          <a:lstStyle/>
          <a:p>
            <a:pPr algn="just"/>
            <a:r>
              <a:rPr lang="en-US" dirty="0"/>
              <a:t>This study presents an artificial intelligence system developed to predict city traffic congestion using real-time data from sensors, cameras, and global positioning system devices collected over a three-month period. The data were processed through cloud-based pipelines, and machine learning models, including Random Forest and Long Short-Term Memory (LSTM) networks, were trained to forecast traffic levels during peak hours. The Long Short-Term Memory model achieved an average prediction accuracy of </a:t>
            </a:r>
            <a:r>
              <a:rPr lang="en-US" b="1" dirty="0"/>
              <a:t>92%</a:t>
            </a:r>
            <a:r>
              <a:rPr lang="en-US" dirty="0"/>
              <a:t>, reducing congestion forecast errors by </a:t>
            </a:r>
            <a:r>
              <a:rPr lang="en-US" b="1" dirty="0"/>
              <a:t>35% </a:t>
            </a:r>
            <a:r>
              <a:rPr lang="en-US" dirty="0"/>
              <a:t>compared to traditional regression methods. These findings demonstrate the effectiveness of the proposed system in supporting traffic management and mitigating travel delays.</a:t>
            </a:r>
          </a:p>
        </p:txBody>
      </p:sp>
      <p:sp>
        <p:nvSpPr>
          <p:cNvPr id="4" name="Slide Number Placeholder 3">
            <a:extLst>
              <a:ext uri="{FF2B5EF4-FFF2-40B4-BE49-F238E27FC236}">
                <a16:creationId xmlns:a16="http://schemas.microsoft.com/office/drawing/2014/main" id="{3CDAFD6F-96AD-B477-13F4-042A79CE7471}"/>
              </a:ext>
            </a:extLst>
          </p:cNvPr>
          <p:cNvSpPr>
            <a:spLocks noGrp="1"/>
          </p:cNvSpPr>
          <p:nvPr>
            <p:ph type="sldNum" sz="quarter" idx="12"/>
          </p:nvPr>
        </p:nvSpPr>
        <p:spPr/>
        <p:txBody>
          <a:bodyPr/>
          <a:lstStyle/>
          <a:p>
            <a:fld id="{B810A8A8-9E52-47DC-B028-D90FA570F151}" type="slidenum">
              <a:rPr lang="en-US" smtClean="0"/>
              <a:t>28</a:t>
            </a:fld>
            <a:endParaRPr lang="en-US"/>
          </a:p>
        </p:txBody>
      </p:sp>
    </p:spTree>
    <p:extLst>
      <p:ext uri="{BB962C8B-B14F-4D97-AF65-F5344CB8AC3E}">
        <p14:creationId xmlns:p14="http://schemas.microsoft.com/office/powerpoint/2010/main" val="846320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5280C-917B-9557-2E77-4E6CEBCF2D6B}"/>
              </a:ext>
            </a:extLst>
          </p:cNvPr>
          <p:cNvSpPr>
            <a:spLocks noGrp="1"/>
          </p:cNvSpPr>
          <p:nvPr>
            <p:ph type="title"/>
          </p:nvPr>
        </p:nvSpPr>
        <p:spPr/>
        <p:txBody>
          <a:bodyPr/>
          <a:lstStyle/>
          <a:p>
            <a:r>
              <a:rPr lang="en-US" dirty="0"/>
              <a:t>Activity class</a:t>
            </a:r>
          </a:p>
        </p:txBody>
      </p:sp>
      <p:sp>
        <p:nvSpPr>
          <p:cNvPr id="3" name="Content Placeholder 2">
            <a:extLst>
              <a:ext uri="{FF2B5EF4-FFF2-40B4-BE49-F238E27FC236}">
                <a16:creationId xmlns:a16="http://schemas.microsoft.com/office/drawing/2014/main" id="{987D22FC-5217-4A99-E2B2-F3E1DA1C5321}"/>
              </a:ext>
            </a:extLst>
          </p:cNvPr>
          <p:cNvSpPr>
            <a:spLocks noGrp="1"/>
          </p:cNvSpPr>
          <p:nvPr>
            <p:ph idx="1"/>
          </p:nvPr>
        </p:nvSpPr>
        <p:spPr/>
        <p:txBody>
          <a:bodyPr/>
          <a:lstStyle/>
          <a:p>
            <a:r>
              <a:rPr lang="en-US" dirty="0"/>
              <a:t>A group of researchers designed an AI system to assist doctors in diagnosing diabetes from patient medical records. They collected anonymized patient data, including blood sugar levels, age, weight, and lifestyle factors. The data was preprocessed and fed into a machine learning model trained to classify patients as diabetic or non-diabetic. The AI’s predictions were then compared with actual diagnoses to measure accuracy.</a:t>
            </a:r>
          </a:p>
        </p:txBody>
      </p:sp>
      <p:sp>
        <p:nvSpPr>
          <p:cNvPr id="4" name="Slide Number Placeholder 3">
            <a:extLst>
              <a:ext uri="{FF2B5EF4-FFF2-40B4-BE49-F238E27FC236}">
                <a16:creationId xmlns:a16="http://schemas.microsoft.com/office/drawing/2014/main" id="{C5B3ADD6-452C-39EA-A7E7-8A9A6A8B0BA9}"/>
              </a:ext>
            </a:extLst>
          </p:cNvPr>
          <p:cNvSpPr>
            <a:spLocks noGrp="1"/>
          </p:cNvSpPr>
          <p:nvPr>
            <p:ph type="sldNum" sz="quarter" idx="12"/>
          </p:nvPr>
        </p:nvSpPr>
        <p:spPr/>
        <p:txBody>
          <a:bodyPr/>
          <a:lstStyle/>
          <a:p>
            <a:fld id="{B810A8A8-9E52-47DC-B028-D90FA570F151}" type="slidenum">
              <a:rPr lang="en-US" smtClean="0"/>
              <a:t>29</a:t>
            </a:fld>
            <a:endParaRPr lang="en-US"/>
          </a:p>
        </p:txBody>
      </p:sp>
      <p:sp>
        <p:nvSpPr>
          <p:cNvPr id="5" name="Rectangle: Beveled 4">
            <a:extLst>
              <a:ext uri="{FF2B5EF4-FFF2-40B4-BE49-F238E27FC236}">
                <a16:creationId xmlns:a16="http://schemas.microsoft.com/office/drawing/2014/main" id="{C7B4FFBF-6382-7A77-7ABB-071A4B84B5BD}"/>
              </a:ext>
            </a:extLst>
          </p:cNvPr>
          <p:cNvSpPr/>
          <p:nvPr/>
        </p:nvSpPr>
        <p:spPr>
          <a:xfrm>
            <a:off x="1327355" y="4055807"/>
            <a:ext cx="6710516" cy="1985556"/>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“They collected anonymized patient data…”</a:t>
            </a:r>
          </a:p>
          <a:p>
            <a:r>
              <a:rPr lang="en-US"/>
              <a:t>It means the researchers used patient records but </a:t>
            </a:r>
            <a:r>
              <a:rPr lang="en-US" b="1"/>
              <a:t>removed names, ID numbers, or any information that could reveal who the patient is</a:t>
            </a:r>
            <a:r>
              <a:rPr lang="en-US"/>
              <a:t>, keeping the data private and secure.</a:t>
            </a:r>
          </a:p>
        </p:txBody>
      </p:sp>
    </p:spTree>
    <p:extLst>
      <p:ext uri="{BB962C8B-B14F-4D97-AF65-F5344CB8AC3E}">
        <p14:creationId xmlns:p14="http://schemas.microsoft.com/office/powerpoint/2010/main" val="3738568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A137-0907-CCA7-FD47-90166D526E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26BDCD-64CF-467F-6194-DAA09BD30C23}"/>
              </a:ext>
            </a:extLst>
          </p:cNvPr>
          <p:cNvSpPr>
            <a:spLocks noGrp="1"/>
          </p:cNvSpPr>
          <p:nvPr>
            <p:ph idx="1"/>
          </p:nvPr>
        </p:nvSpPr>
        <p:spPr/>
        <p:txBody>
          <a:bodyPr/>
          <a:lstStyle/>
          <a:p>
            <a:pPr algn="just"/>
            <a:r>
              <a:rPr lang="en-US" dirty="0"/>
              <a:t>This research introduces an artificial intelligence system designed to assist clinicians in diagnosing diabetes using patient medical records. Anonymized data from </a:t>
            </a:r>
            <a:r>
              <a:rPr lang="en-US" b="1" dirty="0"/>
              <a:t>1500 patients</a:t>
            </a:r>
            <a:r>
              <a:rPr lang="en-US" dirty="0"/>
              <a:t>, including blood sugar levels, body mass index, age, and lifestyle factors, were preprocessed and used to train a gradient boosting classifier. The model achieved an overall accuracy of </a:t>
            </a:r>
            <a:r>
              <a:rPr lang="en-US" b="1" dirty="0"/>
              <a:t>94%</a:t>
            </a:r>
            <a:r>
              <a:rPr lang="en-US" dirty="0"/>
              <a:t>, with a precision of </a:t>
            </a:r>
            <a:r>
              <a:rPr lang="en-US" b="1" dirty="0"/>
              <a:t>91%</a:t>
            </a:r>
            <a:r>
              <a:rPr lang="en-US" dirty="0"/>
              <a:t> and a recall of </a:t>
            </a:r>
            <a:r>
              <a:rPr lang="en-US" b="1" dirty="0"/>
              <a:t>93%</a:t>
            </a:r>
            <a:r>
              <a:rPr lang="en-US" dirty="0"/>
              <a:t> in identifying diabetic patients. These results indicate that the proposed system can reliably support clinical decision-making, enhancing early detection and patient care.</a:t>
            </a:r>
          </a:p>
        </p:txBody>
      </p:sp>
      <p:sp>
        <p:nvSpPr>
          <p:cNvPr id="4" name="Slide Number Placeholder 3">
            <a:extLst>
              <a:ext uri="{FF2B5EF4-FFF2-40B4-BE49-F238E27FC236}">
                <a16:creationId xmlns:a16="http://schemas.microsoft.com/office/drawing/2014/main" id="{7E044D6D-2F14-CB7D-E778-9739737CF1B6}"/>
              </a:ext>
            </a:extLst>
          </p:cNvPr>
          <p:cNvSpPr>
            <a:spLocks noGrp="1"/>
          </p:cNvSpPr>
          <p:nvPr>
            <p:ph type="sldNum" sz="quarter" idx="12"/>
          </p:nvPr>
        </p:nvSpPr>
        <p:spPr/>
        <p:txBody>
          <a:bodyPr/>
          <a:lstStyle/>
          <a:p>
            <a:fld id="{B810A8A8-9E52-47DC-B028-D90FA570F151}" type="slidenum">
              <a:rPr lang="en-US" smtClean="0"/>
              <a:t>30</a:t>
            </a:fld>
            <a:endParaRPr lang="en-US"/>
          </a:p>
        </p:txBody>
      </p:sp>
    </p:spTree>
    <p:extLst>
      <p:ext uri="{BB962C8B-B14F-4D97-AF65-F5344CB8AC3E}">
        <p14:creationId xmlns:p14="http://schemas.microsoft.com/office/powerpoint/2010/main" val="323048960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163</TotalTime>
  <Words>2270</Words>
  <Application>Microsoft Office PowerPoint</Application>
  <PresentationFormat>Widescreen</PresentationFormat>
  <Paragraphs>179</Paragraphs>
  <Slides>30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Trebuchet MS</vt:lpstr>
      <vt:lpstr>Wingdings</vt:lpstr>
      <vt:lpstr>Wingdings 3</vt:lpstr>
      <vt:lpstr>Facet</vt:lpstr>
      <vt:lpstr>Writing Effective Summaries in AI and Data Engineering</vt:lpstr>
      <vt:lpstr>Introduction to Summaries</vt:lpstr>
      <vt:lpstr>Importance of Summaries</vt:lpstr>
      <vt:lpstr>Key Elements of a Summary</vt:lpstr>
      <vt:lpstr>Steps to Write an Effective Summary</vt:lpstr>
      <vt:lpstr>Example Summary</vt:lpstr>
      <vt:lpstr>PowerPoint Presentation</vt:lpstr>
      <vt:lpstr>Common Mistakes to Avoid</vt:lpstr>
      <vt:lpstr>Example Text 1:</vt:lpstr>
      <vt:lpstr>Summary for Example Text 1: Machine Learning in Healthcare</vt:lpstr>
      <vt:lpstr>Example Text 2: Big Data Analytics</vt:lpstr>
      <vt:lpstr>Summary for Example Text 2: Big Data Analytics</vt:lpstr>
      <vt:lpstr>Writing Effective Abstracts in AI and Data Engineering</vt:lpstr>
      <vt:lpstr>Introduction</vt:lpstr>
      <vt:lpstr>Importance of an Abstract</vt:lpstr>
      <vt:lpstr>Key Elements of an Abstract</vt:lpstr>
      <vt:lpstr>Questions an Abstract Should Answer</vt:lpstr>
      <vt:lpstr>Writing Tips</vt:lpstr>
      <vt:lpstr>Example Abstract</vt:lpstr>
      <vt:lpstr>Example Abstract</vt:lpstr>
      <vt:lpstr>Common Mistakes to Avoid</vt:lpstr>
      <vt:lpstr>Citation</vt:lpstr>
      <vt:lpstr>Strong Abstract</vt:lpstr>
      <vt:lpstr>PowerPoint Presentation</vt:lpstr>
      <vt:lpstr>Weak Abstract</vt:lpstr>
      <vt:lpstr>Activity class</vt:lpstr>
      <vt:lpstr>Activity class</vt:lpstr>
      <vt:lpstr>PowerPoint Presentation</vt:lpstr>
      <vt:lpstr>Activity class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Zeinab Abbas</dc:creator>
  <cp:lastModifiedBy>Zeinab Abbas</cp:lastModifiedBy>
  <cp:revision>27</cp:revision>
  <dcterms:created xsi:type="dcterms:W3CDTF">2025-10-20T09:46:21Z</dcterms:created>
  <dcterms:modified xsi:type="dcterms:W3CDTF">2026-09-22T10:03:07Z</dcterms:modified>
</cp:coreProperties>
</file>