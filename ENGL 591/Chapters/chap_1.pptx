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51"/>
  </p:notesMasterIdLst>
  <p:sldIdLst>
    <p:sldId id="256" r:id="rId2"/>
    <p:sldId id="257" r:id="rId3"/>
    <p:sldId id="258" r:id="rId4"/>
    <p:sldId id="259" r:id="rId5"/>
    <p:sldId id="263" r:id="rId6"/>
    <p:sldId id="264" r:id="rId7"/>
    <p:sldId id="261" r:id="rId8"/>
    <p:sldId id="265" r:id="rId9"/>
    <p:sldId id="283" r:id="rId10"/>
    <p:sldId id="306" r:id="rId11"/>
    <p:sldId id="280" r:id="rId12"/>
    <p:sldId id="292" r:id="rId13"/>
    <p:sldId id="266" r:id="rId14"/>
    <p:sldId id="262" r:id="rId15"/>
    <p:sldId id="307" r:id="rId16"/>
    <p:sldId id="275" r:id="rId17"/>
    <p:sldId id="277" r:id="rId18"/>
    <p:sldId id="278" r:id="rId19"/>
    <p:sldId id="279" r:id="rId20"/>
    <p:sldId id="285" r:id="rId21"/>
    <p:sldId id="286" r:id="rId22"/>
    <p:sldId id="271" r:id="rId23"/>
    <p:sldId id="287" r:id="rId24"/>
    <p:sldId id="308" r:id="rId25"/>
    <p:sldId id="309" r:id="rId26"/>
    <p:sldId id="310" r:id="rId27"/>
    <p:sldId id="311" r:id="rId28"/>
    <p:sldId id="288" r:id="rId29"/>
    <p:sldId id="314" r:id="rId30"/>
    <p:sldId id="312" r:id="rId31"/>
    <p:sldId id="289" r:id="rId32"/>
    <p:sldId id="276" r:id="rId33"/>
    <p:sldId id="281" r:id="rId34"/>
    <p:sldId id="290" r:id="rId35"/>
    <p:sldId id="260" r:id="rId36"/>
    <p:sldId id="282" r:id="rId37"/>
    <p:sldId id="291" r:id="rId38"/>
    <p:sldId id="295" r:id="rId39"/>
    <p:sldId id="296" r:id="rId40"/>
    <p:sldId id="297" r:id="rId41"/>
    <p:sldId id="299" r:id="rId42"/>
    <p:sldId id="298" r:id="rId43"/>
    <p:sldId id="300" r:id="rId44"/>
    <p:sldId id="301" r:id="rId45"/>
    <p:sldId id="302" r:id="rId46"/>
    <p:sldId id="303" r:id="rId47"/>
    <p:sldId id="304" r:id="rId48"/>
    <p:sldId id="269" r:id="rId49"/>
    <p:sldId id="313" r:id="rId5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91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5E6E823-4ED7-4473-853A-10C8E3787B23}" type="doc">
      <dgm:prSet loTypeId="urn:microsoft.com/office/officeart/2008/layout/VerticalCurvedList" loCatId="list" qsTypeId="urn:microsoft.com/office/officeart/2005/8/quickstyle/simple3" qsCatId="simple" csTypeId="urn:microsoft.com/office/officeart/2005/8/colors/accent1_1" csCatId="accent1" phldr="1"/>
      <dgm:spPr/>
      <dgm:t>
        <a:bodyPr/>
        <a:lstStyle/>
        <a:p>
          <a:endParaRPr lang="en-US"/>
        </a:p>
      </dgm:t>
    </dgm:pt>
    <dgm:pt modelId="{1D118214-A760-4971-AB4B-4C70EDC5B305}">
      <dgm:prSet phldrT="[Text]" phldr="0"/>
      <dgm:spPr/>
      <dgm:t>
        <a:bodyPr/>
        <a:lstStyle/>
        <a:p>
          <a:r>
            <a:rPr lang="en-US" dirty="0"/>
            <a:t>Introduction to scientific and professional English</a:t>
          </a:r>
        </a:p>
      </dgm:t>
    </dgm:pt>
    <dgm:pt modelId="{E1260244-69F1-4F50-8BF5-8F587A562F90}" type="parTrans" cxnId="{6BD43D13-E550-4FB8-9578-993AD00136CB}">
      <dgm:prSet/>
      <dgm:spPr/>
      <dgm:t>
        <a:bodyPr/>
        <a:lstStyle/>
        <a:p>
          <a:endParaRPr lang="en-US"/>
        </a:p>
      </dgm:t>
    </dgm:pt>
    <dgm:pt modelId="{E6A32F6C-A67A-4BE6-A2F6-E8351E4FC2B5}" type="sibTrans" cxnId="{6BD43D13-E550-4FB8-9578-993AD00136CB}">
      <dgm:prSet/>
      <dgm:spPr/>
      <dgm:t>
        <a:bodyPr/>
        <a:lstStyle/>
        <a:p>
          <a:endParaRPr lang="en-US"/>
        </a:p>
      </dgm:t>
    </dgm:pt>
    <dgm:pt modelId="{3DA47BDE-BFBA-4B34-9893-25A87F03E7AB}">
      <dgm:prSet phldrT="[Text]" phldr="0"/>
      <dgm:spPr/>
      <dgm:t>
        <a:bodyPr/>
        <a:lstStyle/>
        <a:p>
          <a:r>
            <a:rPr lang="en-US" dirty="0"/>
            <a:t>Writing professional reports</a:t>
          </a:r>
        </a:p>
      </dgm:t>
    </dgm:pt>
    <dgm:pt modelId="{28AA98D5-3CDC-4ECD-AD72-478A77FE0D4C}" type="parTrans" cxnId="{210C1564-CA29-4F2C-BF1E-B69B71B309EC}">
      <dgm:prSet/>
      <dgm:spPr/>
      <dgm:t>
        <a:bodyPr/>
        <a:lstStyle/>
        <a:p>
          <a:endParaRPr lang="en-US"/>
        </a:p>
      </dgm:t>
    </dgm:pt>
    <dgm:pt modelId="{8CB75728-B3D2-4ECA-A50B-1F2DB2C24F9B}" type="sibTrans" cxnId="{210C1564-CA29-4F2C-BF1E-B69B71B309EC}">
      <dgm:prSet/>
      <dgm:spPr/>
      <dgm:t>
        <a:bodyPr/>
        <a:lstStyle/>
        <a:p>
          <a:endParaRPr lang="en-US"/>
        </a:p>
      </dgm:t>
    </dgm:pt>
    <dgm:pt modelId="{16DEF39A-3691-49B0-A365-CCC982FDC16F}">
      <dgm:prSet phldrT="[Text]" phldr="0"/>
      <dgm:spPr/>
      <dgm:t>
        <a:bodyPr/>
        <a:lstStyle/>
        <a:p>
          <a:r>
            <a:rPr lang="en-US" dirty="0"/>
            <a:t>Workplace communication </a:t>
          </a:r>
        </a:p>
      </dgm:t>
    </dgm:pt>
    <dgm:pt modelId="{71C2BB97-2726-4441-B731-CD6F5C42501D}" type="parTrans" cxnId="{A104B66E-7382-4EAD-8FEB-EE8478266F32}">
      <dgm:prSet/>
      <dgm:spPr/>
      <dgm:t>
        <a:bodyPr/>
        <a:lstStyle/>
        <a:p>
          <a:endParaRPr lang="en-US"/>
        </a:p>
      </dgm:t>
    </dgm:pt>
    <dgm:pt modelId="{152D010C-DE0A-47C0-951D-81DB765A1541}" type="sibTrans" cxnId="{A104B66E-7382-4EAD-8FEB-EE8478266F32}">
      <dgm:prSet/>
      <dgm:spPr/>
      <dgm:t>
        <a:bodyPr/>
        <a:lstStyle/>
        <a:p>
          <a:endParaRPr lang="en-US"/>
        </a:p>
      </dgm:t>
    </dgm:pt>
    <dgm:pt modelId="{5FC023C8-2EC5-49DF-BB38-2FD19E87D0D0}">
      <dgm:prSet phldrT="[Text]" phldr="0"/>
      <dgm:spPr/>
      <dgm:t>
        <a:bodyPr/>
        <a:lstStyle/>
        <a:p>
          <a:r>
            <a:rPr lang="en-US" dirty="0"/>
            <a:t>Data and AI English vocabulary </a:t>
          </a:r>
        </a:p>
      </dgm:t>
    </dgm:pt>
    <dgm:pt modelId="{8C574AC1-5A5C-4903-A6AA-A5C09215705F}" type="parTrans" cxnId="{07B7C889-29A5-465D-A817-F099019AF33E}">
      <dgm:prSet/>
      <dgm:spPr/>
      <dgm:t>
        <a:bodyPr/>
        <a:lstStyle/>
        <a:p>
          <a:endParaRPr lang="en-US"/>
        </a:p>
      </dgm:t>
    </dgm:pt>
    <dgm:pt modelId="{2A07F33A-8EDE-4871-9D08-4B54B2527270}" type="sibTrans" cxnId="{07B7C889-29A5-465D-A817-F099019AF33E}">
      <dgm:prSet/>
      <dgm:spPr/>
      <dgm:t>
        <a:bodyPr/>
        <a:lstStyle/>
        <a:p>
          <a:endParaRPr lang="en-US"/>
        </a:p>
      </dgm:t>
    </dgm:pt>
    <dgm:pt modelId="{DC44A4E8-8556-4A19-A51D-74CCF14EDD40}">
      <dgm:prSet phldrT="[Text]" phldr="0"/>
      <dgm:spPr/>
      <dgm:t>
        <a:bodyPr/>
        <a:lstStyle/>
        <a:p>
          <a:r>
            <a:rPr lang="en-US"/>
            <a:t>Presentations &amp; oral communication</a:t>
          </a:r>
          <a:endParaRPr lang="en-US" dirty="0"/>
        </a:p>
      </dgm:t>
    </dgm:pt>
    <dgm:pt modelId="{42C3A93B-EEE1-4B59-B4A3-EF300F5C7EF1}" type="parTrans" cxnId="{FBFD6831-F9FF-46B4-B70D-8C0F95FB0994}">
      <dgm:prSet/>
      <dgm:spPr/>
      <dgm:t>
        <a:bodyPr/>
        <a:lstStyle/>
        <a:p>
          <a:endParaRPr lang="en-US"/>
        </a:p>
      </dgm:t>
    </dgm:pt>
    <dgm:pt modelId="{D4405512-B2AD-4489-B5A3-22186A1876DA}" type="sibTrans" cxnId="{FBFD6831-F9FF-46B4-B70D-8C0F95FB0994}">
      <dgm:prSet/>
      <dgm:spPr/>
      <dgm:t>
        <a:bodyPr/>
        <a:lstStyle/>
        <a:p>
          <a:endParaRPr lang="en-US"/>
        </a:p>
      </dgm:t>
    </dgm:pt>
    <dgm:pt modelId="{CCE8C3B9-F55D-4DC6-B720-74B8B2BFBA14}">
      <dgm:prSet phldrT="[Text]" phldr="0"/>
      <dgm:spPr/>
      <dgm:t>
        <a:bodyPr/>
        <a:lstStyle/>
        <a:p>
          <a:r>
            <a:rPr lang="en-US" dirty="0"/>
            <a:t>Writing for job market</a:t>
          </a:r>
        </a:p>
      </dgm:t>
    </dgm:pt>
    <dgm:pt modelId="{4D54B392-C5AA-4C6B-B2AD-31054B5BFA09}" type="parTrans" cxnId="{AD3E2A98-4794-4020-B23E-94ED978A2B6D}">
      <dgm:prSet/>
      <dgm:spPr/>
      <dgm:t>
        <a:bodyPr/>
        <a:lstStyle/>
        <a:p>
          <a:endParaRPr lang="en-US"/>
        </a:p>
      </dgm:t>
    </dgm:pt>
    <dgm:pt modelId="{DE211F8B-6D2A-4140-88BD-2254DA91A9B0}" type="sibTrans" cxnId="{AD3E2A98-4794-4020-B23E-94ED978A2B6D}">
      <dgm:prSet/>
      <dgm:spPr/>
      <dgm:t>
        <a:bodyPr/>
        <a:lstStyle/>
        <a:p>
          <a:endParaRPr lang="en-US"/>
        </a:p>
      </dgm:t>
    </dgm:pt>
    <dgm:pt modelId="{50BDED54-6175-4184-A3F5-C02D7C2A850E}">
      <dgm:prSet phldrT="[Text]" phldr="0"/>
      <dgm:spPr/>
      <dgm:t>
        <a:bodyPr/>
        <a:lstStyle/>
        <a:p>
          <a:r>
            <a:rPr lang="en-US"/>
            <a:t>Final projects </a:t>
          </a:r>
          <a:endParaRPr lang="en-US" dirty="0"/>
        </a:p>
      </dgm:t>
    </dgm:pt>
    <dgm:pt modelId="{336ED168-C923-430B-97D3-842E4A09B041}" type="parTrans" cxnId="{B735F81C-F98C-4538-B983-976FED827D5C}">
      <dgm:prSet/>
      <dgm:spPr/>
      <dgm:t>
        <a:bodyPr/>
        <a:lstStyle/>
        <a:p>
          <a:endParaRPr lang="en-US"/>
        </a:p>
      </dgm:t>
    </dgm:pt>
    <dgm:pt modelId="{21431406-0823-4D3B-A214-1405D7015DE5}" type="sibTrans" cxnId="{B735F81C-F98C-4538-B983-976FED827D5C}">
      <dgm:prSet/>
      <dgm:spPr/>
      <dgm:t>
        <a:bodyPr/>
        <a:lstStyle/>
        <a:p>
          <a:endParaRPr lang="en-US"/>
        </a:p>
      </dgm:t>
    </dgm:pt>
    <dgm:pt modelId="{1B958748-419E-43B6-B5D5-4A8199263125}" type="pres">
      <dgm:prSet presAssocID="{05E6E823-4ED7-4473-853A-10C8E3787B23}" presName="Name0" presStyleCnt="0">
        <dgm:presLayoutVars>
          <dgm:chMax val="7"/>
          <dgm:chPref val="7"/>
          <dgm:dir/>
        </dgm:presLayoutVars>
      </dgm:prSet>
      <dgm:spPr/>
    </dgm:pt>
    <dgm:pt modelId="{8F3E3F37-D909-4183-B96F-FC2B7D844BC0}" type="pres">
      <dgm:prSet presAssocID="{05E6E823-4ED7-4473-853A-10C8E3787B23}" presName="Name1" presStyleCnt="0"/>
      <dgm:spPr/>
    </dgm:pt>
    <dgm:pt modelId="{72D75097-B8C6-4ADF-B8C8-198331E4EB7E}" type="pres">
      <dgm:prSet presAssocID="{05E6E823-4ED7-4473-853A-10C8E3787B23}" presName="cycle" presStyleCnt="0"/>
      <dgm:spPr/>
    </dgm:pt>
    <dgm:pt modelId="{20274D67-A13A-4CF3-A8C5-28128E0AAE3F}" type="pres">
      <dgm:prSet presAssocID="{05E6E823-4ED7-4473-853A-10C8E3787B23}" presName="srcNode" presStyleLbl="node1" presStyleIdx="0" presStyleCnt="7"/>
      <dgm:spPr/>
    </dgm:pt>
    <dgm:pt modelId="{4E0A6FB0-73AF-45CE-8EC8-16F8C54B55DD}" type="pres">
      <dgm:prSet presAssocID="{05E6E823-4ED7-4473-853A-10C8E3787B23}" presName="conn" presStyleLbl="parChTrans1D2" presStyleIdx="0" presStyleCnt="1"/>
      <dgm:spPr/>
    </dgm:pt>
    <dgm:pt modelId="{3AF2BEC2-6FAE-4F21-8D87-B40089CC1DD4}" type="pres">
      <dgm:prSet presAssocID="{05E6E823-4ED7-4473-853A-10C8E3787B23}" presName="extraNode" presStyleLbl="node1" presStyleIdx="0" presStyleCnt="7"/>
      <dgm:spPr/>
    </dgm:pt>
    <dgm:pt modelId="{11E40168-2ED7-45AF-B75F-13A2A6E23661}" type="pres">
      <dgm:prSet presAssocID="{05E6E823-4ED7-4473-853A-10C8E3787B23}" presName="dstNode" presStyleLbl="node1" presStyleIdx="0" presStyleCnt="7"/>
      <dgm:spPr/>
    </dgm:pt>
    <dgm:pt modelId="{B20FE525-DE05-474E-885D-F176DB630AF5}" type="pres">
      <dgm:prSet presAssocID="{1D118214-A760-4971-AB4B-4C70EDC5B305}" presName="text_1" presStyleLbl="node1" presStyleIdx="0" presStyleCnt="7">
        <dgm:presLayoutVars>
          <dgm:bulletEnabled val="1"/>
        </dgm:presLayoutVars>
      </dgm:prSet>
      <dgm:spPr/>
    </dgm:pt>
    <dgm:pt modelId="{2BF8B505-5D82-47F9-A10B-024FE06F69BF}" type="pres">
      <dgm:prSet presAssocID="{1D118214-A760-4971-AB4B-4C70EDC5B305}" presName="accent_1" presStyleCnt="0"/>
      <dgm:spPr/>
    </dgm:pt>
    <dgm:pt modelId="{BECA74C0-4D84-413C-A1E6-1FEA7CECA341}" type="pres">
      <dgm:prSet presAssocID="{1D118214-A760-4971-AB4B-4C70EDC5B305}" presName="accentRepeatNode" presStyleLbl="solidFgAcc1" presStyleIdx="0" presStyleCnt="7"/>
      <dgm:spPr/>
    </dgm:pt>
    <dgm:pt modelId="{69A4C310-9724-4B33-B084-05FF2D863B57}" type="pres">
      <dgm:prSet presAssocID="{3DA47BDE-BFBA-4B34-9893-25A87F03E7AB}" presName="text_2" presStyleLbl="node1" presStyleIdx="1" presStyleCnt="7">
        <dgm:presLayoutVars>
          <dgm:bulletEnabled val="1"/>
        </dgm:presLayoutVars>
      </dgm:prSet>
      <dgm:spPr/>
    </dgm:pt>
    <dgm:pt modelId="{6A1F51B0-14BA-4F6E-BD7C-1A6DD76C8D82}" type="pres">
      <dgm:prSet presAssocID="{3DA47BDE-BFBA-4B34-9893-25A87F03E7AB}" presName="accent_2" presStyleCnt="0"/>
      <dgm:spPr/>
    </dgm:pt>
    <dgm:pt modelId="{7E010807-6FC6-41A3-AD3C-663939A5706F}" type="pres">
      <dgm:prSet presAssocID="{3DA47BDE-BFBA-4B34-9893-25A87F03E7AB}" presName="accentRepeatNode" presStyleLbl="solidFgAcc1" presStyleIdx="1" presStyleCnt="7"/>
      <dgm:spPr/>
    </dgm:pt>
    <dgm:pt modelId="{694E2DBB-CE4D-4A7E-A2D2-99ABB876C77E}" type="pres">
      <dgm:prSet presAssocID="{16DEF39A-3691-49B0-A365-CCC982FDC16F}" presName="text_3" presStyleLbl="node1" presStyleIdx="2" presStyleCnt="7">
        <dgm:presLayoutVars>
          <dgm:bulletEnabled val="1"/>
        </dgm:presLayoutVars>
      </dgm:prSet>
      <dgm:spPr/>
    </dgm:pt>
    <dgm:pt modelId="{C80A98C5-77A6-40AE-B7F9-0AC3411713DB}" type="pres">
      <dgm:prSet presAssocID="{16DEF39A-3691-49B0-A365-CCC982FDC16F}" presName="accent_3" presStyleCnt="0"/>
      <dgm:spPr/>
    </dgm:pt>
    <dgm:pt modelId="{3B08BBE1-B220-40A9-90CE-A2ECE10EE6B4}" type="pres">
      <dgm:prSet presAssocID="{16DEF39A-3691-49B0-A365-CCC982FDC16F}" presName="accentRepeatNode" presStyleLbl="solidFgAcc1" presStyleIdx="2" presStyleCnt="7"/>
      <dgm:spPr/>
    </dgm:pt>
    <dgm:pt modelId="{2225D00A-7FB0-4716-B43A-8155A7D75783}" type="pres">
      <dgm:prSet presAssocID="{5FC023C8-2EC5-49DF-BB38-2FD19E87D0D0}" presName="text_4" presStyleLbl="node1" presStyleIdx="3" presStyleCnt="7">
        <dgm:presLayoutVars>
          <dgm:bulletEnabled val="1"/>
        </dgm:presLayoutVars>
      </dgm:prSet>
      <dgm:spPr/>
    </dgm:pt>
    <dgm:pt modelId="{1F7E9D26-8E23-47B9-9D5F-ECE545D28E71}" type="pres">
      <dgm:prSet presAssocID="{5FC023C8-2EC5-49DF-BB38-2FD19E87D0D0}" presName="accent_4" presStyleCnt="0"/>
      <dgm:spPr/>
    </dgm:pt>
    <dgm:pt modelId="{9DF8C055-1CA7-4209-85DF-6E97FCF8E502}" type="pres">
      <dgm:prSet presAssocID="{5FC023C8-2EC5-49DF-BB38-2FD19E87D0D0}" presName="accentRepeatNode" presStyleLbl="solidFgAcc1" presStyleIdx="3" presStyleCnt="7"/>
      <dgm:spPr/>
    </dgm:pt>
    <dgm:pt modelId="{DCBD6422-6BEF-419B-8240-7F735D070400}" type="pres">
      <dgm:prSet presAssocID="{DC44A4E8-8556-4A19-A51D-74CCF14EDD40}" presName="text_5" presStyleLbl="node1" presStyleIdx="4" presStyleCnt="7">
        <dgm:presLayoutVars>
          <dgm:bulletEnabled val="1"/>
        </dgm:presLayoutVars>
      </dgm:prSet>
      <dgm:spPr/>
    </dgm:pt>
    <dgm:pt modelId="{B3FD3FF1-8410-40E1-994C-3CEEE4D6626B}" type="pres">
      <dgm:prSet presAssocID="{DC44A4E8-8556-4A19-A51D-74CCF14EDD40}" presName="accent_5" presStyleCnt="0"/>
      <dgm:spPr/>
    </dgm:pt>
    <dgm:pt modelId="{5ED59002-42CB-41AA-B481-723441954CB5}" type="pres">
      <dgm:prSet presAssocID="{DC44A4E8-8556-4A19-A51D-74CCF14EDD40}" presName="accentRepeatNode" presStyleLbl="solidFgAcc1" presStyleIdx="4" presStyleCnt="7"/>
      <dgm:spPr/>
    </dgm:pt>
    <dgm:pt modelId="{F44DC9C4-99A1-405A-B32E-DCB8A70B82F2}" type="pres">
      <dgm:prSet presAssocID="{CCE8C3B9-F55D-4DC6-B720-74B8B2BFBA14}" presName="text_6" presStyleLbl="node1" presStyleIdx="5" presStyleCnt="7">
        <dgm:presLayoutVars>
          <dgm:bulletEnabled val="1"/>
        </dgm:presLayoutVars>
      </dgm:prSet>
      <dgm:spPr/>
    </dgm:pt>
    <dgm:pt modelId="{EBB65E16-9A0E-475D-8BEE-D67EAC1268B9}" type="pres">
      <dgm:prSet presAssocID="{CCE8C3B9-F55D-4DC6-B720-74B8B2BFBA14}" presName="accent_6" presStyleCnt="0"/>
      <dgm:spPr/>
    </dgm:pt>
    <dgm:pt modelId="{F7356573-1D00-4856-99A8-5D51E5A900A4}" type="pres">
      <dgm:prSet presAssocID="{CCE8C3B9-F55D-4DC6-B720-74B8B2BFBA14}" presName="accentRepeatNode" presStyleLbl="solidFgAcc1" presStyleIdx="5" presStyleCnt="7"/>
      <dgm:spPr/>
    </dgm:pt>
    <dgm:pt modelId="{8F48C6DC-007B-4C00-93B4-E9872913C4EF}" type="pres">
      <dgm:prSet presAssocID="{50BDED54-6175-4184-A3F5-C02D7C2A850E}" presName="text_7" presStyleLbl="node1" presStyleIdx="6" presStyleCnt="7">
        <dgm:presLayoutVars>
          <dgm:bulletEnabled val="1"/>
        </dgm:presLayoutVars>
      </dgm:prSet>
      <dgm:spPr/>
    </dgm:pt>
    <dgm:pt modelId="{649E97A8-FAA0-4218-BD8B-CC281855803F}" type="pres">
      <dgm:prSet presAssocID="{50BDED54-6175-4184-A3F5-C02D7C2A850E}" presName="accent_7" presStyleCnt="0"/>
      <dgm:spPr/>
    </dgm:pt>
    <dgm:pt modelId="{565A4F1E-7F49-44D5-8F79-2986DE0947E5}" type="pres">
      <dgm:prSet presAssocID="{50BDED54-6175-4184-A3F5-C02D7C2A850E}" presName="accentRepeatNode" presStyleLbl="solidFgAcc1" presStyleIdx="6" presStyleCnt="7"/>
      <dgm:spPr/>
    </dgm:pt>
  </dgm:ptLst>
  <dgm:cxnLst>
    <dgm:cxn modelId="{68603206-C1F5-4A24-8797-1F93B3AC38B6}" type="presOf" srcId="{16DEF39A-3691-49B0-A365-CCC982FDC16F}" destId="{694E2DBB-CE4D-4A7E-A2D2-99ABB876C77E}" srcOrd="0" destOrd="0" presId="urn:microsoft.com/office/officeart/2008/layout/VerticalCurvedList"/>
    <dgm:cxn modelId="{12707E0A-68BC-4E50-B785-26B6C327C486}" type="presOf" srcId="{3DA47BDE-BFBA-4B34-9893-25A87F03E7AB}" destId="{69A4C310-9724-4B33-B084-05FF2D863B57}" srcOrd="0" destOrd="0" presId="urn:microsoft.com/office/officeart/2008/layout/VerticalCurvedList"/>
    <dgm:cxn modelId="{6BD43D13-E550-4FB8-9578-993AD00136CB}" srcId="{05E6E823-4ED7-4473-853A-10C8E3787B23}" destId="{1D118214-A760-4971-AB4B-4C70EDC5B305}" srcOrd="0" destOrd="0" parTransId="{E1260244-69F1-4F50-8BF5-8F587A562F90}" sibTransId="{E6A32F6C-A67A-4BE6-A2F6-E8351E4FC2B5}"/>
    <dgm:cxn modelId="{B735F81C-F98C-4538-B983-976FED827D5C}" srcId="{05E6E823-4ED7-4473-853A-10C8E3787B23}" destId="{50BDED54-6175-4184-A3F5-C02D7C2A850E}" srcOrd="6" destOrd="0" parTransId="{336ED168-C923-430B-97D3-842E4A09B041}" sibTransId="{21431406-0823-4D3B-A214-1405D7015DE5}"/>
    <dgm:cxn modelId="{919E4B1D-8D45-467A-8DE3-4225888E478A}" type="presOf" srcId="{1D118214-A760-4971-AB4B-4C70EDC5B305}" destId="{B20FE525-DE05-474E-885D-F176DB630AF5}" srcOrd="0" destOrd="0" presId="urn:microsoft.com/office/officeart/2008/layout/VerticalCurvedList"/>
    <dgm:cxn modelId="{FBFD6831-F9FF-46B4-B70D-8C0F95FB0994}" srcId="{05E6E823-4ED7-4473-853A-10C8E3787B23}" destId="{DC44A4E8-8556-4A19-A51D-74CCF14EDD40}" srcOrd="4" destOrd="0" parTransId="{42C3A93B-EEE1-4B59-B4A3-EF300F5C7EF1}" sibTransId="{D4405512-B2AD-4489-B5A3-22186A1876DA}"/>
    <dgm:cxn modelId="{ED93E033-8F53-44A8-954A-B0985336FA85}" type="presOf" srcId="{E6A32F6C-A67A-4BE6-A2F6-E8351E4FC2B5}" destId="{4E0A6FB0-73AF-45CE-8EC8-16F8C54B55DD}" srcOrd="0" destOrd="0" presId="urn:microsoft.com/office/officeart/2008/layout/VerticalCurvedList"/>
    <dgm:cxn modelId="{E221205E-BFBD-40C5-A0C3-C21890372B93}" type="presOf" srcId="{DC44A4E8-8556-4A19-A51D-74CCF14EDD40}" destId="{DCBD6422-6BEF-419B-8240-7F735D070400}" srcOrd="0" destOrd="0" presId="urn:microsoft.com/office/officeart/2008/layout/VerticalCurvedList"/>
    <dgm:cxn modelId="{210C1564-CA29-4F2C-BF1E-B69B71B309EC}" srcId="{05E6E823-4ED7-4473-853A-10C8E3787B23}" destId="{3DA47BDE-BFBA-4B34-9893-25A87F03E7AB}" srcOrd="1" destOrd="0" parTransId="{28AA98D5-3CDC-4ECD-AD72-478A77FE0D4C}" sibTransId="{8CB75728-B3D2-4ECA-A50B-1F2DB2C24F9B}"/>
    <dgm:cxn modelId="{2FA5F845-1BC9-47DC-84A3-256E4ABD9613}" type="presOf" srcId="{05E6E823-4ED7-4473-853A-10C8E3787B23}" destId="{1B958748-419E-43B6-B5D5-4A8199263125}" srcOrd="0" destOrd="0" presId="urn:microsoft.com/office/officeart/2008/layout/VerticalCurvedList"/>
    <dgm:cxn modelId="{250CF74C-79E8-4339-9C2D-A0CA1721832E}" type="presOf" srcId="{50BDED54-6175-4184-A3F5-C02D7C2A850E}" destId="{8F48C6DC-007B-4C00-93B4-E9872913C4EF}" srcOrd="0" destOrd="0" presId="urn:microsoft.com/office/officeart/2008/layout/VerticalCurvedList"/>
    <dgm:cxn modelId="{A104B66E-7382-4EAD-8FEB-EE8478266F32}" srcId="{05E6E823-4ED7-4473-853A-10C8E3787B23}" destId="{16DEF39A-3691-49B0-A365-CCC982FDC16F}" srcOrd="2" destOrd="0" parTransId="{71C2BB97-2726-4441-B731-CD6F5C42501D}" sibTransId="{152D010C-DE0A-47C0-951D-81DB765A1541}"/>
    <dgm:cxn modelId="{82EC1886-8F7C-4DDF-8357-F501045C02A3}" type="presOf" srcId="{CCE8C3B9-F55D-4DC6-B720-74B8B2BFBA14}" destId="{F44DC9C4-99A1-405A-B32E-DCB8A70B82F2}" srcOrd="0" destOrd="0" presId="urn:microsoft.com/office/officeart/2008/layout/VerticalCurvedList"/>
    <dgm:cxn modelId="{07B7C889-29A5-465D-A817-F099019AF33E}" srcId="{05E6E823-4ED7-4473-853A-10C8E3787B23}" destId="{5FC023C8-2EC5-49DF-BB38-2FD19E87D0D0}" srcOrd="3" destOrd="0" parTransId="{8C574AC1-5A5C-4903-A6AA-A5C09215705F}" sibTransId="{2A07F33A-8EDE-4871-9D08-4B54B2527270}"/>
    <dgm:cxn modelId="{AD3E2A98-4794-4020-B23E-94ED978A2B6D}" srcId="{05E6E823-4ED7-4473-853A-10C8E3787B23}" destId="{CCE8C3B9-F55D-4DC6-B720-74B8B2BFBA14}" srcOrd="5" destOrd="0" parTransId="{4D54B392-C5AA-4C6B-B2AD-31054B5BFA09}" sibTransId="{DE211F8B-6D2A-4140-88BD-2254DA91A9B0}"/>
    <dgm:cxn modelId="{8BC574C9-2296-450C-9C37-00A5EF775F3E}" type="presOf" srcId="{5FC023C8-2EC5-49DF-BB38-2FD19E87D0D0}" destId="{2225D00A-7FB0-4716-B43A-8155A7D75783}" srcOrd="0" destOrd="0" presId="urn:microsoft.com/office/officeart/2008/layout/VerticalCurvedList"/>
    <dgm:cxn modelId="{3FBD5B3D-79EB-4DC4-B77C-FCB03AA4A769}" type="presParOf" srcId="{1B958748-419E-43B6-B5D5-4A8199263125}" destId="{8F3E3F37-D909-4183-B96F-FC2B7D844BC0}" srcOrd="0" destOrd="0" presId="urn:microsoft.com/office/officeart/2008/layout/VerticalCurvedList"/>
    <dgm:cxn modelId="{2E05A4DC-6FF9-4E57-B3F1-9F066F800EA8}" type="presParOf" srcId="{8F3E3F37-D909-4183-B96F-FC2B7D844BC0}" destId="{72D75097-B8C6-4ADF-B8C8-198331E4EB7E}" srcOrd="0" destOrd="0" presId="urn:microsoft.com/office/officeart/2008/layout/VerticalCurvedList"/>
    <dgm:cxn modelId="{70C59B85-0826-40FB-BA7B-9DB1102492C6}" type="presParOf" srcId="{72D75097-B8C6-4ADF-B8C8-198331E4EB7E}" destId="{20274D67-A13A-4CF3-A8C5-28128E0AAE3F}" srcOrd="0" destOrd="0" presId="urn:microsoft.com/office/officeart/2008/layout/VerticalCurvedList"/>
    <dgm:cxn modelId="{9145DF64-73D9-4F8F-B53D-74B63710C0A3}" type="presParOf" srcId="{72D75097-B8C6-4ADF-B8C8-198331E4EB7E}" destId="{4E0A6FB0-73AF-45CE-8EC8-16F8C54B55DD}" srcOrd="1" destOrd="0" presId="urn:microsoft.com/office/officeart/2008/layout/VerticalCurvedList"/>
    <dgm:cxn modelId="{F08157CB-2221-43FE-B171-CA65C3D38247}" type="presParOf" srcId="{72D75097-B8C6-4ADF-B8C8-198331E4EB7E}" destId="{3AF2BEC2-6FAE-4F21-8D87-B40089CC1DD4}" srcOrd="2" destOrd="0" presId="urn:microsoft.com/office/officeart/2008/layout/VerticalCurvedList"/>
    <dgm:cxn modelId="{D1E6E09A-252D-433A-B476-6FCDCF6F711C}" type="presParOf" srcId="{72D75097-B8C6-4ADF-B8C8-198331E4EB7E}" destId="{11E40168-2ED7-45AF-B75F-13A2A6E23661}" srcOrd="3" destOrd="0" presId="urn:microsoft.com/office/officeart/2008/layout/VerticalCurvedList"/>
    <dgm:cxn modelId="{6A369DB3-FF5A-462D-8B83-FCDC91F93D04}" type="presParOf" srcId="{8F3E3F37-D909-4183-B96F-FC2B7D844BC0}" destId="{B20FE525-DE05-474E-885D-F176DB630AF5}" srcOrd="1" destOrd="0" presId="urn:microsoft.com/office/officeart/2008/layout/VerticalCurvedList"/>
    <dgm:cxn modelId="{D7FD9D84-0EA1-4052-85E1-37ADD0F09412}" type="presParOf" srcId="{8F3E3F37-D909-4183-B96F-FC2B7D844BC0}" destId="{2BF8B505-5D82-47F9-A10B-024FE06F69BF}" srcOrd="2" destOrd="0" presId="urn:microsoft.com/office/officeart/2008/layout/VerticalCurvedList"/>
    <dgm:cxn modelId="{0AA7A764-6EBB-408C-B5DC-9F5FAA65C2A3}" type="presParOf" srcId="{2BF8B505-5D82-47F9-A10B-024FE06F69BF}" destId="{BECA74C0-4D84-413C-A1E6-1FEA7CECA341}" srcOrd="0" destOrd="0" presId="urn:microsoft.com/office/officeart/2008/layout/VerticalCurvedList"/>
    <dgm:cxn modelId="{FC5548D0-0D95-47E5-AAE8-B3A9EFB0F909}" type="presParOf" srcId="{8F3E3F37-D909-4183-B96F-FC2B7D844BC0}" destId="{69A4C310-9724-4B33-B084-05FF2D863B57}" srcOrd="3" destOrd="0" presId="urn:microsoft.com/office/officeart/2008/layout/VerticalCurvedList"/>
    <dgm:cxn modelId="{62588CCD-F22C-43FE-8FC9-F28B1DA42CBB}" type="presParOf" srcId="{8F3E3F37-D909-4183-B96F-FC2B7D844BC0}" destId="{6A1F51B0-14BA-4F6E-BD7C-1A6DD76C8D82}" srcOrd="4" destOrd="0" presId="urn:microsoft.com/office/officeart/2008/layout/VerticalCurvedList"/>
    <dgm:cxn modelId="{FF8CBB2D-DA3E-46C6-8428-0989161911ED}" type="presParOf" srcId="{6A1F51B0-14BA-4F6E-BD7C-1A6DD76C8D82}" destId="{7E010807-6FC6-41A3-AD3C-663939A5706F}" srcOrd="0" destOrd="0" presId="urn:microsoft.com/office/officeart/2008/layout/VerticalCurvedList"/>
    <dgm:cxn modelId="{4161D46A-64F7-43F4-AD10-DC98270E0F7B}" type="presParOf" srcId="{8F3E3F37-D909-4183-B96F-FC2B7D844BC0}" destId="{694E2DBB-CE4D-4A7E-A2D2-99ABB876C77E}" srcOrd="5" destOrd="0" presId="urn:microsoft.com/office/officeart/2008/layout/VerticalCurvedList"/>
    <dgm:cxn modelId="{E5B15F5A-27A5-4C69-BC73-103DBADBFA82}" type="presParOf" srcId="{8F3E3F37-D909-4183-B96F-FC2B7D844BC0}" destId="{C80A98C5-77A6-40AE-B7F9-0AC3411713DB}" srcOrd="6" destOrd="0" presId="urn:microsoft.com/office/officeart/2008/layout/VerticalCurvedList"/>
    <dgm:cxn modelId="{54D38B10-CF5F-4CC8-8FA9-4589ED31F213}" type="presParOf" srcId="{C80A98C5-77A6-40AE-B7F9-0AC3411713DB}" destId="{3B08BBE1-B220-40A9-90CE-A2ECE10EE6B4}" srcOrd="0" destOrd="0" presId="urn:microsoft.com/office/officeart/2008/layout/VerticalCurvedList"/>
    <dgm:cxn modelId="{FA31C3DA-9B4D-4815-8B16-67EC36F30836}" type="presParOf" srcId="{8F3E3F37-D909-4183-B96F-FC2B7D844BC0}" destId="{2225D00A-7FB0-4716-B43A-8155A7D75783}" srcOrd="7" destOrd="0" presId="urn:microsoft.com/office/officeart/2008/layout/VerticalCurvedList"/>
    <dgm:cxn modelId="{43B8D8A1-D61C-4140-903F-543C37718538}" type="presParOf" srcId="{8F3E3F37-D909-4183-B96F-FC2B7D844BC0}" destId="{1F7E9D26-8E23-47B9-9D5F-ECE545D28E71}" srcOrd="8" destOrd="0" presId="urn:microsoft.com/office/officeart/2008/layout/VerticalCurvedList"/>
    <dgm:cxn modelId="{04B3B2C1-0E89-4397-A8AF-BC3F5238DBD3}" type="presParOf" srcId="{1F7E9D26-8E23-47B9-9D5F-ECE545D28E71}" destId="{9DF8C055-1CA7-4209-85DF-6E97FCF8E502}" srcOrd="0" destOrd="0" presId="urn:microsoft.com/office/officeart/2008/layout/VerticalCurvedList"/>
    <dgm:cxn modelId="{FBD1DC2A-9597-4345-8A6C-9A217F27B7C6}" type="presParOf" srcId="{8F3E3F37-D909-4183-B96F-FC2B7D844BC0}" destId="{DCBD6422-6BEF-419B-8240-7F735D070400}" srcOrd="9" destOrd="0" presId="urn:microsoft.com/office/officeart/2008/layout/VerticalCurvedList"/>
    <dgm:cxn modelId="{851B4171-7F90-4D40-A0D5-54875C457C37}" type="presParOf" srcId="{8F3E3F37-D909-4183-B96F-FC2B7D844BC0}" destId="{B3FD3FF1-8410-40E1-994C-3CEEE4D6626B}" srcOrd="10" destOrd="0" presId="urn:microsoft.com/office/officeart/2008/layout/VerticalCurvedList"/>
    <dgm:cxn modelId="{93BBFF2D-F456-4D74-AEBD-0E9C1E78C9F8}" type="presParOf" srcId="{B3FD3FF1-8410-40E1-994C-3CEEE4D6626B}" destId="{5ED59002-42CB-41AA-B481-723441954CB5}" srcOrd="0" destOrd="0" presId="urn:microsoft.com/office/officeart/2008/layout/VerticalCurvedList"/>
    <dgm:cxn modelId="{7F8EED5C-9979-4B7F-A3EF-98D1FA7A1D95}" type="presParOf" srcId="{8F3E3F37-D909-4183-B96F-FC2B7D844BC0}" destId="{F44DC9C4-99A1-405A-B32E-DCB8A70B82F2}" srcOrd="11" destOrd="0" presId="urn:microsoft.com/office/officeart/2008/layout/VerticalCurvedList"/>
    <dgm:cxn modelId="{5DB398BF-5773-4434-87C5-6FB099E1235A}" type="presParOf" srcId="{8F3E3F37-D909-4183-B96F-FC2B7D844BC0}" destId="{EBB65E16-9A0E-475D-8BEE-D67EAC1268B9}" srcOrd="12" destOrd="0" presId="urn:microsoft.com/office/officeart/2008/layout/VerticalCurvedList"/>
    <dgm:cxn modelId="{B6208DE2-8F69-48B5-91B0-4A32BC0BED78}" type="presParOf" srcId="{EBB65E16-9A0E-475D-8BEE-D67EAC1268B9}" destId="{F7356573-1D00-4856-99A8-5D51E5A900A4}" srcOrd="0" destOrd="0" presId="urn:microsoft.com/office/officeart/2008/layout/VerticalCurvedList"/>
    <dgm:cxn modelId="{9ECC2350-BF4A-42A5-A5DE-BB39CE0B59A0}" type="presParOf" srcId="{8F3E3F37-D909-4183-B96F-FC2B7D844BC0}" destId="{8F48C6DC-007B-4C00-93B4-E9872913C4EF}" srcOrd="13" destOrd="0" presId="urn:microsoft.com/office/officeart/2008/layout/VerticalCurvedList"/>
    <dgm:cxn modelId="{F259208E-B0EF-478A-9B9F-57CC4F3F26C2}" type="presParOf" srcId="{8F3E3F37-D909-4183-B96F-FC2B7D844BC0}" destId="{649E97A8-FAA0-4218-BD8B-CC281855803F}" srcOrd="14" destOrd="0" presId="urn:microsoft.com/office/officeart/2008/layout/VerticalCurvedList"/>
    <dgm:cxn modelId="{B3B19214-0D32-4561-86C5-249C3E4F27D1}" type="presParOf" srcId="{649E97A8-FAA0-4218-BD8B-CC281855803F}" destId="{565A4F1E-7F49-44D5-8F79-2986DE0947E5}"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B8454AB-2961-4C66-8084-E1A238973D7A}"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A35DCF6B-D538-49D9-8F9D-9CCC3B3F0213}">
      <dgm:prSet phldrT="[Text]"/>
      <dgm:spPr/>
      <dgm:t>
        <a:bodyPr/>
        <a:lstStyle/>
        <a:p>
          <a:pPr>
            <a:buNone/>
          </a:pPr>
          <a:r>
            <a:rPr lang="en-US" dirty="0"/>
            <a:t>1. Use formal tone and precise vocabulary</a:t>
          </a:r>
        </a:p>
      </dgm:t>
    </dgm:pt>
    <dgm:pt modelId="{4BDAD3FB-6040-4997-9E96-2E7D2A24F98C}" type="parTrans" cxnId="{C3C209B9-338E-414D-8E00-3ADF7AA30A03}">
      <dgm:prSet/>
      <dgm:spPr/>
      <dgm:t>
        <a:bodyPr/>
        <a:lstStyle/>
        <a:p>
          <a:endParaRPr lang="en-US"/>
        </a:p>
      </dgm:t>
    </dgm:pt>
    <dgm:pt modelId="{71CA3D10-B657-4299-837C-9FF0B72EBF54}" type="sibTrans" cxnId="{C3C209B9-338E-414D-8E00-3ADF7AA30A03}">
      <dgm:prSet/>
      <dgm:spPr/>
      <dgm:t>
        <a:bodyPr/>
        <a:lstStyle/>
        <a:p>
          <a:endParaRPr lang="en-US"/>
        </a:p>
      </dgm:t>
    </dgm:pt>
    <dgm:pt modelId="{4C0F4A35-63B5-45F8-92C5-4015B1EC4F7E}">
      <dgm:prSet/>
      <dgm:spPr/>
      <dgm:t>
        <a:bodyPr/>
        <a:lstStyle/>
        <a:p>
          <a:pPr algn="just"/>
          <a:r>
            <a:rPr lang="en-US" dirty="0"/>
            <a:t>Replace casual words like "pretty well," "did better," or "okay" with exact performance metrics or evaluative terms like "satisfactory," "significant improvement," or specific numbers.</a:t>
          </a:r>
        </a:p>
      </dgm:t>
    </dgm:pt>
    <dgm:pt modelId="{BA0FC629-DF2F-4C4F-9BCE-AB7DBD5932B9}" type="parTrans" cxnId="{4501EBD5-E70B-438B-BF55-A4211D0C52BA}">
      <dgm:prSet/>
      <dgm:spPr/>
      <dgm:t>
        <a:bodyPr/>
        <a:lstStyle/>
        <a:p>
          <a:endParaRPr lang="en-US"/>
        </a:p>
      </dgm:t>
    </dgm:pt>
    <dgm:pt modelId="{CCDF988C-AF5B-4988-B3CA-7F11BF3A545E}" type="sibTrans" cxnId="{4501EBD5-E70B-438B-BF55-A4211D0C52BA}">
      <dgm:prSet/>
      <dgm:spPr/>
      <dgm:t>
        <a:bodyPr/>
        <a:lstStyle/>
        <a:p>
          <a:endParaRPr lang="en-US"/>
        </a:p>
      </dgm:t>
    </dgm:pt>
    <dgm:pt modelId="{43923A70-6195-4CB0-82BB-638B38613FB2}">
      <dgm:prSet/>
      <dgm:spPr/>
      <dgm:t>
        <a:bodyPr/>
        <a:lstStyle/>
        <a:p>
          <a:pPr algn="just"/>
          <a:r>
            <a:rPr lang="en-US" dirty="0"/>
            <a:t>Use technical terms correctly, e.g., "imputation" instead of "filling in missing values," "regularization" for overfitting prevention.</a:t>
          </a:r>
        </a:p>
      </dgm:t>
    </dgm:pt>
    <dgm:pt modelId="{F9441371-1DCD-4A61-8E16-818668047429}" type="parTrans" cxnId="{4DBE7092-2F22-488E-9B3B-640379C70FE1}">
      <dgm:prSet/>
      <dgm:spPr/>
      <dgm:t>
        <a:bodyPr/>
        <a:lstStyle/>
        <a:p>
          <a:endParaRPr lang="en-US"/>
        </a:p>
      </dgm:t>
    </dgm:pt>
    <dgm:pt modelId="{34F3E4AB-01A9-48DA-8AAD-DF8142181E21}" type="sibTrans" cxnId="{4DBE7092-2F22-488E-9B3B-640379C70FE1}">
      <dgm:prSet/>
      <dgm:spPr/>
      <dgm:t>
        <a:bodyPr/>
        <a:lstStyle/>
        <a:p>
          <a:endParaRPr lang="en-US"/>
        </a:p>
      </dgm:t>
    </dgm:pt>
    <dgm:pt modelId="{C4E035D5-9F38-4769-84F7-16C1EF5B4652}">
      <dgm:prSet/>
      <dgm:spPr/>
      <dgm:t>
        <a:bodyPr/>
        <a:lstStyle/>
        <a:p>
          <a:pPr algn="just"/>
          <a:r>
            <a:rPr lang="en-US"/>
            <a:t>2. Prefer passive voice or objective phrasing</a:t>
          </a:r>
          <a:endParaRPr lang="en-US" dirty="0"/>
        </a:p>
      </dgm:t>
    </dgm:pt>
    <dgm:pt modelId="{D387B617-7536-4A3D-9CD9-63CDE76E34A9}" type="parTrans" cxnId="{384011DD-B7C4-4E55-9F99-6716B9E5CCFE}">
      <dgm:prSet/>
      <dgm:spPr/>
      <dgm:t>
        <a:bodyPr/>
        <a:lstStyle/>
        <a:p>
          <a:endParaRPr lang="en-US"/>
        </a:p>
      </dgm:t>
    </dgm:pt>
    <dgm:pt modelId="{2D043BDD-6E1A-47B7-BC5C-5E2FE59C805F}" type="sibTrans" cxnId="{384011DD-B7C4-4E55-9F99-6716B9E5CCFE}">
      <dgm:prSet/>
      <dgm:spPr/>
      <dgm:t>
        <a:bodyPr/>
        <a:lstStyle/>
        <a:p>
          <a:endParaRPr lang="en-US"/>
        </a:p>
      </dgm:t>
    </dgm:pt>
    <dgm:pt modelId="{6ADBB91A-2448-43AE-998D-31A805B8385A}">
      <dgm:prSet/>
      <dgm:spPr/>
      <dgm:t>
        <a:bodyPr/>
        <a:lstStyle/>
        <a:p>
          <a:pPr algn="just"/>
          <a:r>
            <a:rPr lang="en-US" dirty="0"/>
            <a:t>Instead of "We tried," use "A model was applied" or "The algorithm was implemented."</a:t>
          </a:r>
          <a:br>
            <a:rPr lang="en-US" dirty="0"/>
          </a:br>
          <a:r>
            <a:rPr lang="en-US" dirty="0"/>
            <a:t>This shifts the focus to the process and results rather than the researcher.</a:t>
          </a:r>
        </a:p>
      </dgm:t>
    </dgm:pt>
    <dgm:pt modelId="{703FA9FE-696D-48EB-91ED-F4EABB53446A}" type="parTrans" cxnId="{70E0C144-262E-4896-A433-8BAC6BE43452}">
      <dgm:prSet/>
      <dgm:spPr/>
      <dgm:t>
        <a:bodyPr/>
        <a:lstStyle/>
        <a:p>
          <a:endParaRPr lang="en-US"/>
        </a:p>
      </dgm:t>
    </dgm:pt>
    <dgm:pt modelId="{82CF83DD-75A2-4AC0-8D14-9E389B63CBA3}" type="sibTrans" cxnId="{70E0C144-262E-4896-A433-8BAC6BE43452}">
      <dgm:prSet/>
      <dgm:spPr/>
      <dgm:t>
        <a:bodyPr/>
        <a:lstStyle/>
        <a:p>
          <a:endParaRPr lang="en-US"/>
        </a:p>
      </dgm:t>
    </dgm:pt>
    <dgm:pt modelId="{3136F5C2-D019-456D-B63B-0050105DE3DA}">
      <dgm:prSet/>
      <dgm:spPr/>
      <dgm:t>
        <a:bodyPr/>
        <a:lstStyle/>
        <a:p>
          <a:pPr algn="just"/>
          <a:r>
            <a:rPr lang="en-US"/>
            <a:t>3. Be concise and clear</a:t>
          </a:r>
          <a:endParaRPr lang="en-US" dirty="0"/>
        </a:p>
      </dgm:t>
    </dgm:pt>
    <dgm:pt modelId="{B644F5EC-5A5C-46D8-8135-5B6C1F75B78D}" type="parTrans" cxnId="{C935604C-98FD-409F-ACB2-CC2E00F7C678}">
      <dgm:prSet/>
      <dgm:spPr/>
      <dgm:t>
        <a:bodyPr/>
        <a:lstStyle/>
        <a:p>
          <a:endParaRPr lang="en-US"/>
        </a:p>
      </dgm:t>
    </dgm:pt>
    <dgm:pt modelId="{000DE265-F9D0-4225-808C-68804BB8750E}" type="sibTrans" cxnId="{C935604C-98FD-409F-ACB2-CC2E00F7C678}">
      <dgm:prSet/>
      <dgm:spPr/>
      <dgm:t>
        <a:bodyPr/>
        <a:lstStyle/>
        <a:p>
          <a:endParaRPr lang="en-US"/>
        </a:p>
      </dgm:t>
    </dgm:pt>
    <dgm:pt modelId="{E886DCCF-0C27-4116-84C9-E2DBB521B13D}">
      <dgm:prSet/>
      <dgm:spPr/>
      <dgm:t>
        <a:bodyPr/>
        <a:lstStyle/>
        <a:p>
          <a:pPr algn="just"/>
          <a:r>
            <a:rPr lang="en-US" dirty="0"/>
            <a:t>Avoid unnecessary words. For example, "The model’s accuracy was approximately 85%" is clearer than "it worked pretty well with an accuracy around 85%."</a:t>
          </a:r>
        </a:p>
      </dgm:t>
    </dgm:pt>
    <dgm:pt modelId="{A44C6702-449E-48C3-AAFE-27D8F2CD1BDE}" type="parTrans" cxnId="{4AD0E6C9-A670-4313-8E42-E5C42A36D4ED}">
      <dgm:prSet/>
      <dgm:spPr/>
      <dgm:t>
        <a:bodyPr/>
        <a:lstStyle/>
        <a:p>
          <a:endParaRPr lang="en-US"/>
        </a:p>
      </dgm:t>
    </dgm:pt>
    <dgm:pt modelId="{B7AFA8CF-41AF-4030-B7F4-A09ECDBD3614}" type="sibTrans" cxnId="{4AD0E6C9-A670-4313-8E42-E5C42A36D4ED}">
      <dgm:prSet/>
      <dgm:spPr/>
      <dgm:t>
        <a:bodyPr/>
        <a:lstStyle/>
        <a:p>
          <a:endParaRPr lang="en-US"/>
        </a:p>
      </dgm:t>
    </dgm:pt>
    <dgm:pt modelId="{DC9E06A4-50E4-43DE-9C24-F8351D9A6755}">
      <dgm:prSet/>
      <dgm:spPr/>
      <dgm:t>
        <a:bodyPr/>
        <a:lstStyle/>
        <a:p>
          <a:pPr algn="just"/>
          <a:r>
            <a:rPr lang="en-US"/>
            <a:t>4. Describe methods and results explicitly</a:t>
          </a:r>
          <a:endParaRPr lang="en-US" dirty="0"/>
        </a:p>
      </dgm:t>
    </dgm:pt>
    <dgm:pt modelId="{746B8015-C840-4C0B-8C27-C5016B639B4E}" type="parTrans" cxnId="{5387542D-09C9-46F9-A9F8-BCAB43CAE05E}">
      <dgm:prSet/>
      <dgm:spPr/>
      <dgm:t>
        <a:bodyPr/>
        <a:lstStyle/>
        <a:p>
          <a:endParaRPr lang="en-US"/>
        </a:p>
      </dgm:t>
    </dgm:pt>
    <dgm:pt modelId="{611E0E21-A116-461D-8AC8-E2B0B9C414E9}" type="sibTrans" cxnId="{5387542D-09C9-46F9-A9F8-BCAB43CAE05E}">
      <dgm:prSet/>
      <dgm:spPr/>
      <dgm:t>
        <a:bodyPr/>
        <a:lstStyle/>
        <a:p>
          <a:endParaRPr lang="en-US"/>
        </a:p>
      </dgm:t>
    </dgm:pt>
    <dgm:pt modelId="{B20DC9FF-E448-4A73-BC8B-7D2EB1605DD0}">
      <dgm:prSet/>
      <dgm:spPr/>
      <dgm:t>
        <a:bodyPr/>
        <a:lstStyle/>
        <a:p>
          <a:pPr algn="just"/>
          <a:r>
            <a:rPr lang="en-US" dirty="0"/>
            <a:t>Specify what was done and what was found, e.g., "Missing data were imputed using mean substitution" rather than "we filled those in with the average."</a:t>
          </a:r>
        </a:p>
      </dgm:t>
    </dgm:pt>
    <dgm:pt modelId="{3CB30EFF-471B-4469-ABE2-750550496763}" type="parTrans" cxnId="{A191B396-CF13-4D61-9F92-6572FFDF0237}">
      <dgm:prSet/>
      <dgm:spPr/>
      <dgm:t>
        <a:bodyPr/>
        <a:lstStyle/>
        <a:p>
          <a:endParaRPr lang="en-US"/>
        </a:p>
      </dgm:t>
    </dgm:pt>
    <dgm:pt modelId="{0A5E1C20-D9D7-490A-A96E-561A8102CADA}" type="sibTrans" cxnId="{A191B396-CF13-4D61-9F92-6572FFDF0237}">
      <dgm:prSet/>
      <dgm:spPr/>
      <dgm:t>
        <a:bodyPr/>
        <a:lstStyle/>
        <a:p>
          <a:endParaRPr lang="en-US"/>
        </a:p>
      </dgm:t>
    </dgm:pt>
    <dgm:pt modelId="{0092721B-2DD4-4420-B536-7CD7CCB05FDD}">
      <dgm:prSet/>
      <dgm:spPr/>
      <dgm:t>
        <a:bodyPr/>
        <a:lstStyle/>
        <a:p>
          <a:pPr algn="just"/>
          <a:r>
            <a:rPr lang="en-US" dirty="0"/>
            <a:t>5. Avoid contractions and slang expressions</a:t>
          </a:r>
        </a:p>
      </dgm:t>
    </dgm:pt>
    <dgm:pt modelId="{86D9423F-AF21-49CA-9701-97EF3B2980CA}" type="parTrans" cxnId="{653EF36B-7688-44CE-ADC3-746CE92C243A}">
      <dgm:prSet/>
      <dgm:spPr/>
      <dgm:t>
        <a:bodyPr/>
        <a:lstStyle/>
        <a:p>
          <a:endParaRPr lang="en-US"/>
        </a:p>
      </dgm:t>
    </dgm:pt>
    <dgm:pt modelId="{875C87B9-C1D7-41EE-8AC5-B43261C0FB0D}" type="sibTrans" cxnId="{653EF36B-7688-44CE-ADC3-746CE92C243A}">
      <dgm:prSet/>
      <dgm:spPr/>
      <dgm:t>
        <a:bodyPr/>
        <a:lstStyle/>
        <a:p>
          <a:endParaRPr lang="en-US"/>
        </a:p>
      </dgm:t>
    </dgm:pt>
    <dgm:pt modelId="{F8CB510F-E4F4-4EE6-A26B-FCA78409379D}">
      <dgm:prSet/>
      <dgm:spPr/>
      <dgm:t>
        <a:bodyPr/>
        <a:lstStyle/>
        <a:p>
          <a:pPr algn="just"/>
          <a:r>
            <a:rPr lang="en-US" dirty="0"/>
            <a:t>Use "did not" instead of "didn’t," "cannot" instead of "can’t."</a:t>
          </a:r>
        </a:p>
      </dgm:t>
    </dgm:pt>
    <dgm:pt modelId="{3B30229B-CAC9-44A1-BEA5-0BFE8DD45C9B}" type="parTrans" cxnId="{0195C32B-CA1C-478D-895E-EDB17A8C1E59}">
      <dgm:prSet/>
      <dgm:spPr/>
      <dgm:t>
        <a:bodyPr/>
        <a:lstStyle/>
        <a:p>
          <a:endParaRPr lang="en-US"/>
        </a:p>
      </dgm:t>
    </dgm:pt>
    <dgm:pt modelId="{272DFF67-69E2-4957-91E5-5B3BE36C6043}" type="sibTrans" cxnId="{0195C32B-CA1C-478D-895E-EDB17A8C1E59}">
      <dgm:prSet/>
      <dgm:spPr/>
      <dgm:t>
        <a:bodyPr/>
        <a:lstStyle/>
        <a:p>
          <a:endParaRPr lang="en-US"/>
        </a:p>
      </dgm:t>
    </dgm:pt>
    <dgm:pt modelId="{D263B60B-DD6C-43C8-A073-1623F5D8BB42}" type="pres">
      <dgm:prSet presAssocID="{FB8454AB-2961-4C66-8084-E1A238973D7A}" presName="linear" presStyleCnt="0">
        <dgm:presLayoutVars>
          <dgm:animLvl val="lvl"/>
          <dgm:resizeHandles val="exact"/>
        </dgm:presLayoutVars>
      </dgm:prSet>
      <dgm:spPr/>
    </dgm:pt>
    <dgm:pt modelId="{5BDE7B1F-CDB1-432F-8134-73004D3E44CC}" type="pres">
      <dgm:prSet presAssocID="{A35DCF6B-D538-49D9-8F9D-9CCC3B3F0213}" presName="parentText" presStyleLbl="node1" presStyleIdx="0" presStyleCnt="5">
        <dgm:presLayoutVars>
          <dgm:chMax val="0"/>
          <dgm:bulletEnabled val="1"/>
        </dgm:presLayoutVars>
      </dgm:prSet>
      <dgm:spPr/>
    </dgm:pt>
    <dgm:pt modelId="{EEA73676-6253-4897-A120-C7536A821E2C}" type="pres">
      <dgm:prSet presAssocID="{A35DCF6B-D538-49D9-8F9D-9CCC3B3F0213}" presName="childText" presStyleLbl="revTx" presStyleIdx="0" presStyleCnt="5">
        <dgm:presLayoutVars>
          <dgm:bulletEnabled val="1"/>
        </dgm:presLayoutVars>
      </dgm:prSet>
      <dgm:spPr/>
    </dgm:pt>
    <dgm:pt modelId="{B52F4834-FB52-470A-80CF-A223CB4A7296}" type="pres">
      <dgm:prSet presAssocID="{C4E035D5-9F38-4769-84F7-16C1EF5B4652}" presName="parentText" presStyleLbl="node1" presStyleIdx="1" presStyleCnt="5">
        <dgm:presLayoutVars>
          <dgm:chMax val="0"/>
          <dgm:bulletEnabled val="1"/>
        </dgm:presLayoutVars>
      </dgm:prSet>
      <dgm:spPr/>
    </dgm:pt>
    <dgm:pt modelId="{05A50745-6B4C-4526-9C19-2A9A311D0B94}" type="pres">
      <dgm:prSet presAssocID="{C4E035D5-9F38-4769-84F7-16C1EF5B4652}" presName="childText" presStyleLbl="revTx" presStyleIdx="1" presStyleCnt="5">
        <dgm:presLayoutVars>
          <dgm:bulletEnabled val="1"/>
        </dgm:presLayoutVars>
      </dgm:prSet>
      <dgm:spPr/>
    </dgm:pt>
    <dgm:pt modelId="{722D6DE5-FA0B-434F-B3DA-683A370AB589}" type="pres">
      <dgm:prSet presAssocID="{3136F5C2-D019-456D-B63B-0050105DE3DA}" presName="parentText" presStyleLbl="node1" presStyleIdx="2" presStyleCnt="5">
        <dgm:presLayoutVars>
          <dgm:chMax val="0"/>
          <dgm:bulletEnabled val="1"/>
        </dgm:presLayoutVars>
      </dgm:prSet>
      <dgm:spPr/>
    </dgm:pt>
    <dgm:pt modelId="{829CB581-1EA3-4A31-8B87-6CA1407E60AA}" type="pres">
      <dgm:prSet presAssocID="{3136F5C2-D019-456D-B63B-0050105DE3DA}" presName="childText" presStyleLbl="revTx" presStyleIdx="2" presStyleCnt="5">
        <dgm:presLayoutVars>
          <dgm:bulletEnabled val="1"/>
        </dgm:presLayoutVars>
      </dgm:prSet>
      <dgm:spPr/>
    </dgm:pt>
    <dgm:pt modelId="{AC4055C5-8365-4A08-AEEE-094AEA24E78C}" type="pres">
      <dgm:prSet presAssocID="{DC9E06A4-50E4-43DE-9C24-F8351D9A6755}" presName="parentText" presStyleLbl="node1" presStyleIdx="3" presStyleCnt="5">
        <dgm:presLayoutVars>
          <dgm:chMax val="0"/>
          <dgm:bulletEnabled val="1"/>
        </dgm:presLayoutVars>
      </dgm:prSet>
      <dgm:spPr/>
    </dgm:pt>
    <dgm:pt modelId="{46ED2226-250F-4A13-B9A5-4CA48A265F51}" type="pres">
      <dgm:prSet presAssocID="{DC9E06A4-50E4-43DE-9C24-F8351D9A6755}" presName="childText" presStyleLbl="revTx" presStyleIdx="3" presStyleCnt="5">
        <dgm:presLayoutVars>
          <dgm:bulletEnabled val="1"/>
        </dgm:presLayoutVars>
      </dgm:prSet>
      <dgm:spPr/>
    </dgm:pt>
    <dgm:pt modelId="{4E68AE6E-20B9-4A56-B1EF-66C811FA072E}" type="pres">
      <dgm:prSet presAssocID="{0092721B-2DD4-4420-B536-7CD7CCB05FDD}" presName="parentText" presStyleLbl="node1" presStyleIdx="4" presStyleCnt="5">
        <dgm:presLayoutVars>
          <dgm:chMax val="0"/>
          <dgm:bulletEnabled val="1"/>
        </dgm:presLayoutVars>
      </dgm:prSet>
      <dgm:spPr/>
    </dgm:pt>
    <dgm:pt modelId="{5C5A46AF-3680-4554-ADE6-C2F367667B46}" type="pres">
      <dgm:prSet presAssocID="{0092721B-2DD4-4420-B536-7CD7CCB05FDD}" presName="childText" presStyleLbl="revTx" presStyleIdx="4" presStyleCnt="5">
        <dgm:presLayoutVars>
          <dgm:bulletEnabled val="1"/>
        </dgm:presLayoutVars>
      </dgm:prSet>
      <dgm:spPr/>
    </dgm:pt>
  </dgm:ptLst>
  <dgm:cxnLst>
    <dgm:cxn modelId="{5F90731A-456F-441E-AC29-D1A6AECDBBDD}" type="presOf" srcId="{0092721B-2DD4-4420-B536-7CD7CCB05FDD}" destId="{4E68AE6E-20B9-4A56-B1EF-66C811FA072E}" srcOrd="0" destOrd="0" presId="urn:microsoft.com/office/officeart/2005/8/layout/vList2"/>
    <dgm:cxn modelId="{0195C32B-CA1C-478D-895E-EDB17A8C1E59}" srcId="{0092721B-2DD4-4420-B536-7CD7CCB05FDD}" destId="{F8CB510F-E4F4-4EE6-A26B-FCA78409379D}" srcOrd="0" destOrd="0" parTransId="{3B30229B-CAC9-44A1-BEA5-0BFE8DD45C9B}" sibTransId="{272DFF67-69E2-4957-91E5-5B3BE36C6043}"/>
    <dgm:cxn modelId="{5387542D-09C9-46F9-A9F8-BCAB43CAE05E}" srcId="{FB8454AB-2961-4C66-8084-E1A238973D7A}" destId="{DC9E06A4-50E4-43DE-9C24-F8351D9A6755}" srcOrd="3" destOrd="0" parTransId="{746B8015-C840-4C0B-8C27-C5016B639B4E}" sibTransId="{611E0E21-A116-461D-8AC8-E2B0B9C414E9}"/>
    <dgm:cxn modelId="{233ADF2E-3BD1-45C6-A6BB-14A6E5CAF36F}" type="presOf" srcId="{3136F5C2-D019-456D-B63B-0050105DE3DA}" destId="{722D6DE5-FA0B-434F-B3DA-683A370AB589}" srcOrd="0" destOrd="0" presId="urn:microsoft.com/office/officeart/2005/8/layout/vList2"/>
    <dgm:cxn modelId="{8B4F4A34-65D4-4867-93D0-CF014086D1B7}" type="presOf" srcId="{4C0F4A35-63B5-45F8-92C5-4015B1EC4F7E}" destId="{EEA73676-6253-4897-A120-C7536A821E2C}" srcOrd="0" destOrd="0" presId="urn:microsoft.com/office/officeart/2005/8/layout/vList2"/>
    <dgm:cxn modelId="{70E0C144-262E-4896-A433-8BAC6BE43452}" srcId="{C4E035D5-9F38-4769-84F7-16C1EF5B4652}" destId="{6ADBB91A-2448-43AE-998D-31A805B8385A}" srcOrd="0" destOrd="0" parTransId="{703FA9FE-696D-48EB-91ED-F4EABB53446A}" sibTransId="{82CF83DD-75A2-4AC0-8D14-9E389B63CBA3}"/>
    <dgm:cxn modelId="{09A1A448-B1D7-4AF4-A197-B2464C1851CE}" type="presOf" srcId="{A35DCF6B-D538-49D9-8F9D-9CCC3B3F0213}" destId="{5BDE7B1F-CDB1-432F-8134-73004D3E44CC}" srcOrd="0" destOrd="0" presId="urn:microsoft.com/office/officeart/2005/8/layout/vList2"/>
    <dgm:cxn modelId="{DBF1EF6B-8461-42C0-AC2D-62B69294B8A3}" type="presOf" srcId="{FB8454AB-2961-4C66-8084-E1A238973D7A}" destId="{D263B60B-DD6C-43C8-A073-1623F5D8BB42}" srcOrd="0" destOrd="0" presId="urn:microsoft.com/office/officeart/2005/8/layout/vList2"/>
    <dgm:cxn modelId="{653EF36B-7688-44CE-ADC3-746CE92C243A}" srcId="{FB8454AB-2961-4C66-8084-E1A238973D7A}" destId="{0092721B-2DD4-4420-B536-7CD7CCB05FDD}" srcOrd="4" destOrd="0" parTransId="{86D9423F-AF21-49CA-9701-97EF3B2980CA}" sibTransId="{875C87B9-C1D7-41EE-8AC5-B43261C0FB0D}"/>
    <dgm:cxn modelId="{37B3146C-97D1-4F1D-A153-3DFF0BA3DCD6}" type="presOf" srcId="{F8CB510F-E4F4-4EE6-A26B-FCA78409379D}" destId="{5C5A46AF-3680-4554-ADE6-C2F367667B46}" srcOrd="0" destOrd="0" presId="urn:microsoft.com/office/officeart/2005/8/layout/vList2"/>
    <dgm:cxn modelId="{C935604C-98FD-409F-ACB2-CC2E00F7C678}" srcId="{FB8454AB-2961-4C66-8084-E1A238973D7A}" destId="{3136F5C2-D019-456D-B63B-0050105DE3DA}" srcOrd="2" destOrd="0" parTransId="{B644F5EC-5A5C-46D8-8135-5B6C1F75B78D}" sibTransId="{000DE265-F9D0-4225-808C-68804BB8750E}"/>
    <dgm:cxn modelId="{5B397270-8CF1-4E07-A4F0-A37EAE9C2EA1}" type="presOf" srcId="{DC9E06A4-50E4-43DE-9C24-F8351D9A6755}" destId="{AC4055C5-8365-4A08-AEEE-094AEA24E78C}" srcOrd="0" destOrd="0" presId="urn:microsoft.com/office/officeart/2005/8/layout/vList2"/>
    <dgm:cxn modelId="{B1B3267E-AD20-4966-995C-26C3F3EC8436}" type="presOf" srcId="{B20DC9FF-E448-4A73-BC8B-7D2EB1605DD0}" destId="{46ED2226-250F-4A13-B9A5-4CA48A265F51}" srcOrd="0" destOrd="0" presId="urn:microsoft.com/office/officeart/2005/8/layout/vList2"/>
    <dgm:cxn modelId="{4DBE7092-2F22-488E-9B3B-640379C70FE1}" srcId="{A35DCF6B-D538-49D9-8F9D-9CCC3B3F0213}" destId="{43923A70-6195-4CB0-82BB-638B38613FB2}" srcOrd="1" destOrd="0" parTransId="{F9441371-1DCD-4A61-8E16-818668047429}" sibTransId="{34F3E4AB-01A9-48DA-8AAD-DF8142181E21}"/>
    <dgm:cxn modelId="{A191B396-CF13-4D61-9F92-6572FFDF0237}" srcId="{DC9E06A4-50E4-43DE-9C24-F8351D9A6755}" destId="{B20DC9FF-E448-4A73-BC8B-7D2EB1605DD0}" srcOrd="0" destOrd="0" parTransId="{3CB30EFF-471B-4469-ABE2-750550496763}" sibTransId="{0A5E1C20-D9D7-490A-A96E-561A8102CADA}"/>
    <dgm:cxn modelId="{C1E939A3-461F-410E-B9FE-029FD0C2FAC1}" type="presOf" srcId="{E886DCCF-0C27-4116-84C9-E2DBB521B13D}" destId="{829CB581-1EA3-4A31-8B87-6CA1407E60AA}" srcOrd="0" destOrd="0" presId="urn:microsoft.com/office/officeart/2005/8/layout/vList2"/>
    <dgm:cxn modelId="{C3C209B9-338E-414D-8E00-3ADF7AA30A03}" srcId="{FB8454AB-2961-4C66-8084-E1A238973D7A}" destId="{A35DCF6B-D538-49D9-8F9D-9CCC3B3F0213}" srcOrd="0" destOrd="0" parTransId="{4BDAD3FB-6040-4997-9E96-2E7D2A24F98C}" sibTransId="{71CA3D10-B657-4299-837C-9FF0B72EBF54}"/>
    <dgm:cxn modelId="{4AD0E6C9-A670-4313-8E42-E5C42A36D4ED}" srcId="{3136F5C2-D019-456D-B63B-0050105DE3DA}" destId="{E886DCCF-0C27-4116-84C9-E2DBB521B13D}" srcOrd="0" destOrd="0" parTransId="{A44C6702-449E-48C3-AAFE-27D8F2CD1BDE}" sibTransId="{B7AFA8CF-41AF-4030-B7F4-A09ECDBD3614}"/>
    <dgm:cxn modelId="{4501EBD5-E70B-438B-BF55-A4211D0C52BA}" srcId="{A35DCF6B-D538-49D9-8F9D-9CCC3B3F0213}" destId="{4C0F4A35-63B5-45F8-92C5-4015B1EC4F7E}" srcOrd="0" destOrd="0" parTransId="{BA0FC629-DF2F-4C4F-9BCE-AB7DBD5932B9}" sibTransId="{CCDF988C-AF5B-4988-B3CA-7F11BF3A545E}"/>
    <dgm:cxn modelId="{C88E53D7-AF2C-414C-8D28-D96388CA1579}" type="presOf" srcId="{C4E035D5-9F38-4769-84F7-16C1EF5B4652}" destId="{B52F4834-FB52-470A-80CF-A223CB4A7296}" srcOrd="0" destOrd="0" presId="urn:microsoft.com/office/officeart/2005/8/layout/vList2"/>
    <dgm:cxn modelId="{384011DD-B7C4-4E55-9F99-6716B9E5CCFE}" srcId="{FB8454AB-2961-4C66-8084-E1A238973D7A}" destId="{C4E035D5-9F38-4769-84F7-16C1EF5B4652}" srcOrd="1" destOrd="0" parTransId="{D387B617-7536-4A3D-9CD9-63CDE76E34A9}" sibTransId="{2D043BDD-6E1A-47B7-BC5C-5E2FE59C805F}"/>
    <dgm:cxn modelId="{DA9BEEF8-B4E8-4AD3-91D1-D24EB5087858}" type="presOf" srcId="{6ADBB91A-2448-43AE-998D-31A805B8385A}" destId="{05A50745-6B4C-4526-9C19-2A9A311D0B94}" srcOrd="0" destOrd="0" presId="urn:microsoft.com/office/officeart/2005/8/layout/vList2"/>
    <dgm:cxn modelId="{BA275AFA-A319-42C9-9A7F-BF30A185AF5F}" type="presOf" srcId="{43923A70-6195-4CB0-82BB-638B38613FB2}" destId="{EEA73676-6253-4897-A120-C7536A821E2C}" srcOrd="0" destOrd="1" presId="urn:microsoft.com/office/officeart/2005/8/layout/vList2"/>
    <dgm:cxn modelId="{87B6CEFD-020E-4D34-8EC5-BE7037DF5B5A}" type="presParOf" srcId="{D263B60B-DD6C-43C8-A073-1623F5D8BB42}" destId="{5BDE7B1F-CDB1-432F-8134-73004D3E44CC}" srcOrd="0" destOrd="0" presId="urn:microsoft.com/office/officeart/2005/8/layout/vList2"/>
    <dgm:cxn modelId="{EF4C4346-6EE4-4928-8947-33D2E0E84105}" type="presParOf" srcId="{D263B60B-DD6C-43C8-A073-1623F5D8BB42}" destId="{EEA73676-6253-4897-A120-C7536A821E2C}" srcOrd="1" destOrd="0" presId="urn:microsoft.com/office/officeart/2005/8/layout/vList2"/>
    <dgm:cxn modelId="{FEC66616-EA9A-4A82-9BF1-124062FA4A2E}" type="presParOf" srcId="{D263B60B-DD6C-43C8-A073-1623F5D8BB42}" destId="{B52F4834-FB52-470A-80CF-A223CB4A7296}" srcOrd="2" destOrd="0" presId="urn:microsoft.com/office/officeart/2005/8/layout/vList2"/>
    <dgm:cxn modelId="{23887BA4-A884-461E-A6C4-C2A900AEEA63}" type="presParOf" srcId="{D263B60B-DD6C-43C8-A073-1623F5D8BB42}" destId="{05A50745-6B4C-4526-9C19-2A9A311D0B94}" srcOrd="3" destOrd="0" presId="urn:microsoft.com/office/officeart/2005/8/layout/vList2"/>
    <dgm:cxn modelId="{7E173439-AF93-4631-8A53-21D454CFA71F}" type="presParOf" srcId="{D263B60B-DD6C-43C8-A073-1623F5D8BB42}" destId="{722D6DE5-FA0B-434F-B3DA-683A370AB589}" srcOrd="4" destOrd="0" presId="urn:microsoft.com/office/officeart/2005/8/layout/vList2"/>
    <dgm:cxn modelId="{7959516E-E05B-44C4-A437-F3D1998FA831}" type="presParOf" srcId="{D263B60B-DD6C-43C8-A073-1623F5D8BB42}" destId="{829CB581-1EA3-4A31-8B87-6CA1407E60AA}" srcOrd="5" destOrd="0" presId="urn:microsoft.com/office/officeart/2005/8/layout/vList2"/>
    <dgm:cxn modelId="{B34CFAF9-CFA3-40FA-9504-D99D9881003B}" type="presParOf" srcId="{D263B60B-DD6C-43C8-A073-1623F5D8BB42}" destId="{AC4055C5-8365-4A08-AEEE-094AEA24E78C}" srcOrd="6" destOrd="0" presId="urn:microsoft.com/office/officeart/2005/8/layout/vList2"/>
    <dgm:cxn modelId="{AAF4834A-DDF5-4F9D-83D9-A204AADA67D3}" type="presParOf" srcId="{D263B60B-DD6C-43C8-A073-1623F5D8BB42}" destId="{46ED2226-250F-4A13-B9A5-4CA48A265F51}" srcOrd="7" destOrd="0" presId="urn:microsoft.com/office/officeart/2005/8/layout/vList2"/>
    <dgm:cxn modelId="{52BE9889-3C0A-493D-BE3B-5DBE9A065074}" type="presParOf" srcId="{D263B60B-DD6C-43C8-A073-1623F5D8BB42}" destId="{4E68AE6E-20B9-4A56-B1EF-66C811FA072E}" srcOrd="8" destOrd="0" presId="urn:microsoft.com/office/officeart/2005/8/layout/vList2"/>
    <dgm:cxn modelId="{4C021B12-0CB4-44E3-B460-E9D69588D729}" type="presParOf" srcId="{D263B60B-DD6C-43C8-A073-1623F5D8BB42}" destId="{5C5A46AF-3680-4554-ADE6-C2F367667B46}" srcOrd="9"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0A6FB0-73AF-45CE-8EC8-16F8C54B55DD}">
      <dsp:nvSpPr>
        <dsp:cNvPr id="0" name=""/>
        <dsp:cNvSpPr/>
      </dsp:nvSpPr>
      <dsp:spPr>
        <a:xfrm>
          <a:off x="-5787001" y="-886259"/>
          <a:ext cx="6893793" cy="6893793"/>
        </a:xfrm>
        <a:prstGeom prst="blockArc">
          <a:avLst>
            <a:gd name="adj1" fmla="val 18900000"/>
            <a:gd name="adj2" fmla="val 2700000"/>
            <a:gd name="adj3" fmla="val 313"/>
          </a:avLst>
        </a:prstGeom>
        <a:noFill/>
        <a:ln w="1079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20FE525-DE05-474E-885D-F176DB630AF5}">
      <dsp:nvSpPr>
        <dsp:cNvPr id="0" name=""/>
        <dsp:cNvSpPr/>
      </dsp:nvSpPr>
      <dsp:spPr>
        <a:xfrm>
          <a:off x="359257" y="232813"/>
          <a:ext cx="6887573" cy="465421"/>
        </a:xfrm>
        <a:prstGeom prst="rect">
          <a:avLst/>
        </a:prstGeom>
        <a:solidFill>
          <a:schemeClr val="lt1">
            <a:hueOff val="0"/>
            <a:satOff val="0"/>
            <a:lumOff val="0"/>
            <a:alphaOff val="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69428" tIns="60960" rIns="60960" bIns="60960" numCol="1" spcCol="1270" anchor="ctr" anchorCtr="0">
          <a:noAutofit/>
        </a:bodyPr>
        <a:lstStyle/>
        <a:p>
          <a:pPr marL="0" lvl="0" indent="0" algn="l" defTabSz="1066800">
            <a:lnSpc>
              <a:spcPct val="90000"/>
            </a:lnSpc>
            <a:spcBef>
              <a:spcPct val="0"/>
            </a:spcBef>
            <a:spcAft>
              <a:spcPct val="35000"/>
            </a:spcAft>
            <a:buNone/>
          </a:pPr>
          <a:r>
            <a:rPr lang="en-US" sz="2400" kern="1200" dirty="0"/>
            <a:t>Introduction to scientific and professional English</a:t>
          </a:r>
        </a:p>
      </dsp:txBody>
      <dsp:txXfrm>
        <a:off x="359257" y="232813"/>
        <a:ext cx="6887573" cy="465421"/>
      </dsp:txXfrm>
    </dsp:sp>
    <dsp:sp modelId="{BECA74C0-4D84-413C-A1E6-1FEA7CECA341}">
      <dsp:nvSpPr>
        <dsp:cNvPr id="0" name=""/>
        <dsp:cNvSpPr/>
      </dsp:nvSpPr>
      <dsp:spPr>
        <a:xfrm>
          <a:off x="68369" y="174635"/>
          <a:ext cx="581776" cy="581776"/>
        </a:xfrm>
        <a:prstGeom prst="ellipse">
          <a:avLst/>
        </a:prstGeom>
        <a:solidFill>
          <a:schemeClr val="lt1">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2">
          <a:scrgbClr r="0" g="0" b="0"/>
        </a:fillRef>
        <a:effectRef idx="0">
          <a:scrgbClr r="0" g="0" b="0"/>
        </a:effectRef>
        <a:fontRef idx="minor"/>
      </dsp:style>
    </dsp:sp>
    <dsp:sp modelId="{69A4C310-9724-4B33-B084-05FF2D863B57}">
      <dsp:nvSpPr>
        <dsp:cNvPr id="0" name=""/>
        <dsp:cNvSpPr/>
      </dsp:nvSpPr>
      <dsp:spPr>
        <a:xfrm>
          <a:off x="780738" y="931355"/>
          <a:ext cx="6466092" cy="465421"/>
        </a:xfrm>
        <a:prstGeom prst="rect">
          <a:avLst/>
        </a:prstGeom>
        <a:solidFill>
          <a:schemeClr val="lt1">
            <a:hueOff val="0"/>
            <a:satOff val="0"/>
            <a:lumOff val="0"/>
            <a:alphaOff val="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69428" tIns="60960" rIns="60960" bIns="60960" numCol="1" spcCol="1270" anchor="ctr" anchorCtr="0">
          <a:noAutofit/>
        </a:bodyPr>
        <a:lstStyle/>
        <a:p>
          <a:pPr marL="0" lvl="0" indent="0" algn="l" defTabSz="1066800">
            <a:lnSpc>
              <a:spcPct val="90000"/>
            </a:lnSpc>
            <a:spcBef>
              <a:spcPct val="0"/>
            </a:spcBef>
            <a:spcAft>
              <a:spcPct val="35000"/>
            </a:spcAft>
            <a:buNone/>
          </a:pPr>
          <a:r>
            <a:rPr lang="en-US" sz="2400" kern="1200" dirty="0"/>
            <a:t>Writing professional reports</a:t>
          </a:r>
        </a:p>
      </dsp:txBody>
      <dsp:txXfrm>
        <a:off x="780738" y="931355"/>
        <a:ext cx="6466092" cy="465421"/>
      </dsp:txXfrm>
    </dsp:sp>
    <dsp:sp modelId="{7E010807-6FC6-41A3-AD3C-663939A5706F}">
      <dsp:nvSpPr>
        <dsp:cNvPr id="0" name=""/>
        <dsp:cNvSpPr/>
      </dsp:nvSpPr>
      <dsp:spPr>
        <a:xfrm>
          <a:off x="489849" y="873177"/>
          <a:ext cx="581776" cy="581776"/>
        </a:xfrm>
        <a:prstGeom prst="ellipse">
          <a:avLst/>
        </a:prstGeom>
        <a:solidFill>
          <a:schemeClr val="lt1">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2">
          <a:scrgbClr r="0" g="0" b="0"/>
        </a:fillRef>
        <a:effectRef idx="0">
          <a:scrgbClr r="0" g="0" b="0"/>
        </a:effectRef>
        <a:fontRef idx="minor"/>
      </dsp:style>
    </dsp:sp>
    <dsp:sp modelId="{694E2DBB-CE4D-4A7E-A2D2-99ABB876C77E}">
      <dsp:nvSpPr>
        <dsp:cNvPr id="0" name=""/>
        <dsp:cNvSpPr/>
      </dsp:nvSpPr>
      <dsp:spPr>
        <a:xfrm>
          <a:off x="1011707" y="1629384"/>
          <a:ext cx="6235123" cy="465421"/>
        </a:xfrm>
        <a:prstGeom prst="rect">
          <a:avLst/>
        </a:prstGeom>
        <a:solidFill>
          <a:schemeClr val="lt1">
            <a:hueOff val="0"/>
            <a:satOff val="0"/>
            <a:lumOff val="0"/>
            <a:alphaOff val="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69428" tIns="60960" rIns="60960" bIns="60960" numCol="1" spcCol="1270" anchor="ctr" anchorCtr="0">
          <a:noAutofit/>
        </a:bodyPr>
        <a:lstStyle/>
        <a:p>
          <a:pPr marL="0" lvl="0" indent="0" algn="l" defTabSz="1066800">
            <a:lnSpc>
              <a:spcPct val="90000"/>
            </a:lnSpc>
            <a:spcBef>
              <a:spcPct val="0"/>
            </a:spcBef>
            <a:spcAft>
              <a:spcPct val="35000"/>
            </a:spcAft>
            <a:buNone/>
          </a:pPr>
          <a:r>
            <a:rPr lang="en-US" sz="2400" kern="1200" dirty="0"/>
            <a:t>Workplace communication </a:t>
          </a:r>
        </a:p>
      </dsp:txBody>
      <dsp:txXfrm>
        <a:off x="1011707" y="1629384"/>
        <a:ext cx="6235123" cy="465421"/>
      </dsp:txXfrm>
    </dsp:sp>
    <dsp:sp modelId="{3B08BBE1-B220-40A9-90CE-A2ECE10EE6B4}">
      <dsp:nvSpPr>
        <dsp:cNvPr id="0" name=""/>
        <dsp:cNvSpPr/>
      </dsp:nvSpPr>
      <dsp:spPr>
        <a:xfrm>
          <a:off x="720819" y="1571207"/>
          <a:ext cx="581776" cy="581776"/>
        </a:xfrm>
        <a:prstGeom prst="ellipse">
          <a:avLst/>
        </a:prstGeom>
        <a:solidFill>
          <a:schemeClr val="lt1">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2">
          <a:scrgbClr r="0" g="0" b="0"/>
        </a:fillRef>
        <a:effectRef idx="0">
          <a:scrgbClr r="0" g="0" b="0"/>
        </a:effectRef>
        <a:fontRef idx="minor"/>
      </dsp:style>
    </dsp:sp>
    <dsp:sp modelId="{2225D00A-7FB0-4716-B43A-8155A7D75783}">
      <dsp:nvSpPr>
        <dsp:cNvPr id="0" name=""/>
        <dsp:cNvSpPr/>
      </dsp:nvSpPr>
      <dsp:spPr>
        <a:xfrm>
          <a:off x="1085454" y="2327926"/>
          <a:ext cx="6161376" cy="465421"/>
        </a:xfrm>
        <a:prstGeom prst="rect">
          <a:avLst/>
        </a:prstGeom>
        <a:solidFill>
          <a:schemeClr val="lt1">
            <a:hueOff val="0"/>
            <a:satOff val="0"/>
            <a:lumOff val="0"/>
            <a:alphaOff val="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69428" tIns="60960" rIns="60960" bIns="60960" numCol="1" spcCol="1270" anchor="ctr" anchorCtr="0">
          <a:noAutofit/>
        </a:bodyPr>
        <a:lstStyle/>
        <a:p>
          <a:pPr marL="0" lvl="0" indent="0" algn="l" defTabSz="1066800">
            <a:lnSpc>
              <a:spcPct val="90000"/>
            </a:lnSpc>
            <a:spcBef>
              <a:spcPct val="0"/>
            </a:spcBef>
            <a:spcAft>
              <a:spcPct val="35000"/>
            </a:spcAft>
            <a:buNone/>
          </a:pPr>
          <a:r>
            <a:rPr lang="en-US" sz="2400" kern="1200" dirty="0"/>
            <a:t>Data and AI English vocabulary </a:t>
          </a:r>
        </a:p>
      </dsp:txBody>
      <dsp:txXfrm>
        <a:off x="1085454" y="2327926"/>
        <a:ext cx="6161376" cy="465421"/>
      </dsp:txXfrm>
    </dsp:sp>
    <dsp:sp modelId="{9DF8C055-1CA7-4209-85DF-6E97FCF8E502}">
      <dsp:nvSpPr>
        <dsp:cNvPr id="0" name=""/>
        <dsp:cNvSpPr/>
      </dsp:nvSpPr>
      <dsp:spPr>
        <a:xfrm>
          <a:off x="794565" y="2269749"/>
          <a:ext cx="581776" cy="581776"/>
        </a:xfrm>
        <a:prstGeom prst="ellipse">
          <a:avLst/>
        </a:prstGeom>
        <a:solidFill>
          <a:schemeClr val="lt1">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2">
          <a:scrgbClr r="0" g="0" b="0"/>
        </a:fillRef>
        <a:effectRef idx="0">
          <a:scrgbClr r="0" g="0" b="0"/>
        </a:effectRef>
        <a:fontRef idx="minor"/>
      </dsp:style>
    </dsp:sp>
    <dsp:sp modelId="{DCBD6422-6BEF-419B-8240-7F735D070400}">
      <dsp:nvSpPr>
        <dsp:cNvPr id="0" name=""/>
        <dsp:cNvSpPr/>
      </dsp:nvSpPr>
      <dsp:spPr>
        <a:xfrm>
          <a:off x="1011707" y="3026468"/>
          <a:ext cx="6235123" cy="465421"/>
        </a:xfrm>
        <a:prstGeom prst="rect">
          <a:avLst/>
        </a:prstGeom>
        <a:solidFill>
          <a:schemeClr val="lt1">
            <a:hueOff val="0"/>
            <a:satOff val="0"/>
            <a:lumOff val="0"/>
            <a:alphaOff val="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69428" tIns="60960" rIns="60960" bIns="60960" numCol="1" spcCol="1270" anchor="ctr" anchorCtr="0">
          <a:noAutofit/>
        </a:bodyPr>
        <a:lstStyle/>
        <a:p>
          <a:pPr marL="0" lvl="0" indent="0" algn="l" defTabSz="1066800">
            <a:lnSpc>
              <a:spcPct val="90000"/>
            </a:lnSpc>
            <a:spcBef>
              <a:spcPct val="0"/>
            </a:spcBef>
            <a:spcAft>
              <a:spcPct val="35000"/>
            </a:spcAft>
            <a:buNone/>
          </a:pPr>
          <a:r>
            <a:rPr lang="en-US" sz="2400" kern="1200"/>
            <a:t>Presentations &amp; oral communication</a:t>
          </a:r>
          <a:endParaRPr lang="en-US" sz="2400" kern="1200" dirty="0"/>
        </a:p>
      </dsp:txBody>
      <dsp:txXfrm>
        <a:off x="1011707" y="3026468"/>
        <a:ext cx="6235123" cy="465421"/>
      </dsp:txXfrm>
    </dsp:sp>
    <dsp:sp modelId="{5ED59002-42CB-41AA-B481-723441954CB5}">
      <dsp:nvSpPr>
        <dsp:cNvPr id="0" name=""/>
        <dsp:cNvSpPr/>
      </dsp:nvSpPr>
      <dsp:spPr>
        <a:xfrm>
          <a:off x="720819" y="2968290"/>
          <a:ext cx="581776" cy="581776"/>
        </a:xfrm>
        <a:prstGeom prst="ellipse">
          <a:avLst/>
        </a:prstGeom>
        <a:solidFill>
          <a:schemeClr val="lt1">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2">
          <a:scrgbClr r="0" g="0" b="0"/>
        </a:fillRef>
        <a:effectRef idx="0">
          <a:scrgbClr r="0" g="0" b="0"/>
        </a:effectRef>
        <a:fontRef idx="minor"/>
      </dsp:style>
    </dsp:sp>
    <dsp:sp modelId="{F44DC9C4-99A1-405A-B32E-DCB8A70B82F2}">
      <dsp:nvSpPr>
        <dsp:cNvPr id="0" name=""/>
        <dsp:cNvSpPr/>
      </dsp:nvSpPr>
      <dsp:spPr>
        <a:xfrm>
          <a:off x="780738" y="3724498"/>
          <a:ext cx="6466092" cy="465421"/>
        </a:xfrm>
        <a:prstGeom prst="rect">
          <a:avLst/>
        </a:prstGeom>
        <a:solidFill>
          <a:schemeClr val="lt1">
            <a:hueOff val="0"/>
            <a:satOff val="0"/>
            <a:lumOff val="0"/>
            <a:alphaOff val="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69428" tIns="60960" rIns="60960" bIns="60960" numCol="1" spcCol="1270" anchor="ctr" anchorCtr="0">
          <a:noAutofit/>
        </a:bodyPr>
        <a:lstStyle/>
        <a:p>
          <a:pPr marL="0" lvl="0" indent="0" algn="l" defTabSz="1066800">
            <a:lnSpc>
              <a:spcPct val="90000"/>
            </a:lnSpc>
            <a:spcBef>
              <a:spcPct val="0"/>
            </a:spcBef>
            <a:spcAft>
              <a:spcPct val="35000"/>
            </a:spcAft>
            <a:buNone/>
          </a:pPr>
          <a:r>
            <a:rPr lang="en-US" sz="2400" kern="1200" dirty="0"/>
            <a:t>Writing for job market</a:t>
          </a:r>
        </a:p>
      </dsp:txBody>
      <dsp:txXfrm>
        <a:off x="780738" y="3724498"/>
        <a:ext cx="6466092" cy="465421"/>
      </dsp:txXfrm>
    </dsp:sp>
    <dsp:sp modelId="{F7356573-1D00-4856-99A8-5D51E5A900A4}">
      <dsp:nvSpPr>
        <dsp:cNvPr id="0" name=""/>
        <dsp:cNvSpPr/>
      </dsp:nvSpPr>
      <dsp:spPr>
        <a:xfrm>
          <a:off x="489849" y="3666320"/>
          <a:ext cx="581776" cy="581776"/>
        </a:xfrm>
        <a:prstGeom prst="ellipse">
          <a:avLst/>
        </a:prstGeom>
        <a:solidFill>
          <a:schemeClr val="lt1">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2">
          <a:scrgbClr r="0" g="0" b="0"/>
        </a:fillRef>
        <a:effectRef idx="0">
          <a:scrgbClr r="0" g="0" b="0"/>
        </a:effectRef>
        <a:fontRef idx="minor"/>
      </dsp:style>
    </dsp:sp>
    <dsp:sp modelId="{8F48C6DC-007B-4C00-93B4-E9872913C4EF}">
      <dsp:nvSpPr>
        <dsp:cNvPr id="0" name=""/>
        <dsp:cNvSpPr/>
      </dsp:nvSpPr>
      <dsp:spPr>
        <a:xfrm>
          <a:off x="359257" y="4423040"/>
          <a:ext cx="6887573" cy="465421"/>
        </a:xfrm>
        <a:prstGeom prst="rect">
          <a:avLst/>
        </a:prstGeom>
        <a:solidFill>
          <a:schemeClr val="lt1">
            <a:hueOff val="0"/>
            <a:satOff val="0"/>
            <a:lumOff val="0"/>
            <a:alphaOff val="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69428" tIns="60960" rIns="60960" bIns="60960" numCol="1" spcCol="1270" anchor="ctr" anchorCtr="0">
          <a:noAutofit/>
        </a:bodyPr>
        <a:lstStyle/>
        <a:p>
          <a:pPr marL="0" lvl="0" indent="0" algn="l" defTabSz="1066800">
            <a:lnSpc>
              <a:spcPct val="90000"/>
            </a:lnSpc>
            <a:spcBef>
              <a:spcPct val="0"/>
            </a:spcBef>
            <a:spcAft>
              <a:spcPct val="35000"/>
            </a:spcAft>
            <a:buNone/>
          </a:pPr>
          <a:r>
            <a:rPr lang="en-US" sz="2400" kern="1200"/>
            <a:t>Final projects </a:t>
          </a:r>
          <a:endParaRPr lang="en-US" sz="2400" kern="1200" dirty="0"/>
        </a:p>
      </dsp:txBody>
      <dsp:txXfrm>
        <a:off x="359257" y="4423040"/>
        <a:ext cx="6887573" cy="465421"/>
      </dsp:txXfrm>
    </dsp:sp>
    <dsp:sp modelId="{565A4F1E-7F49-44D5-8F79-2986DE0947E5}">
      <dsp:nvSpPr>
        <dsp:cNvPr id="0" name=""/>
        <dsp:cNvSpPr/>
      </dsp:nvSpPr>
      <dsp:spPr>
        <a:xfrm>
          <a:off x="68369" y="4364862"/>
          <a:ext cx="581776" cy="581776"/>
        </a:xfrm>
        <a:prstGeom prst="ellipse">
          <a:avLst/>
        </a:prstGeom>
        <a:solidFill>
          <a:schemeClr val="lt1">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2">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DE7B1F-CDB1-432F-8134-73004D3E44CC}">
      <dsp:nvSpPr>
        <dsp:cNvPr id="0" name=""/>
        <dsp:cNvSpPr/>
      </dsp:nvSpPr>
      <dsp:spPr>
        <a:xfrm>
          <a:off x="0" y="232826"/>
          <a:ext cx="8128000" cy="455715"/>
        </a:xfrm>
        <a:prstGeom prst="roundRect">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1. Use formal tone and precise vocabulary</a:t>
          </a:r>
        </a:p>
      </dsp:txBody>
      <dsp:txXfrm>
        <a:off x="22246" y="255072"/>
        <a:ext cx="8083508" cy="411223"/>
      </dsp:txXfrm>
    </dsp:sp>
    <dsp:sp modelId="{EEA73676-6253-4897-A120-C7536A821E2C}">
      <dsp:nvSpPr>
        <dsp:cNvPr id="0" name=""/>
        <dsp:cNvSpPr/>
      </dsp:nvSpPr>
      <dsp:spPr>
        <a:xfrm>
          <a:off x="0" y="688541"/>
          <a:ext cx="8128000" cy="943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8064" tIns="24130" rIns="135128" bIns="24130" numCol="1" spcCol="1270" anchor="t" anchorCtr="0">
          <a:noAutofit/>
        </a:bodyPr>
        <a:lstStyle/>
        <a:p>
          <a:pPr marL="114300" lvl="1" indent="-114300" algn="just" defTabSz="666750">
            <a:lnSpc>
              <a:spcPct val="90000"/>
            </a:lnSpc>
            <a:spcBef>
              <a:spcPct val="0"/>
            </a:spcBef>
            <a:spcAft>
              <a:spcPct val="20000"/>
            </a:spcAft>
            <a:buChar char="•"/>
          </a:pPr>
          <a:r>
            <a:rPr lang="en-US" sz="1500" kern="1200" dirty="0"/>
            <a:t>Replace casual words like "pretty well," "did better," or "okay" with exact performance metrics or evaluative terms like "satisfactory," "significant improvement," or specific numbers.</a:t>
          </a:r>
        </a:p>
        <a:p>
          <a:pPr marL="114300" lvl="1" indent="-114300" algn="just" defTabSz="666750">
            <a:lnSpc>
              <a:spcPct val="90000"/>
            </a:lnSpc>
            <a:spcBef>
              <a:spcPct val="0"/>
            </a:spcBef>
            <a:spcAft>
              <a:spcPct val="20000"/>
            </a:spcAft>
            <a:buChar char="•"/>
          </a:pPr>
          <a:r>
            <a:rPr lang="en-US" sz="1500" kern="1200" dirty="0"/>
            <a:t>Use technical terms correctly, e.g., "imputation" instead of "filling in missing values," "regularization" for overfitting prevention.</a:t>
          </a:r>
        </a:p>
      </dsp:txBody>
      <dsp:txXfrm>
        <a:off x="0" y="688541"/>
        <a:ext cx="8128000" cy="943920"/>
      </dsp:txXfrm>
    </dsp:sp>
    <dsp:sp modelId="{B52F4834-FB52-470A-80CF-A223CB4A7296}">
      <dsp:nvSpPr>
        <dsp:cNvPr id="0" name=""/>
        <dsp:cNvSpPr/>
      </dsp:nvSpPr>
      <dsp:spPr>
        <a:xfrm>
          <a:off x="0" y="1632461"/>
          <a:ext cx="8128000" cy="455715"/>
        </a:xfrm>
        <a:prstGeom prst="roundRect">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just" defTabSz="844550">
            <a:lnSpc>
              <a:spcPct val="90000"/>
            </a:lnSpc>
            <a:spcBef>
              <a:spcPct val="0"/>
            </a:spcBef>
            <a:spcAft>
              <a:spcPct val="35000"/>
            </a:spcAft>
            <a:buNone/>
          </a:pPr>
          <a:r>
            <a:rPr lang="en-US" sz="1900" kern="1200"/>
            <a:t>2. Prefer passive voice or objective phrasing</a:t>
          </a:r>
          <a:endParaRPr lang="en-US" sz="1900" kern="1200" dirty="0"/>
        </a:p>
      </dsp:txBody>
      <dsp:txXfrm>
        <a:off x="22246" y="1654707"/>
        <a:ext cx="8083508" cy="411223"/>
      </dsp:txXfrm>
    </dsp:sp>
    <dsp:sp modelId="{05A50745-6B4C-4526-9C19-2A9A311D0B94}">
      <dsp:nvSpPr>
        <dsp:cNvPr id="0" name=""/>
        <dsp:cNvSpPr/>
      </dsp:nvSpPr>
      <dsp:spPr>
        <a:xfrm>
          <a:off x="0" y="2088176"/>
          <a:ext cx="8128000" cy="4719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8064" tIns="24130" rIns="135128" bIns="24130" numCol="1" spcCol="1270" anchor="t" anchorCtr="0">
          <a:noAutofit/>
        </a:bodyPr>
        <a:lstStyle/>
        <a:p>
          <a:pPr marL="114300" lvl="1" indent="-114300" algn="just" defTabSz="666750">
            <a:lnSpc>
              <a:spcPct val="90000"/>
            </a:lnSpc>
            <a:spcBef>
              <a:spcPct val="0"/>
            </a:spcBef>
            <a:spcAft>
              <a:spcPct val="20000"/>
            </a:spcAft>
            <a:buChar char="•"/>
          </a:pPr>
          <a:r>
            <a:rPr lang="en-US" sz="1500" kern="1200" dirty="0"/>
            <a:t>Instead of "We tried," use "A model was applied" or "The algorithm was implemented."</a:t>
          </a:r>
          <a:br>
            <a:rPr lang="en-US" sz="1500" kern="1200" dirty="0"/>
          </a:br>
          <a:r>
            <a:rPr lang="en-US" sz="1500" kern="1200" dirty="0"/>
            <a:t>This shifts the focus to the process and results rather than the researcher.</a:t>
          </a:r>
        </a:p>
      </dsp:txBody>
      <dsp:txXfrm>
        <a:off x="0" y="2088176"/>
        <a:ext cx="8128000" cy="471960"/>
      </dsp:txXfrm>
    </dsp:sp>
    <dsp:sp modelId="{722D6DE5-FA0B-434F-B3DA-683A370AB589}">
      <dsp:nvSpPr>
        <dsp:cNvPr id="0" name=""/>
        <dsp:cNvSpPr/>
      </dsp:nvSpPr>
      <dsp:spPr>
        <a:xfrm>
          <a:off x="0" y="2560136"/>
          <a:ext cx="8128000" cy="455715"/>
        </a:xfrm>
        <a:prstGeom prst="roundRect">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just" defTabSz="844550">
            <a:lnSpc>
              <a:spcPct val="90000"/>
            </a:lnSpc>
            <a:spcBef>
              <a:spcPct val="0"/>
            </a:spcBef>
            <a:spcAft>
              <a:spcPct val="35000"/>
            </a:spcAft>
            <a:buNone/>
          </a:pPr>
          <a:r>
            <a:rPr lang="en-US" sz="1900" kern="1200"/>
            <a:t>3. Be concise and clear</a:t>
          </a:r>
          <a:endParaRPr lang="en-US" sz="1900" kern="1200" dirty="0"/>
        </a:p>
      </dsp:txBody>
      <dsp:txXfrm>
        <a:off x="22246" y="2582382"/>
        <a:ext cx="8083508" cy="411223"/>
      </dsp:txXfrm>
    </dsp:sp>
    <dsp:sp modelId="{829CB581-1EA3-4A31-8B87-6CA1407E60AA}">
      <dsp:nvSpPr>
        <dsp:cNvPr id="0" name=""/>
        <dsp:cNvSpPr/>
      </dsp:nvSpPr>
      <dsp:spPr>
        <a:xfrm>
          <a:off x="0" y="3015850"/>
          <a:ext cx="8128000" cy="4719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8064" tIns="24130" rIns="135128" bIns="24130" numCol="1" spcCol="1270" anchor="t" anchorCtr="0">
          <a:noAutofit/>
        </a:bodyPr>
        <a:lstStyle/>
        <a:p>
          <a:pPr marL="114300" lvl="1" indent="-114300" algn="just" defTabSz="666750">
            <a:lnSpc>
              <a:spcPct val="90000"/>
            </a:lnSpc>
            <a:spcBef>
              <a:spcPct val="0"/>
            </a:spcBef>
            <a:spcAft>
              <a:spcPct val="20000"/>
            </a:spcAft>
            <a:buChar char="•"/>
          </a:pPr>
          <a:r>
            <a:rPr lang="en-US" sz="1500" kern="1200" dirty="0"/>
            <a:t>Avoid unnecessary words. For example, "The model’s accuracy was approximately 85%" is clearer than "it worked pretty well with an accuracy around 85%."</a:t>
          </a:r>
        </a:p>
      </dsp:txBody>
      <dsp:txXfrm>
        <a:off x="0" y="3015850"/>
        <a:ext cx="8128000" cy="471960"/>
      </dsp:txXfrm>
    </dsp:sp>
    <dsp:sp modelId="{AC4055C5-8365-4A08-AEEE-094AEA24E78C}">
      <dsp:nvSpPr>
        <dsp:cNvPr id="0" name=""/>
        <dsp:cNvSpPr/>
      </dsp:nvSpPr>
      <dsp:spPr>
        <a:xfrm>
          <a:off x="0" y="3487811"/>
          <a:ext cx="8128000" cy="455715"/>
        </a:xfrm>
        <a:prstGeom prst="roundRect">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just" defTabSz="844550">
            <a:lnSpc>
              <a:spcPct val="90000"/>
            </a:lnSpc>
            <a:spcBef>
              <a:spcPct val="0"/>
            </a:spcBef>
            <a:spcAft>
              <a:spcPct val="35000"/>
            </a:spcAft>
            <a:buNone/>
          </a:pPr>
          <a:r>
            <a:rPr lang="en-US" sz="1900" kern="1200"/>
            <a:t>4. Describe methods and results explicitly</a:t>
          </a:r>
          <a:endParaRPr lang="en-US" sz="1900" kern="1200" dirty="0"/>
        </a:p>
      </dsp:txBody>
      <dsp:txXfrm>
        <a:off x="22246" y="3510057"/>
        <a:ext cx="8083508" cy="411223"/>
      </dsp:txXfrm>
    </dsp:sp>
    <dsp:sp modelId="{46ED2226-250F-4A13-B9A5-4CA48A265F51}">
      <dsp:nvSpPr>
        <dsp:cNvPr id="0" name=""/>
        <dsp:cNvSpPr/>
      </dsp:nvSpPr>
      <dsp:spPr>
        <a:xfrm>
          <a:off x="0" y="3943526"/>
          <a:ext cx="8128000" cy="4719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8064" tIns="24130" rIns="135128" bIns="24130" numCol="1" spcCol="1270" anchor="t" anchorCtr="0">
          <a:noAutofit/>
        </a:bodyPr>
        <a:lstStyle/>
        <a:p>
          <a:pPr marL="114300" lvl="1" indent="-114300" algn="just" defTabSz="666750">
            <a:lnSpc>
              <a:spcPct val="90000"/>
            </a:lnSpc>
            <a:spcBef>
              <a:spcPct val="0"/>
            </a:spcBef>
            <a:spcAft>
              <a:spcPct val="20000"/>
            </a:spcAft>
            <a:buChar char="•"/>
          </a:pPr>
          <a:r>
            <a:rPr lang="en-US" sz="1500" kern="1200" dirty="0"/>
            <a:t>Specify what was done and what was found, e.g., "Missing data were imputed using mean substitution" rather than "we filled those in with the average."</a:t>
          </a:r>
        </a:p>
      </dsp:txBody>
      <dsp:txXfrm>
        <a:off x="0" y="3943526"/>
        <a:ext cx="8128000" cy="471960"/>
      </dsp:txXfrm>
    </dsp:sp>
    <dsp:sp modelId="{4E68AE6E-20B9-4A56-B1EF-66C811FA072E}">
      <dsp:nvSpPr>
        <dsp:cNvPr id="0" name=""/>
        <dsp:cNvSpPr/>
      </dsp:nvSpPr>
      <dsp:spPr>
        <a:xfrm>
          <a:off x="0" y="4415486"/>
          <a:ext cx="8128000" cy="455715"/>
        </a:xfrm>
        <a:prstGeom prst="roundRect">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just" defTabSz="844550">
            <a:lnSpc>
              <a:spcPct val="90000"/>
            </a:lnSpc>
            <a:spcBef>
              <a:spcPct val="0"/>
            </a:spcBef>
            <a:spcAft>
              <a:spcPct val="35000"/>
            </a:spcAft>
            <a:buNone/>
          </a:pPr>
          <a:r>
            <a:rPr lang="en-US" sz="1900" kern="1200" dirty="0"/>
            <a:t>5. Avoid contractions and slang expressions</a:t>
          </a:r>
        </a:p>
      </dsp:txBody>
      <dsp:txXfrm>
        <a:off x="22246" y="4437732"/>
        <a:ext cx="8083508" cy="411223"/>
      </dsp:txXfrm>
    </dsp:sp>
    <dsp:sp modelId="{5C5A46AF-3680-4554-ADE6-C2F367667B46}">
      <dsp:nvSpPr>
        <dsp:cNvPr id="0" name=""/>
        <dsp:cNvSpPr/>
      </dsp:nvSpPr>
      <dsp:spPr>
        <a:xfrm>
          <a:off x="0" y="4871200"/>
          <a:ext cx="8128000" cy="3146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8064" tIns="24130" rIns="135128" bIns="24130" numCol="1" spcCol="1270" anchor="t" anchorCtr="0">
          <a:noAutofit/>
        </a:bodyPr>
        <a:lstStyle/>
        <a:p>
          <a:pPr marL="114300" lvl="1" indent="-114300" algn="just" defTabSz="666750">
            <a:lnSpc>
              <a:spcPct val="90000"/>
            </a:lnSpc>
            <a:spcBef>
              <a:spcPct val="0"/>
            </a:spcBef>
            <a:spcAft>
              <a:spcPct val="20000"/>
            </a:spcAft>
            <a:buChar char="•"/>
          </a:pPr>
          <a:r>
            <a:rPr lang="en-US" sz="1500" kern="1200" dirty="0"/>
            <a:t>Use "did not" instead of "didn’t," "cannot" instead of "can’t."</a:t>
          </a:r>
        </a:p>
      </dsp:txBody>
      <dsp:txXfrm>
        <a:off x="0" y="4871200"/>
        <a:ext cx="8128000" cy="314640"/>
      </dsp:txXfrm>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ADB4D5-3160-4F9F-BFF2-13A6A1F7A88D}" type="datetimeFigureOut">
              <a:rPr lang="en-US" smtClean="0"/>
              <a:t>9/22/2026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2B24D06-3D48-44FD-B5EE-637D5B92D06E}" type="slidenum">
              <a:rPr lang="en-US" smtClean="0"/>
              <a:t>‹#›</a:t>
            </a:fld>
            <a:endParaRPr lang="en-US"/>
          </a:p>
        </p:txBody>
      </p:sp>
    </p:spTree>
    <p:extLst>
      <p:ext uri="{BB962C8B-B14F-4D97-AF65-F5344CB8AC3E}">
        <p14:creationId xmlns:p14="http://schemas.microsoft.com/office/powerpoint/2010/main" val="41803106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2B24D06-3D48-44FD-B5EE-637D5B92D06E}" type="slidenum">
              <a:rPr lang="en-US" smtClean="0"/>
              <a:t>40</a:t>
            </a:fld>
            <a:endParaRPr lang="en-US"/>
          </a:p>
        </p:txBody>
      </p:sp>
    </p:spTree>
    <p:extLst>
      <p:ext uri="{BB962C8B-B14F-4D97-AF65-F5344CB8AC3E}">
        <p14:creationId xmlns:p14="http://schemas.microsoft.com/office/powerpoint/2010/main" val="39895687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5BA3342-5C73-4A88-9B1D-277AEE3C34A4}" type="datetime1">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AB64A0-D49F-4356-A295-EC5B0CCCE6D4}" type="slidenum">
              <a:rPr lang="en-US" smtClean="0"/>
              <a:t>‹#›</a:t>
            </a:fld>
            <a:endParaRPr lang="en-US"/>
          </a:p>
        </p:txBody>
      </p:sp>
    </p:spTree>
    <p:extLst>
      <p:ext uri="{BB962C8B-B14F-4D97-AF65-F5344CB8AC3E}">
        <p14:creationId xmlns:p14="http://schemas.microsoft.com/office/powerpoint/2010/main" val="10862915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B73B24-33A9-4D81-B31E-0DE232DB317E}" type="datetime1">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AB64A0-D49F-4356-A295-EC5B0CCCE6D4}" type="slidenum">
              <a:rPr lang="en-US" smtClean="0"/>
              <a:t>‹#›</a:t>
            </a:fld>
            <a:endParaRPr lang="en-US"/>
          </a:p>
        </p:txBody>
      </p:sp>
    </p:spTree>
    <p:extLst>
      <p:ext uri="{BB962C8B-B14F-4D97-AF65-F5344CB8AC3E}">
        <p14:creationId xmlns:p14="http://schemas.microsoft.com/office/powerpoint/2010/main" val="9133354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24EF3E5-5889-4A6A-B391-609B537DAE9A}" type="datetime1">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AB64A0-D49F-4356-A295-EC5B0CCCE6D4}" type="slidenum">
              <a:rPr lang="en-US" smtClean="0"/>
              <a:t>‹#›</a:t>
            </a:fld>
            <a:endParaRPr lang="en-US"/>
          </a:p>
        </p:txBody>
      </p:sp>
    </p:spTree>
    <p:extLst>
      <p:ext uri="{BB962C8B-B14F-4D97-AF65-F5344CB8AC3E}">
        <p14:creationId xmlns:p14="http://schemas.microsoft.com/office/powerpoint/2010/main" val="11417961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9FCEB63C-711A-4F23-B0ED-757FC91C4DF0}" type="datetime1">
              <a:rPr lang="en-US" smtClean="0"/>
              <a:t>9/22/2026</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ECAB64A0-D49F-4356-A295-EC5B0CCCE6D4}" type="slidenum">
              <a:rPr lang="en-US" smtClean="0"/>
              <a:t>‹#›</a:t>
            </a:fld>
            <a:endParaRPr lang="en-US"/>
          </a:p>
        </p:txBody>
      </p:sp>
    </p:spTree>
    <p:extLst>
      <p:ext uri="{BB962C8B-B14F-4D97-AF65-F5344CB8AC3E}">
        <p14:creationId xmlns:p14="http://schemas.microsoft.com/office/powerpoint/2010/main" val="39411172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0E6D10D3-2C8E-4BC5-AC9F-AF8EBDC5EE86}" type="datetime1">
              <a:rPr lang="en-US" smtClean="0"/>
              <a:t>9/22/2026</a:t>
            </a:fld>
            <a:endParaRPr lang="en-US"/>
          </a:p>
        </p:txBody>
      </p:sp>
      <p:sp>
        <p:nvSpPr>
          <p:cNvPr id="11" name="Footer Placeholder 10"/>
          <p:cNvSpPr>
            <a:spLocks noGrp="1"/>
          </p:cNvSpPr>
          <p:nvPr>
            <p:ph type="ftr" sz="quarter" idx="11"/>
          </p:nvPr>
        </p:nvSpPr>
        <p:spPr/>
        <p:txBody>
          <a:bodyPr/>
          <a:lstStyle/>
          <a:p>
            <a:endParaRPr lang="en-US"/>
          </a:p>
        </p:txBody>
      </p:sp>
      <p:sp>
        <p:nvSpPr>
          <p:cNvPr id="12" name="Slide Number Placeholder 11"/>
          <p:cNvSpPr>
            <a:spLocks noGrp="1"/>
          </p:cNvSpPr>
          <p:nvPr>
            <p:ph type="sldNum" sz="quarter" idx="12"/>
          </p:nvPr>
        </p:nvSpPr>
        <p:spPr/>
        <p:txBody>
          <a:bodyPr/>
          <a:lstStyle/>
          <a:p>
            <a:fld id="{ECAB64A0-D49F-4356-A295-EC5B0CCCE6D4}" type="slidenum">
              <a:rPr lang="en-US" smtClean="0"/>
              <a:t>‹#›</a:t>
            </a:fld>
            <a:endParaRPr lang="en-US"/>
          </a:p>
        </p:txBody>
      </p:sp>
    </p:spTree>
    <p:extLst>
      <p:ext uri="{BB962C8B-B14F-4D97-AF65-F5344CB8AC3E}">
        <p14:creationId xmlns:p14="http://schemas.microsoft.com/office/powerpoint/2010/main" val="36846126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fld id="{B47260A4-39FC-42A7-AA55-27D2A2819DC1}" type="datetime1">
              <a:rPr lang="en-US" smtClean="0"/>
              <a:t>9/22/2026</a:t>
            </a:fld>
            <a:endParaRPr lang="en-US"/>
          </a:p>
        </p:txBody>
      </p:sp>
      <p:sp>
        <p:nvSpPr>
          <p:cNvPr id="7" name="Footer Placeholder 6"/>
          <p:cNvSpPr>
            <a:spLocks noGrp="1"/>
          </p:cNvSpPr>
          <p:nvPr>
            <p:ph type="ftr" sz="quarter" idx="11"/>
          </p:nvPr>
        </p:nvSpPr>
        <p:spPr/>
        <p:txBody>
          <a:bodyPr/>
          <a:lstStyle/>
          <a:p>
            <a:endParaRPr lang="en-US"/>
          </a:p>
        </p:txBody>
      </p:sp>
      <p:sp>
        <p:nvSpPr>
          <p:cNvPr id="8" name="Slide Number Placeholder 7"/>
          <p:cNvSpPr>
            <a:spLocks noGrp="1"/>
          </p:cNvSpPr>
          <p:nvPr>
            <p:ph type="sldNum" sz="quarter" idx="12"/>
          </p:nvPr>
        </p:nvSpPr>
        <p:spPr/>
        <p:txBody>
          <a:bodyPr/>
          <a:lstStyle/>
          <a:p>
            <a:fld id="{ECAB64A0-D49F-4356-A295-EC5B0CCCE6D4}" type="slidenum">
              <a:rPr lang="en-US" smtClean="0"/>
              <a:t>‹#›</a:t>
            </a:fld>
            <a:endParaRPr lang="en-US"/>
          </a:p>
        </p:txBody>
      </p:sp>
    </p:spTree>
    <p:extLst>
      <p:ext uri="{BB962C8B-B14F-4D97-AF65-F5344CB8AC3E}">
        <p14:creationId xmlns:p14="http://schemas.microsoft.com/office/powerpoint/2010/main" val="3997406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FE4789B5-608F-4C9B-B289-1CCD610AD489}" type="datetime1">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CAB64A0-D49F-4356-A295-EC5B0CCCE6D4}" type="slidenum">
              <a:rPr lang="en-US" smtClean="0"/>
              <a:t>‹#›</a:t>
            </a:fld>
            <a:endParaRPr lang="en-US"/>
          </a:p>
        </p:txBody>
      </p:sp>
    </p:spTree>
    <p:extLst>
      <p:ext uri="{BB962C8B-B14F-4D97-AF65-F5344CB8AC3E}">
        <p14:creationId xmlns:p14="http://schemas.microsoft.com/office/powerpoint/2010/main" val="26320700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EF9BCAD7-FCE4-4FFF-A543-6CCED8000415}" type="datetime1">
              <a:rPr lang="en-US" smtClean="0"/>
              <a:t>9/22/2026</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ECAB64A0-D49F-4356-A295-EC5B0CCCE6D4}" type="slidenum">
              <a:rPr lang="en-US" smtClean="0"/>
              <a:t>‹#›</a:t>
            </a:fld>
            <a:endParaRPr lang="en-US"/>
          </a:p>
        </p:txBody>
      </p:sp>
    </p:spTree>
    <p:extLst>
      <p:ext uri="{BB962C8B-B14F-4D97-AF65-F5344CB8AC3E}">
        <p14:creationId xmlns:p14="http://schemas.microsoft.com/office/powerpoint/2010/main" val="17260894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FFBF88AD-066B-44FD-9027-67EC9885D0AF}" type="datetime1">
              <a:rPr lang="en-US" smtClean="0"/>
              <a:t>9/22/2026</a:t>
            </a:fld>
            <a:endParaRPr lang="en-US"/>
          </a:p>
        </p:txBody>
      </p:sp>
      <p:sp>
        <p:nvSpPr>
          <p:cNvPr id="9" name="Footer Placeholder 8"/>
          <p:cNvSpPr>
            <a:spLocks noGrp="1"/>
          </p:cNvSpPr>
          <p:nvPr>
            <p:ph type="ftr" sz="quarter" idx="11"/>
          </p:nvPr>
        </p:nvSpPr>
        <p:spPr>
          <a:xfrm>
            <a:off x="3499101" y="6356350"/>
            <a:ext cx="5911517" cy="365125"/>
          </a:xfrm>
        </p:spPr>
        <p:txBody>
          <a:bodyPr/>
          <a:lstStyle/>
          <a:p>
            <a:endParaRPr lang="en-US"/>
          </a:p>
        </p:txBody>
      </p:sp>
      <p:sp>
        <p:nvSpPr>
          <p:cNvPr id="10" name="Slide Number Placeholder 9"/>
          <p:cNvSpPr>
            <a:spLocks noGrp="1"/>
          </p:cNvSpPr>
          <p:nvPr>
            <p:ph type="sldNum" sz="quarter" idx="12"/>
          </p:nvPr>
        </p:nvSpPr>
        <p:spPr/>
        <p:txBody>
          <a:bodyPr/>
          <a:lstStyle/>
          <a:p>
            <a:fld id="{ECAB64A0-D49F-4356-A295-EC5B0CCCE6D4}" type="slidenum">
              <a:rPr lang="en-US" smtClean="0"/>
              <a:t>‹#›</a:t>
            </a:fld>
            <a:endParaRPr lang="en-US"/>
          </a:p>
        </p:txBody>
      </p:sp>
    </p:spTree>
    <p:extLst>
      <p:ext uri="{BB962C8B-B14F-4D97-AF65-F5344CB8AC3E}">
        <p14:creationId xmlns:p14="http://schemas.microsoft.com/office/powerpoint/2010/main" val="34210674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517162-2853-4CB7-A7C8-E3BEBCE43EEF}" type="datetime1">
              <a:rPr lang="en-US" smtClean="0"/>
              <a:t>9/22/2026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CAB64A0-D49F-4356-A295-EC5B0CCCE6D4}" type="slidenum">
              <a:rPr lang="en-US" smtClean="0"/>
              <a:t>‹#›</a:t>
            </a:fld>
            <a:endParaRPr lang="en-US"/>
          </a:p>
        </p:txBody>
      </p:sp>
    </p:spTree>
    <p:extLst>
      <p:ext uri="{BB962C8B-B14F-4D97-AF65-F5344CB8AC3E}">
        <p14:creationId xmlns:p14="http://schemas.microsoft.com/office/powerpoint/2010/main" val="1309420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F30573C-1E82-476A-8048-27B12405E228}" type="datetime1">
              <a:rPr lang="en-US" smtClean="0"/>
              <a:t>9/22/2026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CAB64A0-D49F-4356-A295-EC5B0CCCE6D4}" type="slidenum">
              <a:rPr lang="en-US" smtClean="0"/>
              <a:t>‹#›</a:t>
            </a:fld>
            <a:endParaRPr lang="en-US"/>
          </a:p>
        </p:txBody>
      </p:sp>
    </p:spTree>
    <p:extLst>
      <p:ext uri="{BB962C8B-B14F-4D97-AF65-F5344CB8AC3E}">
        <p14:creationId xmlns:p14="http://schemas.microsoft.com/office/powerpoint/2010/main" val="3819404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D1A9D193-1D5D-4CF1-8111-A82E58219B2F}" type="datetime1">
              <a:rPr lang="en-US" smtClean="0"/>
              <a:t>9/22/2026</a:t>
            </a:fld>
            <a:endParaRPr lang="en-US"/>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ECAB64A0-D49F-4356-A295-EC5B0CCCE6D4}" type="slidenum">
              <a:rPr lang="en-US" smtClean="0"/>
              <a:t>‹#›</a:t>
            </a:fld>
            <a:endParaRPr lang="en-US"/>
          </a:p>
        </p:txBody>
      </p:sp>
    </p:spTree>
    <p:extLst>
      <p:ext uri="{BB962C8B-B14F-4D97-AF65-F5344CB8AC3E}">
        <p14:creationId xmlns:p14="http://schemas.microsoft.com/office/powerpoint/2010/main" val="73781287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78983-5542-6602-099D-8AE8ADB13A51}"/>
              </a:ext>
            </a:extLst>
          </p:cNvPr>
          <p:cNvSpPr>
            <a:spLocks noGrp="1"/>
          </p:cNvSpPr>
          <p:nvPr>
            <p:ph type="ctrTitle"/>
          </p:nvPr>
        </p:nvSpPr>
        <p:spPr/>
        <p:txBody>
          <a:bodyPr/>
          <a:lstStyle/>
          <a:p>
            <a:r>
              <a:rPr lang="en-US" sz="4400" dirty="0"/>
              <a:t>Scientific English and communication skills</a:t>
            </a:r>
          </a:p>
        </p:txBody>
      </p:sp>
      <p:sp>
        <p:nvSpPr>
          <p:cNvPr id="3" name="Subtitle 2">
            <a:extLst>
              <a:ext uri="{FF2B5EF4-FFF2-40B4-BE49-F238E27FC236}">
                <a16:creationId xmlns:a16="http://schemas.microsoft.com/office/drawing/2014/main" id="{86D7F62D-9D4F-6411-B77A-7F529DDBDCD6}"/>
              </a:ext>
            </a:extLst>
          </p:cNvPr>
          <p:cNvSpPr>
            <a:spLocks noGrp="1"/>
          </p:cNvSpPr>
          <p:nvPr>
            <p:ph type="subTitle" idx="1"/>
          </p:nvPr>
        </p:nvSpPr>
        <p:spPr/>
        <p:txBody>
          <a:bodyPr/>
          <a:lstStyle/>
          <a:p>
            <a:r>
              <a:rPr lang="en-US" dirty="0"/>
              <a:t>Dr. </a:t>
            </a:r>
            <a:r>
              <a:rPr lang="en-US"/>
              <a:t>Zeinab Abbas</a:t>
            </a:r>
            <a:endParaRPr lang="en-US" dirty="0"/>
          </a:p>
        </p:txBody>
      </p:sp>
      <p:sp>
        <p:nvSpPr>
          <p:cNvPr id="4" name="Slide Number Placeholder 3">
            <a:extLst>
              <a:ext uri="{FF2B5EF4-FFF2-40B4-BE49-F238E27FC236}">
                <a16:creationId xmlns:a16="http://schemas.microsoft.com/office/drawing/2014/main" id="{099763DC-4C60-19B8-2E8A-E77CE95A4B65}"/>
              </a:ext>
            </a:extLst>
          </p:cNvPr>
          <p:cNvSpPr>
            <a:spLocks noGrp="1"/>
          </p:cNvSpPr>
          <p:nvPr>
            <p:ph type="sldNum" sz="quarter" idx="12"/>
          </p:nvPr>
        </p:nvSpPr>
        <p:spPr/>
        <p:txBody>
          <a:bodyPr/>
          <a:lstStyle/>
          <a:p>
            <a:fld id="{ECAB64A0-D49F-4356-A295-EC5B0CCCE6D4}" type="slidenum">
              <a:rPr lang="en-US" smtClean="0"/>
              <a:t>1</a:t>
            </a:fld>
            <a:endParaRPr lang="en-US"/>
          </a:p>
        </p:txBody>
      </p:sp>
    </p:spTree>
    <p:extLst>
      <p:ext uri="{BB962C8B-B14F-4D97-AF65-F5344CB8AC3E}">
        <p14:creationId xmlns:p14="http://schemas.microsoft.com/office/powerpoint/2010/main" val="34957128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24757-77D6-03D9-F8A7-6A02CC55DBAF}"/>
              </a:ext>
            </a:extLst>
          </p:cNvPr>
          <p:cNvSpPr>
            <a:spLocks noGrp="1"/>
          </p:cNvSpPr>
          <p:nvPr>
            <p:ph type="title"/>
          </p:nvPr>
        </p:nvSpPr>
        <p:spPr/>
        <p:txBody>
          <a:bodyPr/>
          <a:lstStyle/>
          <a:p>
            <a:r>
              <a:rPr lang="en-US" dirty="0"/>
              <a:t>Outline </a:t>
            </a:r>
          </a:p>
        </p:txBody>
      </p:sp>
      <p:graphicFrame>
        <p:nvGraphicFramePr>
          <p:cNvPr id="4" name="Content Placeholder 3">
            <a:extLst>
              <a:ext uri="{FF2B5EF4-FFF2-40B4-BE49-F238E27FC236}">
                <a16:creationId xmlns:a16="http://schemas.microsoft.com/office/drawing/2014/main" id="{08948D59-9845-B016-D90D-8673A6CC57FB}"/>
              </a:ext>
            </a:extLst>
          </p:cNvPr>
          <p:cNvGraphicFramePr>
            <a:graphicFrameLocks noGrp="1"/>
          </p:cNvGraphicFramePr>
          <p:nvPr>
            <p:ph idx="1"/>
            <p:extLst>
              <p:ext uri="{D42A27DB-BD31-4B8C-83A1-F6EECF244321}">
                <p14:modId xmlns:p14="http://schemas.microsoft.com/office/powerpoint/2010/main" val="2677691694"/>
              </p:ext>
            </p:extLst>
          </p:nvPr>
        </p:nvGraphicFramePr>
        <p:xfrm>
          <a:off x="3868738" y="863600"/>
          <a:ext cx="7315200" cy="51212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a:extLst>
              <a:ext uri="{FF2B5EF4-FFF2-40B4-BE49-F238E27FC236}">
                <a16:creationId xmlns:a16="http://schemas.microsoft.com/office/drawing/2014/main" id="{3BB67F07-E516-BB3D-B954-208C743961BA}"/>
              </a:ext>
            </a:extLst>
          </p:cNvPr>
          <p:cNvSpPr>
            <a:spLocks noGrp="1"/>
          </p:cNvSpPr>
          <p:nvPr>
            <p:ph type="sldNum" sz="quarter" idx="12"/>
          </p:nvPr>
        </p:nvSpPr>
        <p:spPr/>
        <p:txBody>
          <a:bodyPr/>
          <a:lstStyle/>
          <a:p>
            <a:fld id="{ECAB64A0-D49F-4356-A295-EC5B0CCCE6D4}" type="slidenum">
              <a:rPr lang="en-US" smtClean="0"/>
              <a:t>2</a:t>
            </a:fld>
            <a:endParaRPr lang="en-US"/>
          </a:p>
        </p:txBody>
      </p:sp>
    </p:spTree>
    <p:extLst>
      <p:ext uri="{BB962C8B-B14F-4D97-AF65-F5344CB8AC3E}">
        <p14:creationId xmlns:p14="http://schemas.microsoft.com/office/powerpoint/2010/main" val="25982194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32B8E-BB4D-B870-1F99-48FAF8489857}"/>
              </a:ext>
            </a:extLst>
          </p:cNvPr>
          <p:cNvSpPr>
            <a:spLocks noGrp="1"/>
          </p:cNvSpPr>
          <p:nvPr>
            <p:ph type="title"/>
          </p:nvPr>
        </p:nvSpPr>
        <p:spPr/>
        <p:txBody>
          <a:bodyPr>
            <a:normAutofit/>
          </a:bodyPr>
          <a:lstStyle/>
          <a:p>
            <a:r>
              <a:rPr lang="en-US" sz="4000" dirty="0"/>
              <a:t>Chapter 1: Introduction to Scientific and Professional English</a:t>
            </a:r>
            <a:br>
              <a:rPr lang="en-US" dirty="0"/>
            </a:br>
            <a:endParaRPr lang="en-US" dirty="0"/>
          </a:p>
        </p:txBody>
      </p:sp>
      <p:sp>
        <p:nvSpPr>
          <p:cNvPr id="3" name="Text Placeholder 2">
            <a:extLst>
              <a:ext uri="{FF2B5EF4-FFF2-40B4-BE49-F238E27FC236}">
                <a16:creationId xmlns:a16="http://schemas.microsoft.com/office/drawing/2014/main" id="{154A2612-32DE-77E3-2755-10A37409280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E1C9736-C18F-9FA7-5CA2-690DEF774278}"/>
              </a:ext>
            </a:extLst>
          </p:cNvPr>
          <p:cNvSpPr>
            <a:spLocks noGrp="1"/>
          </p:cNvSpPr>
          <p:nvPr>
            <p:ph type="sldNum" sz="quarter" idx="12"/>
          </p:nvPr>
        </p:nvSpPr>
        <p:spPr/>
        <p:txBody>
          <a:bodyPr/>
          <a:lstStyle/>
          <a:p>
            <a:fld id="{ECAB64A0-D49F-4356-A295-EC5B0CCCE6D4}" type="slidenum">
              <a:rPr lang="en-US" smtClean="0"/>
              <a:t>3</a:t>
            </a:fld>
            <a:endParaRPr lang="en-US"/>
          </a:p>
        </p:txBody>
      </p:sp>
    </p:spTree>
    <p:extLst>
      <p:ext uri="{BB962C8B-B14F-4D97-AF65-F5344CB8AC3E}">
        <p14:creationId xmlns:p14="http://schemas.microsoft.com/office/powerpoint/2010/main" val="27361899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E3D39-228E-7C97-6C8D-C6ACE2DD4CCB}"/>
              </a:ext>
            </a:extLst>
          </p:cNvPr>
          <p:cNvSpPr>
            <a:spLocks noGrp="1"/>
          </p:cNvSpPr>
          <p:nvPr>
            <p:ph type="title"/>
          </p:nvPr>
        </p:nvSpPr>
        <p:spPr/>
        <p:txBody>
          <a:bodyPr/>
          <a:lstStyle/>
          <a:p>
            <a:r>
              <a:rPr lang="en-US" dirty="0"/>
              <a:t>What is Scientific English?</a:t>
            </a:r>
          </a:p>
        </p:txBody>
      </p:sp>
      <p:sp>
        <p:nvSpPr>
          <p:cNvPr id="3" name="Content Placeholder 2">
            <a:extLst>
              <a:ext uri="{FF2B5EF4-FFF2-40B4-BE49-F238E27FC236}">
                <a16:creationId xmlns:a16="http://schemas.microsoft.com/office/drawing/2014/main" id="{92DED04F-26E7-7A32-CFBB-BB71E848E880}"/>
              </a:ext>
            </a:extLst>
          </p:cNvPr>
          <p:cNvSpPr>
            <a:spLocks noGrp="1"/>
          </p:cNvSpPr>
          <p:nvPr>
            <p:ph idx="1"/>
          </p:nvPr>
        </p:nvSpPr>
        <p:spPr/>
        <p:txBody>
          <a:bodyPr/>
          <a:lstStyle/>
          <a:p>
            <a:pPr marL="0" indent="0">
              <a:buNone/>
            </a:pPr>
            <a:r>
              <a:rPr lang="en-US" dirty="0"/>
              <a:t>Scientific English is a style of English used to communicate scientific ideas clearly, precisely, and formally. It avoids informal language, slang, and ambiguity, aiming to ensure understanding by an international audience.</a:t>
            </a:r>
          </a:p>
        </p:txBody>
      </p:sp>
      <p:sp>
        <p:nvSpPr>
          <p:cNvPr id="4" name="Slide Number Placeholder 3">
            <a:extLst>
              <a:ext uri="{FF2B5EF4-FFF2-40B4-BE49-F238E27FC236}">
                <a16:creationId xmlns:a16="http://schemas.microsoft.com/office/drawing/2014/main" id="{5AE4084E-2389-51A9-26C2-B46303E99CCA}"/>
              </a:ext>
            </a:extLst>
          </p:cNvPr>
          <p:cNvSpPr>
            <a:spLocks noGrp="1"/>
          </p:cNvSpPr>
          <p:nvPr>
            <p:ph type="sldNum" sz="quarter" idx="12"/>
          </p:nvPr>
        </p:nvSpPr>
        <p:spPr/>
        <p:txBody>
          <a:bodyPr/>
          <a:lstStyle/>
          <a:p>
            <a:fld id="{ECAB64A0-D49F-4356-A295-EC5B0CCCE6D4}" type="slidenum">
              <a:rPr lang="en-US" smtClean="0"/>
              <a:t>4</a:t>
            </a:fld>
            <a:endParaRPr lang="en-US"/>
          </a:p>
        </p:txBody>
      </p:sp>
    </p:spTree>
    <p:extLst>
      <p:ext uri="{BB962C8B-B14F-4D97-AF65-F5344CB8AC3E}">
        <p14:creationId xmlns:p14="http://schemas.microsoft.com/office/powerpoint/2010/main" val="9862680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English in Science?</a:t>
            </a:r>
          </a:p>
        </p:txBody>
      </p:sp>
      <p:sp>
        <p:nvSpPr>
          <p:cNvPr id="3" name="Content Placeholder 2"/>
          <p:cNvSpPr>
            <a:spLocks noGrp="1"/>
          </p:cNvSpPr>
          <p:nvPr>
            <p:ph idx="1"/>
          </p:nvPr>
        </p:nvSpPr>
        <p:spPr/>
        <p:txBody>
          <a:bodyPr>
            <a:normAutofit/>
          </a:bodyPr>
          <a:lstStyle/>
          <a:p>
            <a:endParaRPr dirty="0"/>
          </a:p>
          <a:p>
            <a:pPr algn="just">
              <a:defRPr sz="2000">
                <a:latin typeface="Arial"/>
              </a:defRPr>
            </a:pPr>
            <a:r>
              <a:rPr dirty="0"/>
              <a:t> Global language of research &amp; academia (80%+ publications in English).</a:t>
            </a:r>
          </a:p>
          <a:p>
            <a:pPr algn="just">
              <a:defRPr sz="2000">
                <a:latin typeface="Arial"/>
              </a:defRPr>
            </a:pPr>
            <a:r>
              <a:rPr dirty="0"/>
              <a:t> Professional requirement: international teams, clients, conferences.</a:t>
            </a:r>
          </a:p>
          <a:p>
            <a:pPr algn="just">
              <a:defRPr sz="2000">
                <a:latin typeface="Arial"/>
              </a:defRPr>
            </a:pPr>
            <a:r>
              <a:rPr dirty="0"/>
              <a:t>Data science: papers, GitHub, Kaggle, documentation all in English.</a:t>
            </a:r>
          </a:p>
          <a:p>
            <a:pPr algn="just">
              <a:defRPr sz="2000">
                <a:latin typeface="Arial"/>
              </a:defRPr>
            </a:pPr>
            <a:r>
              <a:rPr dirty="0"/>
              <a:t>Example:</a:t>
            </a:r>
          </a:p>
          <a:p>
            <a:pPr lvl="1" algn="just">
              <a:defRPr sz="2000">
                <a:latin typeface="Arial"/>
              </a:defRPr>
            </a:pPr>
            <a:r>
              <a:rPr dirty="0"/>
              <a:t> General: 'I think the data shows a kind of relationship.'</a:t>
            </a:r>
          </a:p>
          <a:p>
            <a:pPr lvl="1" algn="just">
              <a:defRPr sz="2000">
                <a:latin typeface="Arial"/>
              </a:defRPr>
            </a:pPr>
            <a:r>
              <a:rPr dirty="0"/>
              <a:t> Scientific: 'The data indicates a significant correlation between variables X and Y.'</a:t>
            </a:r>
          </a:p>
        </p:txBody>
      </p:sp>
      <p:sp>
        <p:nvSpPr>
          <p:cNvPr id="4" name="Slide Number Placeholder 3">
            <a:extLst>
              <a:ext uri="{FF2B5EF4-FFF2-40B4-BE49-F238E27FC236}">
                <a16:creationId xmlns:a16="http://schemas.microsoft.com/office/drawing/2014/main" id="{4DBDBE29-91DD-0B01-FEDC-494468BC55B9}"/>
              </a:ext>
            </a:extLst>
          </p:cNvPr>
          <p:cNvSpPr>
            <a:spLocks noGrp="1"/>
          </p:cNvSpPr>
          <p:nvPr>
            <p:ph type="sldNum" sz="quarter" idx="12"/>
          </p:nvPr>
        </p:nvSpPr>
        <p:spPr/>
        <p:txBody>
          <a:bodyPr/>
          <a:lstStyle/>
          <a:p>
            <a:fld id="{ECAB64A0-D49F-4356-A295-EC5B0CCCE6D4}" type="slidenum">
              <a:rPr lang="en-US" smtClean="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Characteristics of Scientific English</a:t>
            </a:r>
          </a:p>
        </p:txBody>
      </p:sp>
      <p:sp>
        <p:nvSpPr>
          <p:cNvPr id="3" name="Content Placeholder 2"/>
          <p:cNvSpPr>
            <a:spLocks noGrp="1"/>
          </p:cNvSpPr>
          <p:nvPr>
            <p:ph idx="1"/>
          </p:nvPr>
        </p:nvSpPr>
        <p:spPr/>
        <p:txBody>
          <a:bodyPr/>
          <a:lstStyle/>
          <a:p>
            <a:pPr algn="just"/>
            <a:endParaRPr dirty="0"/>
          </a:p>
          <a:p>
            <a:pPr algn="just">
              <a:defRPr sz="2000">
                <a:latin typeface="Arial"/>
              </a:defRPr>
            </a:pPr>
            <a:r>
              <a:rPr dirty="0"/>
              <a:t> Clarity – no ambiguity.</a:t>
            </a:r>
          </a:p>
          <a:p>
            <a:pPr algn="just">
              <a:defRPr sz="2000">
                <a:latin typeface="Arial"/>
              </a:defRPr>
            </a:pPr>
            <a:r>
              <a:rPr dirty="0"/>
              <a:t> Precision – numbers, exact words.</a:t>
            </a:r>
          </a:p>
          <a:p>
            <a:pPr algn="just">
              <a:defRPr sz="2000">
                <a:latin typeface="Arial"/>
              </a:defRPr>
            </a:pPr>
            <a:r>
              <a:rPr dirty="0"/>
              <a:t> Objectivity – no personal opinion ('I think...').</a:t>
            </a:r>
          </a:p>
          <a:p>
            <a:pPr algn="just">
              <a:defRPr sz="2000">
                <a:latin typeface="Arial"/>
              </a:defRPr>
            </a:pPr>
            <a:r>
              <a:rPr dirty="0"/>
              <a:t> Formal tone – no contractions, avoid slang.</a:t>
            </a:r>
          </a:p>
          <a:p>
            <a:pPr algn="just">
              <a:defRPr sz="2000">
                <a:latin typeface="Arial"/>
              </a:defRPr>
            </a:pPr>
            <a:r>
              <a:rPr dirty="0"/>
              <a:t> Logical structure – intro → method → results → discussion.</a:t>
            </a:r>
          </a:p>
        </p:txBody>
      </p:sp>
      <p:sp>
        <p:nvSpPr>
          <p:cNvPr id="4" name="Slide Number Placeholder 3">
            <a:extLst>
              <a:ext uri="{FF2B5EF4-FFF2-40B4-BE49-F238E27FC236}">
                <a16:creationId xmlns:a16="http://schemas.microsoft.com/office/drawing/2014/main" id="{9742C408-D44F-05A2-3E37-FC6D1CB0FEED}"/>
              </a:ext>
            </a:extLst>
          </p:cNvPr>
          <p:cNvSpPr>
            <a:spLocks noGrp="1"/>
          </p:cNvSpPr>
          <p:nvPr>
            <p:ph type="sldNum" sz="quarter" idx="12"/>
          </p:nvPr>
        </p:nvSpPr>
        <p:spPr/>
        <p:txBody>
          <a:bodyPr/>
          <a:lstStyle/>
          <a:p>
            <a:fld id="{ECAB64A0-D49F-4356-A295-EC5B0CCCE6D4}" type="slidenum">
              <a:rPr lang="en-US" smtClean="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E4E8B-5616-5C48-9C79-4C1E9F7F6633}"/>
              </a:ext>
            </a:extLst>
          </p:cNvPr>
          <p:cNvSpPr>
            <a:spLocks noGrp="1"/>
          </p:cNvSpPr>
          <p:nvPr>
            <p:ph type="title"/>
          </p:nvPr>
        </p:nvSpPr>
        <p:spPr/>
        <p:txBody>
          <a:bodyPr/>
          <a:lstStyle/>
          <a:p>
            <a:r>
              <a:rPr lang="en-US" dirty="0"/>
              <a:t>Why learn it?</a:t>
            </a:r>
          </a:p>
        </p:txBody>
      </p:sp>
      <p:sp>
        <p:nvSpPr>
          <p:cNvPr id="3" name="Content Placeholder 2">
            <a:extLst>
              <a:ext uri="{FF2B5EF4-FFF2-40B4-BE49-F238E27FC236}">
                <a16:creationId xmlns:a16="http://schemas.microsoft.com/office/drawing/2014/main" id="{BFBD54E2-8421-96E8-81ED-665AF7FBD8F2}"/>
              </a:ext>
            </a:extLst>
          </p:cNvPr>
          <p:cNvSpPr>
            <a:spLocks noGrp="1"/>
          </p:cNvSpPr>
          <p:nvPr>
            <p:ph idx="1"/>
          </p:nvPr>
        </p:nvSpPr>
        <p:spPr/>
        <p:txBody>
          <a:bodyPr/>
          <a:lstStyle/>
          <a:p>
            <a:pPr algn="just"/>
            <a:r>
              <a:rPr lang="en-US" dirty="0"/>
              <a:t>Scientists and professionals need to share findings, write reports, and collaborate internationally. </a:t>
            </a:r>
          </a:p>
          <a:p>
            <a:pPr algn="just"/>
            <a:r>
              <a:rPr lang="en-US" dirty="0"/>
              <a:t>Mastering scientific English improves career opportunities and research impact.</a:t>
            </a:r>
          </a:p>
        </p:txBody>
      </p:sp>
      <p:sp>
        <p:nvSpPr>
          <p:cNvPr id="4" name="Slide Number Placeholder 3">
            <a:extLst>
              <a:ext uri="{FF2B5EF4-FFF2-40B4-BE49-F238E27FC236}">
                <a16:creationId xmlns:a16="http://schemas.microsoft.com/office/drawing/2014/main" id="{4297C16B-3F04-E72C-E777-F56777E1E3B9}"/>
              </a:ext>
            </a:extLst>
          </p:cNvPr>
          <p:cNvSpPr>
            <a:spLocks noGrp="1"/>
          </p:cNvSpPr>
          <p:nvPr>
            <p:ph type="sldNum" sz="quarter" idx="12"/>
          </p:nvPr>
        </p:nvSpPr>
        <p:spPr/>
        <p:txBody>
          <a:bodyPr/>
          <a:lstStyle/>
          <a:p>
            <a:fld id="{ECAB64A0-D49F-4356-A295-EC5B0CCCE6D4}" type="slidenum">
              <a:rPr lang="en-US" smtClean="0"/>
              <a:t>7</a:t>
            </a:fld>
            <a:endParaRPr lang="en-US"/>
          </a:p>
        </p:txBody>
      </p:sp>
    </p:spTree>
    <p:extLst>
      <p:ext uri="{BB962C8B-B14F-4D97-AF65-F5344CB8AC3E}">
        <p14:creationId xmlns:p14="http://schemas.microsoft.com/office/powerpoint/2010/main" val="38643570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Vocabulary for Scientific English</a:t>
            </a:r>
          </a:p>
        </p:txBody>
      </p:sp>
      <p:sp>
        <p:nvSpPr>
          <p:cNvPr id="3" name="Content Placeholder 2"/>
          <p:cNvSpPr>
            <a:spLocks noGrp="1"/>
          </p:cNvSpPr>
          <p:nvPr>
            <p:ph idx="1"/>
          </p:nvPr>
        </p:nvSpPr>
        <p:spPr/>
        <p:txBody>
          <a:bodyPr>
            <a:normAutofit fontScale="92500" lnSpcReduction="10000"/>
          </a:bodyPr>
          <a:lstStyle/>
          <a:p>
            <a:endParaRPr dirty="0"/>
          </a:p>
          <a:p>
            <a:pPr marL="0" indent="0" algn="just">
              <a:buNone/>
              <a:defRPr sz="2000">
                <a:latin typeface="Arial"/>
              </a:defRPr>
            </a:pPr>
            <a:r>
              <a:rPr b="1" dirty="0"/>
              <a:t>Common Verbs:</a:t>
            </a:r>
          </a:p>
          <a:p>
            <a:pPr algn="just">
              <a:defRPr sz="2000">
                <a:latin typeface="Arial"/>
              </a:defRPr>
            </a:pPr>
            <a:r>
              <a:rPr dirty="0"/>
              <a:t>get → obtain / acquire</a:t>
            </a:r>
          </a:p>
          <a:p>
            <a:pPr algn="just">
              <a:defRPr sz="2000">
                <a:latin typeface="Arial"/>
              </a:defRPr>
            </a:pPr>
            <a:r>
              <a:rPr dirty="0"/>
              <a:t>show → demonstrate / indicate</a:t>
            </a:r>
          </a:p>
          <a:p>
            <a:pPr algn="just">
              <a:defRPr sz="2000">
                <a:latin typeface="Arial"/>
              </a:defRPr>
            </a:pPr>
            <a:r>
              <a:rPr dirty="0"/>
              <a:t>find out → determine / discover</a:t>
            </a:r>
          </a:p>
          <a:p>
            <a:pPr algn="just">
              <a:defRPr sz="2000">
                <a:latin typeface="Arial"/>
              </a:defRPr>
            </a:pPr>
            <a:r>
              <a:rPr dirty="0"/>
              <a:t>need → require</a:t>
            </a:r>
          </a:p>
          <a:p>
            <a:pPr marL="0" indent="0" algn="just">
              <a:buNone/>
              <a:defRPr sz="2000">
                <a:latin typeface="Arial"/>
              </a:defRPr>
            </a:pPr>
            <a:r>
              <a:rPr b="1" dirty="0"/>
              <a:t> Linking Words:</a:t>
            </a:r>
          </a:p>
          <a:p>
            <a:pPr algn="just">
              <a:defRPr sz="2000">
                <a:latin typeface="Arial"/>
              </a:defRPr>
            </a:pPr>
            <a:r>
              <a:rPr dirty="0"/>
              <a:t>Addition: furthermore, in addition, moreover</a:t>
            </a:r>
          </a:p>
          <a:p>
            <a:pPr algn="just">
              <a:defRPr sz="2000">
                <a:latin typeface="Arial"/>
              </a:defRPr>
            </a:pPr>
            <a:r>
              <a:rPr dirty="0"/>
              <a:t> Contrast: however, on the other hand</a:t>
            </a:r>
          </a:p>
          <a:p>
            <a:pPr algn="just">
              <a:defRPr sz="2000">
                <a:latin typeface="Arial"/>
              </a:defRPr>
            </a:pPr>
            <a:r>
              <a:rPr dirty="0"/>
              <a:t>Cause/Effect: therefore, consequently, as a result</a:t>
            </a:r>
          </a:p>
          <a:p>
            <a:pPr marL="0" indent="0" algn="just">
              <a:buNone/>
              <a:defRPr sz="2000" b="1">
                <a:solidFill>
                  <a:srgbClr val="C81E1E"/>
                </a:solidFill>
                <a:latin typeface="Arial"/>
              </a:defRPr>
            </a:pPr>
            <a:r>
              <a:rPr dirty="0"/>
              <a:t> Exercise: Rewrite: 'We got the data and found out the model was good.'</a:t>
            </a:r>
          </a:p>
          <a:p>
            <a:pPr marL="0" indent="0" algn="just">
              <a:buNone/>
              <a:defRPr sz="2000" b="1">
                <a:solidFill>
                  <a:srgbClr val="C81E1E"/>
                </a:solidFill>
                <a:latin typeface="Arial"/>
              </a:defRPr>
            </a:pPr>
            <a:r>
              <a:rPr dirty="0"/>
              <a:t>Answer: 'We obtained the dataset and determined that the model performed effectively.'</a:t>
            </a:r>
          </a:p>
        </p:txBody>
      </p:sp>
      <p:sp>
        <p:nvSpPr>
          <p:cNvPr id="4" name="Slide Number Placeholder 3">
            <a:extLst>
              <a:ext uri="{FF2B5EF4-FFF2-40B4-BE49-F238E27FC236}">
                <a16:creationId xmlns:a16="http://schemas.microsoft.com/office/drawing/2014/main" id="{908DC134-CDA4-7403-39CF-B104B42551F3}"/>
              </a:ext>
            </a:extLst>
          </p:cNvPr>
          <p:cNvSpPr>
            <a:spLocks noGrp="1"/>
          </p:cNvSpPr>
          <p:nvPr>
            <p:ph type="sldNum" sz="quarter" idx="12"/>
          </p:nvPr>
        </p:nvSpPr>
        <p:spPr/>
        <p:txBody>
          <a:bodyPr/>
          <a:lstStyle/>
          <a:p>
            <a:fld id="{ECAB64A0-D49F-4356-A295-EC5B0CCCE6D4}" type="slidenum">
              <a:rPr lang="en-US" smtClean="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163DF-B3B7-FFBA-5950-3ABAC86C2BE1}"/>
              </a:ext>
            </a:extLst>
          </p:cNvPr>
          <p:cNvSpPr>
            <a:spLocks noGrp="1"/>
          </p:cNvSpPr>
          <p:nvPr>
            <p:ph type="title"/>
          </p:nvPr>
        </p:nvSpPr>
        <p:spPr/>
        <p:txBody>
          <a:bodyPr>
            <a:normAutofit/>
          </a:bodyPr>
          <a:lstStyle/>
          <a:p>
            <a:r>
              <a:rPr lang="en-US" dirty="0"/>
              <a:t>Activity : Presentation Practice</a:t>
            </a:r>
            <a:br>
              <a:rPr lang="en-US" dirty="0"/>
            </a:br>
            <a:endParaRPr lang="en-US" dirty="0"/>
          </a:p>
        </p:txBody>
      </p:sp>
      <p:sp>
        <p:nvSpPr>
          <p:cNvPr id="3" name="Content Placeholder 2">
            <a:extLst>
              <a:ext uri="{FF2B5EF4-FFF2-40B4-BE49-F238E27FC236}">
                <a16:creationId xmlns:a16="http://schemas.microsoft.com/office/drawing/2014/main" id="{E394B74D-A199-88D0-D74E-BC13265AEF14}"/>
              </a:ext>
            </a:extLst>
          </p:cNvPr>
          <p:cNvSpPr>
            <a:spLocks noGrp="1"/>
          </p:cNvSpPr>
          <p:nvPr>
            <p:ph idx="1"/>
          </p:nvPr>
        </p:nvSpPr>
        <p:spPr>
          <a:xfrm>
            <a:off x="3869267" y="864108"/>
            <a:ext cx="7442745" cy="1348150"/>
          </a:xfrm>
        </p:spPr>
        <p:txBody>
          <a:bodyPr/>
          <a:lstStyle/>
          <a:p>
            <a:pPr marL="0" indent="0">
              <a:buNone/>
            </a:pPr>
            <a:r>
              <a:rPr lang="en-US" b="1" dirty="0"/>
              <a:t>Prepare a 2-minute self-introduction </a:t>
            </a:r>
            <a:r>
              <a:rPr lang="en-US" dirty="0"/>
              <a:t>focused on </a:t>
            </a:r>
            <a:r>
              <a:rPr lang="en-US" b="1" dirty="0"/>
              <a:t>AI and career goals</a:t>
            </a:r>
            <a:r>
              <a:rPr lang="en-US" dirty="0"/>
              <a:t>.</a:t>
            </a:r>
          </a:p>
        </p:txBody>
      </p:sp>
      <p:graphicFrame>
        <p:nvGraphicFramePr>
          <p:cNvPr id="4" name="Table 3">
            <a:extLst>
              <a:ext uri="{FF2B5EF4-FFF2-40B4-BE49-F238E27FC236}">
                <a16:creationId xmlns:a16="http://schemas.microsoft.com/office/drawing/2014/main" id="{21714FB6-1184-6ACD-428D-BFEE604FB098}"/>
              </a:ext>
            </a:extLst>
          </p:cNvPr>
          <p:cNvGraphicFramePr>
            <a:graphicFrameLocks noGrp="1"/>
          </p:cNvGraphicFramePr>
          <p:nvPr>
            <p:extLst>
              <p:ext uri="{D42A27DB-BD31-4B8C-83A1-F6EECF244321}">
                <p14:modId xmlns:p14="http://schemas.microsoft.com/office/powerpoint/2010/main" val="3729091856"/>
              </p:ext>
            </p:extLst>
          </p:nvPr>
        </p:nvGraphicFramePr>
        <p:xfrm>
          <a:off x="3869267" y="2212258"/>
          <a:ext cx="7315200" cy="3931920"/>
        </p:xfrm>
        <a:graphic>
          <a:graphicData uri="http://schemas.openxmlformats.org/drawingml/2006/table">
            <a:tbl>
              <a:tblPr>
                <a:tableStyleId>{BDBED569-4797-4DF1-A0F4-6AAB3CD982D8}</a:tableStyleId>
              </a:tblPr>
              <a:tblGrid>
                <a:gridCol w="2438400">
                  <a:extLst>
                    <a:ext uri="{9D8B030D-6E8A-4147-A177-3AD203B41FA5}">
                      <a16:colId xmlns:a16="http://schemas.microsoft.com/office/drawing/2014/main" val="1063540125"/>
                    </a:ext>
                  </a:extLst>
                </a:gridCol>
                <a:gridCol w="2438400">
                  <a:extLst>
                    <a:ext uri="{9D8B030D-6E8A-4147-A177-3AD203B41FA5}">
                      <a16:colId xmlns:a16="http://schemas.microsoft.com/office/drawing/2014/main" val="557147504"/>
                    </a:ext>
                  </a:extLst>
                </a:gridCol>
                <a:gridCol w="2438400">
                  <a:extLst>
                    <a:ext uri="{9D8B030D-6E8A-4147-A177-3AD203B41FA5}">
                      <a16:colId xmlns:a16="http://schemas.microsoft.com/office/drawing/2014/main" val="3073952139"/>
                    </a:ext>
                  </a:extLst>
                </a:gridCol>
              </a:tblGrid>
              <a:tr h="0">
                <a:tc>
                  <a:txBody>
                    <a:bodyPr/>
                    <a:lstStyle/>
                    <a:p>
                      <a:pPr>
                        <a:buNone/>
                      </a:pPr>
                      <a:r>
                        <a:rPr lang="en-US"/>
                        <a:t>Section</a:t>
                      </a:r>
                    </a:p>
                  </a:txBody>
                  <a:tcPr anchor="ctr"/>
                </a:tc>
                <a:tc>
                  <a:txBody>
                    <a:bodyPr/>
                    <a:lstStyle/>
                    <a:p>
                      <a:pPr>
                        <a:buNone/>
                      </a:pPr>
                      <a:r>
                        <a:rPr lang="en-US"/>
                        <a:t>Content</a:t>
                      </a:r>
                    </a:p>
                  </a:txBody>
                  <a:tcPr anchor="ctr"/>
                </a:tc>
                <a:tc>
                  <a:txBody>
                    <a:bodyPr/>
                    <a:lstStyle/>
                    <a:p>
                      <a:pPr>
                        <a:buNone/>
                      </a:pPr>
                      <a:r>
                        <a:rPr lang="en-US"/>
                        <a:t>Time</a:t>
                      </a:r>
                    </a:p>
                  </a:txBody>
                  <a:tcPr anchor="ctr"/>
                </a:tc>
                <a:extLst>
                  <a:ext uri="{0D108BD9-81ED-4DB2-BD59-A6C34878D82A}">
                    <a16:rowId xmlns:a16="http://schemas.microsoft.com/office/drawing/2014/main" val="1180493829"/>
                  </a:ext>
                </a:extLst>
              </a:tr>
              <a:tr h="0">
                <a:tc>
                  <a:txBody>
                    <a:bodyPr/>
                    <a:lstStyle/>
                    <a:p>
                      <a:pPr>
                        <a:buNone/>
                      </a:pPr>
                      <a:r>
                        <a:rPr lang="en-US"/>
                        <a:t>1. Greeting + Name</a:t>
                      </a:r>
                    </a:p>
                  </a:txBody>
                  <a:tcPr anchor="ctr"/>
                </a:tc>
                <a:tc>
                  <a:txBody>
                    <a:bodyPr/>
                    <a:lstStyle/>
                    <a:p>
                      <a:pPr>
                        <a:buNone/>
                      </a:pPr>
                      <a:r>
                        <a:rPr lang="en-US"/>
                        <a:t>Polite opening + full name</a:t>
                      </a:r>
                    </a:p>
                  </a:txBody>
                  <a:tcPr anchor="ctr"/>
                </a:tc>
                <a:tc>
                  <a:txBody>
                    <a:bodyPr/>
                    <a:lstStyle/>
                    <a:p>
                      <a:pPr>
                        <a:buNone/>
                      </a:pPr>
                      <a:r>
                        <a:rPr lang="en-US"/>
                        <a:t>10 sec</a:t>
                      </a:r>
                    </a:p>
                  </a:txBody>
                  <a:tcPr anchor="ctr"/>
                </a:tc>
                <a:extLst>
                  <a:ext uri="{0D108BD9-81ED-4DB2-BD59-A6C34878D82A}">
                    <a16:rowId xmlns:a16="http://schemas.microsoft.com/office/drawing/2014/main" val="265173359"/>
                  </a:ext>
                </a:extLst>
              </a:tr>
              <a:tr h="0">
                <a:tc>
                  <a:txBody>
                    <a:bodyPr/>
                    <a:lstStyle/>
                    <a:p>
                      <a:pPr>
                        <a:buNone/>
                      </a:pPr>
                      <a:r>
                        <a:rPr lang="en-US"/>
                        <a:t>2. Background</a:t>
                      </a:r>
                    </a:p>
                  </a:txBody>
                  <a:tcPr anchor="ctr"/>
                </a:tc>
                <a:tc>
                  <a:txBody>
                    <a:bodyPr/>
                    <a:lstStyle/>
                    <a:p>
                      <a:pPr>
                        <a:buNone/>
                      </a:pPr>
                      <a:r>
                        <a:rPr lang="en-US"/>
                        <a:t>Degree, university, specialization</a:t>
                      </a:r>
                    </a:p>
                  </a:txBody>
                  <a:tcPr anchor="ctr"/>
                </a:tc>
                <a:tc>
                  <a:txBody>
                    <a:bodyPr/>
                    <a:lstStyle/>
                    <a:p>
                      <a:pPr>
                        <a:buNone/>
                      </a:pPr>
                      <a:r>
                        <a:rPr lang="en-US"/>
                        <a:t>20 sec</a:t>
                      </a:r>
                    </a:p>
                  </a:txBody>
                  <a:tcPr anchor="ctr"/>
                </a:tc>
                <a:extLst>
                  <a:ext uri="{0D108BD9-81ED-4DB2-BD59-A6C34878D82A}">
                    <a16:rowId xmlns:a16="http://schemas.microsoft.com/office/drawing/2014/main" val="3223385763"/>
                  </a:ext>
                </a:extLst>
              </a:tr>
              <a:tr h="0">
                <a:tc>
                  <a:txBody>
                    <a:bodyPr/>
                    <a:lstStyle/>
                    <a:p>
                      <a:pPr>
                        <a:buNone/>
                      </a:pPr>
                      <a:r>
                        <a:rPr lang="en-US"/>
                        <a:t>3. Technical Skills</a:t>
                      </a:r>
                    </a:p>
                  </a:txBody>
                  <a:tcPr anchor="ctr"/>
                </a:tc>
                <a:tc>
                  <a:txBody>
                    <a:bodyPr/>
                    <a:lstStyle/>
                    <a:p>
                      <a:pPr>
                        <a:buNone/>
                      </a:pPr>
                      <a:r>
                        <a:rPr lang="en-US"/>
                        <a:t>AI tools, programming, technologies</a:t>
                      </a:r>
                    </a:p>
                  </a:txBody>
                  <a:tcPr anchor="ctr"/>
                </a:tc>
                <a:tc>
                  <a:txBody>
                    <a:bodyPr/>
                    <a:lstStyle/>
                    <a:p>
                      <a:pPr>
                        <a:buNone/>
                      </a:pPr>
                      <a:r>
                        <a:rPr lang="en-US"/>
                        <a:t>30 sec</a:t>
                      </a:r>
                    </a:p>
                  </a:txBody>
                  <a:tcPr anchor="ctr"/>
                </a:tc>
                <a:extLst>
                  <a:ext uri="{0D108BD9-81ED-4DB2-BD59-A6C34878D82A}">
                    <a16:rowId xmlns:a16="http://schemas.microsoft.com/office/drawing/2014/main" val="2391289733"/>
                  </a:ext>
                </a:extLst>
              </a:tr>
              <a:tr h="0">
                <a:tc>
                  <a:txBody>
                    <a:bodyPr/>
                    <a:lstStyle/>
                    <a:p>
                      <a:pPr>
                        <a:buNone/>
                      </a:pPr>
                      <a:r>
                        <a:rPr lang="en-US"/>
                        <a:t>4. Experience</a:t>
                      </a:r>
                    </a:p>
                  </a:txBody>
                  <a:tcPr anchor="ctr"/>
                </a:tc>
                <a:tc>
                  <a:txBody>
                    <a:bodyPr/>
                    <a:lstStyle/>
                    <a:p>
                      <a:pPr>
                        <a:buNone/>
                      </a:pPr>
                      <a:r>
                        <a:rPr lang="en-US"/>
                        <a:t>Projects / internships / achievements</a:t>
                      </a:r>
                    </a:p>
                  </a:txBody>
                  <a:tcPr anchor="ctr"/>
                </a:tc>
                <a:tc>
                  <a:txBody>
                    <a:bodyPr/>
                    <a:lstStyle/>
                    <a:p>
                      <a:pPr>
                        <a:buNone/>
                      </a:pPr>
                      <a:r>
                        <a:rPr lang="en-US"/>
                        <a:t>30 sec</a:t>
                      </a:r>
                    </a:p>
                  </a:txBody>
                  <a:tcPr anchor="ctr"/>
                </a:tc>
                <a:extLst>
                  <a:ext uri="{0D108BD9-81ED-4DB2-BD59-A6C34878D82A}">
                    <a16:rowId xmlns:a16="http://schemas.microsoft.com/office/drawing/2014/main" val="511570901"/>
                  </a:ext>
                </a:extLst>
              </a:tr>
              <a:tr h="0">
                <a:tc>
                  <a:txBody>
                    <a:bodyPr/>
                    <a:lstStyle/>
                    <a:p>
                      <a:pPr>
                        <a:buNone/>
                      </a:pPr>
                      <a:r>
                        <a:rPr lang="en-US"/>
                        <a:t>5. Career Goals</a:t>
                      </a:r>
                    </a:p>
                  </a:txBody>
                  <a:tcPr anchor="ctr"/>
                </a:tc>
                <a:tc>
                  <a:txBody>
                    <a:bodyPr/>
                    <a:lstStyle/>
                    <a:p>
                      <a:pPr>
                        <a:buNone/>
                      </a:pPr>
                      <a:r>
                        <a:rPr lang="en-US"/>
                        <a:t>Future ambition</a:t>
                      </a:r>
                    </a:p>
                  </a:txBody>
                  <a:tcPr anchor="ctr"/>
                </a:tc>
                <a:tc>
                  <a:txBody>
                    <a:bodyPr/>
                    <a:lstStyle/>
                    <a:p>
                      <a:pPr>
                        <a:buNone/>
                      </a:pPr>
                      <a:r>
                        <a:rPr lang="en-US"/>
                        <a:t>20 sec</a:t>
                      </a:r>
                    </a:p>
                  </a:txBody>
                  <a:tcPr anchor="ctr"/>
                </a:tc>
                <a:extLst>
                  <a:ext uri="{0D108BD9-81ED-4DB2-BD59-A6C34878D82A}">
                    <a16:rowId xmlns:a16="http://schemas.microsoft.com/office/drawing/2014/main" val="177773887"/>
                  </a:ext>
                </a:extLst>
              </a:tr>
              <a:tr h="0">
                <a:tc>
                  <a:txBody>
                    <a:bodyPr/>
                    <a:lstStyle/>
                    <a:p>
                      <a:pPr>
                        <a:buNone/>
                      </a:pPr>
                      <a:r>
                        <a:rPr lang="en-US"/>
                        <a:t>6. Closing</a:t>
                      </a:r>
                    </a:p>
                  </a:txBody>
                  <a:tcPr anchor="ctr"/>
                </a:tc>
                <a:tc>
                  <a:txBody>
                    <a:bodyPr/>
                    <a:lstStyle/>
                    <a:p>
                      <a:pPr>
                        <a:buNone/>
                      </a:pPr>
                      <a:r>
                        <a:rPr lang="en-US"/>
                        <a:t>Thank you + invitation to ask questions</a:t>
                      </a:r>
                    </a:p>
                  </a:txBody>
                  <a:tcPr anchor="ctr"/>
                </a:tc>
                <a:tc>
                  <a:txBody>
                    <a:bodyPr/>
                    <a:lstStyle/>
                    <a:p>
                      <a:pPr>
                        <a:buNone/>
                      </a:pPr>
                      <a:r>
                        <a:rPr lang="en-US" dirty="0"/>
                        <a:t>10 sec</a:t>
                      </a:r>
                    </a:p>
                  </a:txBody>
                  <a:tcPr anchor="ctr"/>
                </a:tc>
                <a:extLst>
                  <a:ext uri="{0D108BD9-81ED-4DB2-BD59-A6C34878D82A}">
                    <a16:rowId xmlns:a16="http://schemas.microsoft.com/office/drawing/2014/main" val="97706966"/>
                  </a:ext>
                </a:extLst>
              </a:tr>
            </a:tbl>
          </a:graphicData>
        </a:graphic>
      </p:graphicFrame>
      <p:sp>
        <p:nvSpPr>
          <p:cNvPr id="5" name="Callout: Right Arrow 4">
            <a:extLst>
              <a:ext uri="{FF2B5EF4-FFF2-40B4-BE49-F238E27FC236}">
                <a16:creationId xmlns:a16="http://schemas.microsoft.com/office/drawing/2014/main" id="{26FFFDFC-DA39-5227-0176-AE18A3F56E75}"/>
              </a:ext>
            </a:extLst>
          </p:cNvPr>
          <p:cNvSpPr/>
          <p:nvPr/>
        </p:nvSpPr>
        <p:spPr>
          <a:xfrm>
            <a:off x="8245366" y="394138"/>
            <a:ext cx="1702675" cy="729699"/>
          </a:xfrm>
          <a:prstGeom prst="rightArrow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Example</a:t>
            </a:r>
          </a:p>
        </p:txBody>
      </p:sp>
      <p:sp>
        <p:nvSpPr>
          <p:cNvPr id="6" name="Slide Number Placeholder 5">
            <a:extLst>
              <a:ext uri="{FF2B5EF4-FFF2-40B4-BE49-F238E27FC236}">
                <a16:creationId xmlns:a16="http://schemas.microsoft.com/office/drawing/2014/main" id="{32D1EAE1-B2DC-C576-52DD-9EA5AAF785B1}"/>
              </a:ext>
            </a:extLst>
          </p:cNvPr>
          <p:cNvSpPr>
            <a:spLocks noGrp="1"/>
          </p:cNvSpPr>
          <p:nvPr>
            <p:ph type="sldNum" sz="quarter" idx="12"/>
          </p:nvPr>
        </p:nvSpPr>
        <p:spPr/>
        <p:txBody>
          <a:bodyPr/>
          <a:lstStyle/>
          <a:p>
            <a:fld id="{ECAB64A0-D49F-4356-A295-EC5B0CCCE6D4}" type="slidenum">
              <a:rPr lang="en-US" smtClean="0"/>
              <a:t>9</a:t>
            </a:fld>
            <a:endParaRPr lang="en-US"/>
          </a:p>
        </p:txBody>
      </p:sp>
    </p:spTree>
    <p:extLst>
      <p:ext uri="{BB962C8B-B14F-4D97-AF65-F5344CB8AC3E}">
        <p14:creationId xmlns:p14="http://schemas.microsoft.com/office/powerpoint/2010/main" val="26676080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33142-BF29-4D59-3249-C3B812CE77C2}"/>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3D665532-84BC-102C-3BF4-80BCEA8501E1}"/>
              </a:ext>
            </a:extLst>
          </p:cNvPr>
          <p:cNvSpPr>
            <a:spLocks noGrp="1"/>
          </p:cNvSpPr>
          <p:nvPr>
            <p:ph idx="1"/>
          </p:nvPr>
        </p:nvSpPr>
        <p:spPr/>
        <p:txBody>
          <a:bodyPr/>
          <a:lstStyle/>
          <a:p>
            <a:pPr algn="just"/>
            <a:r>
              <a:rPr lang="en-US" dirty="0"/>
              <a:t>Hello, my name is Zeinab Abbas. I hold a </a:t>
            </a:r>
            <a:r>
              <a:rPr lang="en-US" b="1" dirty="0"/>
              <a:t>Ph.D. in Machine Learning</a:t>
            </a:r>
            <a:r>
              <a:rPr lang="en-US" dirty="0"/>
              <a:t>, which has given me a strong foundation in both engineering principles and advanced data analysis. I am passionate about using </a:t>
            </a:r>
            <a:r>
              <a:rPr lang="en-US" b="1" dirty="0"/>
              <a:t>artificial intelligence to improve healthcare outcomes</a:t>
            </a:r>
            <a:r>
              <a:rPr lang="en-US" dirty="0"/>
              <a:t> and solve real-world problems.</a:t>
            </a:r>
          </a:p>
          <a:p>
            <a:pPr algn="just"/>
            <a:r>
              <a:rPr lang="en-US" dirty="0"/>
              <a:t>I have </a:t>
            </a:r>
            <a:r>
              <a:rPr lang="en-US" b="1" dirty="0"/>
              <a:t>hands-on experience in Python</a:t>
            </a:r>
            <a:r>
              <a:rPr lang="en-US" dirty="0"/>
              <a:t> and I work confidently with machine learning tools such as </a:t>
            </a:r>
            <a:r>
              <a:rPr lang="en-US" b="1" dirty="0"/>
              <a:t>NumPy, Pandas, Scikit-learn, TensorFlow, and </a:t>
            </a:r>
            <a:r>
              <a:rPr lang="en-US" b="1" dirty="0" err="1"/>
              <a:t>PyTorch</a:t>
            </a:r>
            <a:r>
              <a:rPr lang="en-US" dirty="0"/>
              <a:t>. I enjoy working in teams and I communicate clearly, especially when explaining complex technical ideas.</a:t>
            </a:r>
          </a:p>
          <a:p>
            <a:pPr algn="just"/>
            <a:r>
              <a:rPr lang="en-US" dirty="0"/>
              <a:t>Thank you.</a:t>
            </a:r>
          </a:p>
        </p:txBody>
      </p:sp>
      <p:sp>
        <p:nvSpPr>
          <p:cNvPr id="4" name="Slide Number Placeholder 3">
            <a:extLst>
              <a:ext uri="{FF2B5EF4-FFF2-40B4-BE49-F238E27FC236}">
                <a16:creationId xmlns:a16="http://schemas.microsoft.com/office/drawing/2014/main" id="{64022000-4280-C97F-D035-C95700CA30A5}"/>
              </a:ext>
            </a:extLst>
          </p:cNvPr>
          <p:cNvSpPr>
            <a:spLocks noGrp="1"/>
          </p:cNvSpPr>
          <p:nvPr>
            <p:ph type="sldNum" sz="quarter" idx="12"/>
          </p:nvPr>
        </p:nvSpPr>
        <p:spPr/>
        <p:txBody>
          <a:bodyPr/>
          <a:lstStyle/>
          <a:p>
            <a:fld id="{ECAB64A0-D49F-4356-A295-EC5B0CCCE6D4}" type="slidenum">
              <a:rPr lang="en-US" smtClean="0"/>
              <a:t>10</a:t>
            </a:fld>
            <a:endParaRPr lang="en-US"/>
          </a:p>
        </p:txBody>
      </p:sp>
    </p:spTree>
    <p:extLst>
      <p:ext uri="{BB962C8B-B14F-4D97-AF65-F5344CB8AC3E}">
        <p14:creationId xmlns:p14="http://schemas.microsoft.com/office/powerpoint/2010/main" val="38832996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3FD57-613A-F829-11A3-3D6ECED24E93}"/>
              </a:ext>
            </a:extLst>
          </p:cNvPr>
          <p:cNvSpPr>
            <a:spLocks noGrp="1"/>
          </p:cNvSpPr>
          <p:nvPr>
            <p:ph type="title"/>
          </p:nvPr>
        </p:nvSpPr>
        <p:spPr/>
        <p:txBody>
          <a:bodyPr>
            <a:normAutofit/>
          </a:bodyPr>
          <a:lstStyle/>
          <a:p>
            <a:r>
              <a:rPr lang="en-US" dirty="0"/>
              <a:t>Scientific English in Data Science &amp; AI</a:t>
            </a:r>
            <a:br>
              <a:rPr lang="en-US" dirty="0"/>
            </a:br>
            <a:endParaRPr lang="en-US" dirty="0"/>
          </a:p>
        </p:txBody>
      </p:sp>
      <p:sp>
        <p:nvSpPr>
          <p:cNvPr id="3" name="Content Placeholder 2">
            <a:extLst>
              <a:ext uri="{FF2B5EF4-FFF2-40B4-BE49-F238E27FC236}">
                <a16:creationId xmlns:a16="http://schemas.microsoft.com/office/drawing/2014/main" id="{F6B7EB35-B935-DA7A-BB20-11F465CA11E2}"/>
              </a:ext>
            </a:extLst>
          </p:cNvPr>
          <p:cNvSpPr>
            <a:spLocks noGrp="1"/>
          </p:cNvSpPr>
          <p:nvPr>
            <p:ph idx="1"/>
          </p:nvPr>
        </p:nvSpPr>
        <p:spPr>
          <a:xfrm>
            <a:off x="3598606" y="383457"/>
            <a:ext cx="7949382" cy="1696065"/>
          </a:xfrm>
        </p:spPr>
        <p:txBody>
          <a:bodyPr>
            <a:normAutofit/>
          </a:bodyPr>
          <a:lstStyle/>
          <a:p>
            <a:pPr marL="0" indent="0" algn="just">
              <a:buNone/>
            </a:pPr>
            <a:r>
              <a:rPr lang="en-US" b="1" dirty="0"/>
              <a:t>When writing or communicating about data science and AI topics, scientific English helps convey complex technical details clearly and professionally. Here are some key tips to make your language scientific and formal:</a:t>
            </a:r>
          </a:p>
          <a:p>
            <a:pPr marL="0" indent="0">
              <a:buNone/>
            </a:pPr>
            <a:endParaRPr lang="en-US" dirty="0"/>
          </a:p>
        </p:txBody>
      </p:sp>
      <p:graphicFrame>
        <p:nvGraphicFramePr>
          <p:cNvPr id="4" name="Diagram 3">
            <a:extLst>
              <a:ext uri="{FF2B5EF4-FFF2-40B4-BE49-F238E27FC236}">
                <a16:creationId xmlns:a16="http://schemas.microsoft.com/office/drawing/2014/main" id="{21A21CBD-6710-E753-1D89-F62707F264F0}"/>
              </a:ext>
            </a:extLst>
          </p:cNvPr>
          <p:cNvGraphicFramePr/>
          <p:nvPr>
            <p:extLst>
              <p:ext uri="{D42A27DB-BD31-4B8C-83A1-F6EECF244321}">
                <p14:modId xmlns:p14="http://schemas.microsoft.com/office/powerpoint/2010/main" val="23948302"/>
              </p:ext>
            </p:extLst>
          </p:nvPr>
        </p:nvGraphicFramePr>
        <p:xfrm>
          <a:off x="3598606" y="1439333"/>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Slide Number Placeholder 4">
            <a:extLst>
              <a:ext uri="{FF2B5EF4-FFF2-40B4-BE49-F238E27FC236}">
                <a16:creationId xmlns:a16="http://schemas.microsoft.com/office/drawing/2014/main" id="{A222D407-8D65-19C2-B242-BE5E030C2C54}"/>
              </a:ext>
            </a:extLst>
          </p:cNvPr>
          <p:cNvSpPr>
            <a:spLocks noGrp="1"/>
          </p:cNvSpPr>
          <p:nvPr>
            <p:ph type="sldNum" sz="quarter" idx="12"/>
          </p:nvPr>
        </p:nvSpPr>
        <p:spPr/>
        <p:txBody>
          <a:bodyPr/>
          <a:lstStyle/>
          <a:p>
            <a:fld id="{ECAB64A0-D49F-4356-A295-EC5B0CCCE6D4}" type="slidenum">
              <a:rPr lang="en-US" smtClean="0"/>
              <a:t>11</a:t>
            </a:fld>
            <a:endParaRPr lang="en-US"/>
          </a:p>
        </p:txBody>
      </p:sp>
    </p:spTree>
    <p:extLst>
      <p:ext uri="{BB962C8B-B14F-4D97-AF65-F5344CB8AC3E}">
        <p14:creationId xmlns:p14="http://schemas.microsoft.com/office/powerpoint/2010/main" val="18978637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AF493-B85F-D47B-10CC-E4EFB2E08C0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8D951CD-0654-57EE-CC1E-87F7C7BFE163}"/>
              </a:ext>
            </a:extLst>
          </p:cNvPr>
          <p:cNvSpPr>
            <a:spLocks noGrp="1"/>
          </p:cNvSpPr>
          <p:nvPr>
            <p:ph idx="1"/>
          </p:nvPr>
        </p:nvSpPr>
        <p:spPr/>
        <p:txBody>
          <a:bodyPr/>
          <a:lstStyle/>
          <a:p>
            <a:r>
              <a:rPr lang="en-US" dirty="0"/>
              <a:t>Good professional English in AI is:</a:t>
            </a:r>
            <a:r>
              <a:rPr lang="en-US" b="1" u="sng" dirty="0"/>
              <a:t>  Clear, Concise, Objective  Action-oriented.</a:t>
            </a:r>
          </a:p>
          <a:p>
            <a:endParaRPr lang="en-US" dirty="0"/>
          </a:p>
          <a:p>
            <a:endParaRPr lang="en-US" dirty="0"/>
          </a:p>
        </p:txBody>
      </p:sp>
      <p:graphicFrame>
        <p:nvGraphicFramePr>
          <p:cNvPr id="4" name="Table 3">
            <a:extLst>
              <a:ext uri="{FF2B5EF4-FFF2-40B4-BE49-F238E27FC236}">
                <a16:creationId xmlns:a16="http://schemas.microsoft.com/office/drawing/2014/main" id="{9E41B902-EC44-58FA-23B3-EAAC0A05B6A3}"/>
              </a:ext>
            </a:extLst>
          </p:cNvPr>
          <p:cNvGraphicFramePr>
            <a:graphicFrameLocks noGrp="1"/>
          </p:cNvGraphicFramePr>
          <p:nvPr/>
        </p:nvGraphicFramePr>
        <p:xfrm>
          <a:off x="3721509" y="3753940"/>
          <a:ext cx="8217572" cy="375607"/>
        </p:xfrm>
        <a:graphic>
          <a:graphicData uri="http://schemas.openxmlformats.org/drawingml/2006/table">
            <a:tbl>
              <a:tblPr/>
              <a:tblGrid>
                <a:gridCol w="4108786">
                  <a:extLst>
                    <a:ext uri="{9D8B030D-6E8A-4147-A177-3AD203B41FA5}">
                      <a16:colId xmlns:a16="http://schemas.microsoft.com/office/drawing/2014/main" val="2516393191"/>
                    </a:ext>
                  </a:extLst>
                </a:gridCol>
                <a:gridCol w="4108786">
                  <a:extLst>
                    <a:ext uri="{9D8B030D-6E8A-4147-A177-3AD203B41FA5}">
                      <a16:colId xmlns:a16="http://schemas.microsoft.com/office/drawing/2014/main" val="2192737150"/>
                    </a:ext>
                  </a:extLst>
                </a:gridCol>
              </a:tblGrid>
              <a:tr h="375607">
                <a:tc>
                  <a:txBody>
                    <a:bodyPr/>
                    <a:lstStyle/>
                    <a:p>
                      <a:pPr>
                        <a:buNone/>
                      </a:pPr>
                      <a:r>
                        <a:rPr lang="en-US" dirty="0"/>
                        <a:t>Poor Sentence</a:t>
                      </a:r>
                    </a:p>
                  </a:txBody>
                  <a:tcPr anchor="ctr">
                    <a:lnL>
                      <a:noFill/>
                    </a:lnL>
                    <a:lnR>
                      <a:noFill/>
                    </a:lnR>
                    <a:lnT>
                      <a:noFill/>
                    </a:lnT>
                    <a:lnB>
                      <a:noFill/>
                    </a:lnB>
                    <a:noFill/>
                  </a:tcPr>
                </a:tc>
                <a:tc>
                  <a:txBody>
                    <a:bodyPr/>
                    <a:lstStyle/>
                    <a:p>
                      <a:pPr>
                        <a:buNone/>
                      </a:pPr>
                      <a:r>
                        <a:rPr lang="en-US" dirty="0"/>
                        <a:t>Improved Professional Version</a:t>
                      </a:r>
                    </a:p>
                  </a:txBody>
                  <a:tcPr anchor="ctr">
                    <a:lnL>
                      <a:noFill/>
                    </a:lnL>
                    <a:lnR>
                      <a:noFill/>
                    </a:lnR>
                    <a:lnT>
                      <a:noFill/>
                    </a:lnT>
                    <a:lnB>
                      <a:noFill/>
                    </a:lnB>
                    <a:noFill/>
                  </a:tcPr>
                </a:tc>
                <a:extLst>
                  <a:ext uri="{0D108BD9-81ED-4DB2-BD59-A6C34878D82A}">
                    <a16:rowId xmlns:a16="http://schemas.microsoft.com/office/drawing/2014/main" val="2279813685"/>
                  </a:ext>
                </a:extLst>
              </a:tr>
            </a:tbl>
          </a:graphicData>
        </a:graphic>
      </p:graphicFrame>
      <p:sp>
        <p:nvSpPr>
          <p:cNvPr id="7" name="Callout: Up Arrow 6">
            <a:extLst>
              <a:ext uri="{FF2B5EF4-FFF2-40B4-BE49-F238E27FC236}">
                <a16:creationId xmlns:a16="http://schemas.microsoft.com/office/drawing/2014/main" id="{8593331D-2597-2512-D8F2-84800C3EF333}"/>
              </a:ext>
            </a:extLst>
          </p:cNvPr>
          <p:cNvSpPr/>
          <p:nvPr/>
        </p:nvSpPr>
        <p:spPr>
          <a:xfrm>
            <a:off x="3662790" y="4568092"/>
            <a:ext cx="3347884" cy="1495922"/>
          </a:xfrm>
          <a:prstGeom prst="upArrow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The model was kind of slow.</a:t>
            </a:r>
          </a:p>
        </p:txBody>
      </p:sp>
      <p:sp>
        <p:nvSpPr>
          <p:cNvPr id="8" name="Callout: Up Arrow 7">
            <a:extLst>
              <a:ext uri="{FF2B5EF4-FFF2-40B4-BE49-F238E27FC236}">
                <a16:creationId xmlns:a16="http://schemas.microsoft.com/office/drawing/2014/main" id="{7669945A-8E9D-95ED-297A-0475500FC3A8}"/>
              </a:ext>
            </a:extLst>
          </p:cNvPr>
          <p:cNvSpPr/>
          <p:nvPr/>
        </p:nvSpPr>
        <p:spPr>
          <a:xfrm>
            <a:off x="7423628" y="4607021"/>
            <a:ext cx="4173794" cy="1495922"/>
          </a:xfrm>
          <a:prstGeom prst="upArrow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The model latency is 210ms, which exceeds the 100ms target.</a:t>
            </a:r>
          </a:p>
        </p:txBody>
      </p:sp>
      <p:sp>
        <p:nvSpPr>
          <p:cNvPr id="5" name="Slide Number Placeholder 4">
            <a:extLst>
              <a:ext uri="{FF2B5EF4-FFF2-40B4-BE49-F238E27FC236}">
                <a16:creationId xmlns:a16="http://schemas.microsoft.com/office/drawing/2014/main" id="{18063C1C-EDA0-91B1-3EB1-024BCCD071B7}"/>
              </a:ext>
            </a:extLst>
          </p:cNvPr>
          <p:cNvSpPr>
            <a:spLocks noGrp="1"/>
          </p:cNvSpPr>
          <p:nvPr>
            <p:ph type="sldNum" sz="quarter" idx="12"/>
          </p:nvPr>
        </p:nvSpPr>
        <p:spPr/>
        <p:txBody>
          <a:bodyPr/>
          <a:lstStyle/>
          <a:p>
            <a:fld id="{ECAB64A0-D49F-4356-A295-EC5B0CCCE6D4}" type="slidenum">
              <a:rPr lang="en-US" smtClean="0"/>
              <a:t>12</a:t>
            </a:fld>
            <a:endParaRPr lang="en-US"/>
          </a:p>
        </p:txBody>
      </p:sp>
    </p:spTree>
    <p:extLst>
      <p:ext uri="{BB962C8B-B14F-4D97-AF65-F5344CB8AC3E}">
        <p14:creationId xmlns:p14="http://schemas.microsoft.com/office/powerpoint/2010/main" val="20906158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Example: Professional Report Language</a:t>
            </a:r>
          </a:p>
        </p:txBody>
      </p:sp>
      <p:sp>
        <p:nvSpPr>
          <p:cNvPr id="3" name="Content Placeholder 2"/>
          <p:cNvSpPr>
            <a:spLocks noGrp="1"/>
          </p:cNvSpPr>
          <p:nvPr>
            <p:ph idx="1"/>
          </p:nvPr>
        </p:nvSpPr>
        <p:spPr/>
        <p:txBody>
          <a:bodyPr>
            <a:normAutofit/>
          </a:bodyPr>
          <a:lstStyle/>
          <a:p>
            <a:pPr algn="just"/>
            <a:endParaRPr dirty="0"/>
          </a:p>
          <a:p>
            <a:pPr algn="just">
              <a:defRPr sz="2000">
                <a:latin typeface="Arial"/>
              </a:defRPr>
            </a:pPr>
            <a:r>
              <a:rPr dirty="0"/>
              <a:t>Informal: 'I tested the code and it worked pretty well.'</a:t>
            </a:r>
          </a:p>
          <a:p>
            <a:pPr algn="just">
              <a:defRPr sz="2000">
                <a:latin typeface="Arial"/>
              </a:defRPr>
            </a:pPr>
            <a:r>
              <a:rPr dirty="0"/>
              <a:t>Formal: 'The implementation was tested and produced accurate results.'</a:t>
            </a:r>
            <a:endParaRPr lang="en-US" dirty="0"/>
          </a:p>
          <a:p>
            <a:pPr algn="just">
              <a:defRPr sz="2000">
                <a:latin typeface="Arial"/>
              </a:defRPr>
            </a:pPr>
            <a:endParaRPr dirty="0"/>
          </a:p>
          <a:p>
            <a:pPr algn="just">
              <a:defRPr sz="2000">
                <a:latin typeface="Arial"/>
              </a:defRPr>
            </a:pPr>
            <a:r>
              <a:rPr dirty="0"/>
              <a:t> Informal: 'We need more data to be sure.'</a:t>
            </a:r>
          </a:p>
          <a:p>
            <a:pPr algn="just">
              <a:defRPr sz="2000">
                <a:latin typeface="Arial"/>
              </a:defRPr>
            </a:pPr>
            <a:r>
              <a:rPr dirty="0"/>
              <a:t> Formal: 'Additional data is required to validate the findings.'</a:t>
            </a:r>
          </a:p>
          <a:p>
            <a:pPr algn="just">
              <a:defRPr sz="2000" b="1">
                <a:solidFill>
                  <a:srgbClr val="C81E1E"/>
                </a:solidFill>
                <a:latin typeface="Arial"/>
              </a:defRPr>
            </a:pPr>
            <a:endParaRPr dirty="0"/>
          </a:p>
        </p:txBody>
      </p:sp>
      <p:sp>
        <p:nvSpPr>
          <p:cNvPr id="4" name="Slide Number Placeholder 3">
            <a:extLst>
              <a:ext uri="{FF2B5EF4-FFF2-40B4-BE49-F238E27FC236}">
                <a16:creationId xmlns:a16="http://schemas.microsoft.com/office/drawing/2014/main" id="{7D8AF415-D8B4-89DC-7469-396B281F7A82}"/>
              </a:ext>
            </a:extLst>
          </p:cNvPr>
          <p:cNvSpPr>
            <a:spLocks noGrp="1"/>
          </p:cNvSpPr>
          <p:nvPr>
            <p:ph type="sldNum" sz="quarter" idx="12"/>
          </p:nvPr>
        </p:nvSpPr>
        <p:spPr/>
        <p:txBody>
          <a:bodyPr/>
          <a:lstStyle/>
          <a:p>
            <a:fld id="{ECAB64A0-D49F-4356-A295-EC5B0CCCE6D4}" type="slidenum">
              <a:rPr lang="en-US" smtClean="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04F7D-8685-47D4-827E-09A588D23094}"/>
              </a:ext>
            </a:extLst>
          </p:cNvPr>
          <p:cNvSpPr>
            <a:spLocks noGrp="1"/>
          </p:cNvSpPr>
          <p:nvPr>
            <p:ph type="title"/>
          </p:nvPr>
        </p:nvSpPr>
        <p:spPr/>
        <p:txBody>
          <a:bodyPr>
            <a:normAutofit/>
          </a:bodyPr>
          <a:lstStyle/>
          <a:p>
            <a:r>
              <a:rPr lang="en-US" dirty="0"/>
              <a:t>Exercise 1: Identify Features</a:t>
            </a:r>
            <a:br>
              <a:rPr lang="en-US" dirty="0"/>
            </a:br>
            <a:endParaRPr lang="en-US" dirty="0"/>
          </a:p>
        </p:txBody>
      </p:sp>
      <p:sp>
        <p:nvSpPr>
          <p:cNvPr id="3" name="Content Placeholder 2">
            <a:extLst>
              <a:ext uri="{FF2B5EF4-FFF2-40B4-BE49-F238E27FC236}">
                <a16:creationId xmlns:a16="http://schemas.microsoft.com/office/drawing/2014/main" id="{C4F0DB6D-CB4B-53F2-40A7-6AA9D889184F}"/>
              </a:ext>
            </a:extLst>
          </p:cNvPr>
          <p:cNvSpPr>
            <a:spLocks noGrp="1"/>
          </p:cNvSpPr>
          <p:nvPr>
            <p:ph idx="1"/>
          </p:nvPr>
        </p:nvSpPr>
        <p:spPr/>
        <p:txBody>
          <a:bodyPr>
            <a:normAutofit lnSpcReduction="10000"/>
          </a:bodyPr>
          <a:lstStyle/>
          <a:p>
            <a:pPr marL="0" indent="0" algn="just">
              <a:buNone/>
            </a:pPr>
            <a:r>
              <a:rPr lang="en-US" b="1" dirty="0"/>
              <a:t>Read the paragraph:</a:t>
            </a:r>
          </a:p>
          <a:p>
            <a:pPr marL="0" indent="0" algn="just">
              <a:buNone/>
            </a:pPr>
            <a:br>
              <a:rPr lang="en-US" dirty="0"/>
            </a:br>
            <a:r>
              <a:rPr lang="en-US" dirty="0"/>
              <a:t>"The experiment showed a significant increase in catalyst efficiency at 75°C. These findings support the hypothesis that temperature affects reaction rate.“</a:t>
            </a:r>
          </a:p>
          <a:p>
            <a:pPr marL="0" indent="0" algn="just">
              <a:buNone/>
            </a:pPr>
            <a:endParaRPr lang="en-US" dirty="0"/>
          </a:p>
          <a:p>
            <a:pPr marL="0" indent="0" algn="just">
              <a:buNone/>
            </a:pPr>
            <a:r>
              <a:rPr lang="en-US" b="1" dirty="0"/>
              <a:t>Questions:</a:t>
            </a:r>
          </a:p>
          <a:p>
            <a:pPr algn="just"/>
            <a:r>
              <a:rPr lang="en-US" dirty="0"/>
              <a:t>List three features in this paragraph that are typical of scientific English.</a:t>
            </a:r>
          </a:p>
          <a:p>
            <a:pPr algn="just"/>
            <a:r>
              <a:rPr lang="en-US" dirty="0"/>
              <a:t>What scientific terms can you find?</a:t>
            </a:r>
          </a:p>
          <a:p>
            <a:pPr marL="0" indent="0" algn="just">
              <a:buNone/>
            </a:pPr>
            <a:r>
              <a:rPr lang="en-US" b="1" dirty="0"/>
              <a:t>Answers:</a:t>
            </a:r>
          </a:p>
          <a:p>
            <a:pPr algn="just"/>
            <a:r>
              <a:rPr lang="en-US" dirty="0"/>
              <a:t>Formal tone, use of passive voice, and precise expression of results.</a:t>
            </a:r>
          </a:p>
          <a:p>
            <a:pPr algn="just"/>
            <a:r>
              <a:rPr lang="en-US" dirty="0"/>
              <a:t>Catalyst, efficiency, hypothesis, reaction rate.</a:t>
            </a:r>
            <a:br>
              <a:rPr lang="en-US" dirty="0"/>
            </a:br>
            <a:endParaRPr lang="en-US" dirty="0"/>
          </a:p>
        </p:txBody>
      </p:sp>
      <p:sp>
        <p:nvSpPr>
          <p:cNvPr id="4" name="Slide Number Placeholder 3">
            <a:extLst>
              <a:ext uri="{FF2B5EF4-FFF2-40B4-BE49-F238E27FC236}">
                <a16:creationId xmlns:a16="http://schemas.microsoft.com/office/drawing/2014/main" id="{D7590C42-07D6-81C5-6939-D13FF5E2E5E9}"/>
              </a:ext>
            </a:extLst>
          </p:cNvPr>
          <p:cNvSpPr>
            <a:spLocks noGrp="1"/>
          </p:cNvSpPr>
          <p:nvPr>
            <p:ph type="sldNum" sz="quarter" idx="12"/>
          </p:nvPr>
        </p:nvSpPr>
        <p:spPr/>
        <p:txBody>
          <a:bodyPr/>
          <a:lstStyle/>
          <a:p>
            <a:fld id="{ECAB64A0-D49F-4356-A295-EC5B0CCCE6D4}" type="slidenum">
              <a:rPr lang="en-US" smtClean="0"/>
              <a:t>14</a:t>
            </a:fld>
            <a:endParaRPr lang="en-US"/>
          </a:p>
        </p:txBody>
      </p:sp>
    </p:spTree>
    <p:extLst>
      <p:ext uri="{BB962C8B-B14F-4D97-AF65-F5344CB8AC3E}">
        <p14:creationId xmlns:p14="http://schemas.microsoft.com/office/powerpoint/2010/main" val="349643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 calcmode="lin" valueType="num">
                                      <p:cBhvr additive="base">
                                        <p:cTn id="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anim calcmode="lin" valueType="num">
                                      <p:cBhvr additive="base">
                                        <p:cTn id="1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7" end="7"/>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anim calcmode="lin" valueType="num">
                                      <p:cBhvr additive="base">
                                        <p:cTn id="1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2A437-D525-CF91-AE3C-9D36B9BEE820}"/>
              </a:ext>
            </a:extLst>
          </p:cNvPr>
          <p:cNvSpPr>
            <a:spLocks noGrp="1"/>
          </p:cNvSpPr>
          <p:nvPr>
            <p:ph type="title"/>
          </p:nvPr>
        </p:nvSpPr>
        <p:spPr/>
        <p:txBody>
          <a:bodyPr/>
          <a:lstStyle/>
          <a:p>
            <a:r>
              <a:rPr lang="en-US" dirty="0"/>
              <a:t>Passive voice</a:t>
            </a:r>
          </a:p>
        </p:txBody>
      </p:sp>
      <p:sp>
        <p:nvSpPr>
          <p:cNvPr id="3" name="Content Placeholder 2">
            <a:extLst>
              <a:ext uri="{FF2B5EF4-FFF2-40B4-BE49-F238E27FC236}">
                <a16:creationId xmlns:a16="http://schemas.microsoft.com/office/drawing/2014/main" id="{0A32C471-983A-F70F-EC89-9CE569AD38C4}"/>
              </a:ext>
            </a:extLst>
          </p:cNvPr>
          <p:cNvSpPr>
            <a:spLocks noGrp="1"/>
          </p:cNvSpPr>
          <p:nvPr>
            <p:ph idx="1"/>
          </p:nvPr>
        </p:nvSpPr>
        <p:spPr/>
        <p:txBody>
          <a:bodyPr/>
          <a:lstStyle/>
          <a:p>
            <a:pPr algn="just"/>
            <a:r>
              <a:rPr lang="en-US" b="1" dirty="0"/>
              <a:t>Passive voice</a:t>
            </a:r>
            <a:r>
              <a:rPr lang="en-US" dirty="0"/>
              <a:t> is a grammatical structure in English where the </a:t>
            </a:r>
            <a:r>
              <a:rPr lang="en-US" b="1" dirty="0"/>
              <a:t>focus is on the result or the action</a:t>
            </a:r>
            <a:r>
              <a:rPr lang="en-US" dirty="0"/>
              <a:t>, not on the person who did the action.</a:t>
            </a:r>
          </a:p>
          <a:p>
            <a:pPr marL="0" indent="0">
              <a:buNone/>
            </a:pPr>
            <a:r>
              <a:rPr lang="en-US" b="1" dirty="0"/>
              <a:t>Passive Voice = Object + verb "to be" + past participle (+ by + subject)</a:t>
            </a:r>
          </a:p>
          <a:p>
            <a:pPr marL="0" indent="0">
              <a:buNone/>
            </a:pPr>
            <a:br>
              <a:rPr lang="en-US" dirty="0"/>
            </a:br>
            <a:r>
              <a:rPr lang="en-US" dirty="0"/>
              <a:t>Example:</a:t>
            </a:r>
          </a:p>
          <a:p>
            <a:r>
              <a:rPr lang="en-US" b="1" dirty="0"/>
              <a:t>Active:</a:t>
            </a:r>
            <a:r>
              <a:rPr lang="en-US" dirty="0"/>
              <a:t> The engineer designed the system.</a:t>
            </a:r>
          </a:p>
          <a:p>
            <a:r>
              <a:rPr lang="en-US" b="1" dirty="0"/>
              <a:t>Passive:</a:t>
            </a:r>
            <a:r>
              <a:rPr lang="en-US" dirty="0"/>
              <a:t> The system </a:t>
            </a:r>
            <a:r>
              <a:rPr lang="en-US" b="1" dirty="0"/>
              <a:t>was designed</a:t>
            </a:r>
            <a:r>
              <a:rPr lang="en-US" dirty="0"/>
              <a:t> by the engineer.</a:t>
            </a:r>
          </a:p>
          <a:p>
            <a:endParaRPr lang="en-US" dirty="0"/>
          </a:p>
        </p:txBody>
      </p:sp>
      <p:sp>
        <p:nvSpPr>
          <p:cNvPr id="4" name="Slide Number Placeholder 3">
            <a:extLst>
              <a:ext uri="{FF2B5EF4-FFF2-40B4-BE49-F238E27FC236}">
                <a16:creationId xmlns:a16="http://schemas.microsoft.com/office/drawing/2014/main" id="{5E313F87-D9A5-06B0-22B9-C2A6CB804308}"/>
              </a:ext>
            </a:extLst>
          </p:cNvPr>
          <p:cNvSpPr>
            <a:spLocks noGrp="1"/>
          </p:cNvSpPr>
          <p:nvPr>
            <p:ph type="sldNum" sz="quarter" idx="12"/>
          </p:nvPr>
        </p:nvSpPr>
        <p:spPr/>
        <p:txBody>
          <a:bodyPr/>
          <a:lstStyle/>
          <a:p>
            <a:fld id="{ECAB64A0-D49F-4356-A295-EC5B0CCCE6D4}" type="slidenum">
              <a:rPr lang="en-US" smtClean="0"/>
              <a:t>15</a:t>
            </a:fld>
            <a:endParaRPr lang="en-US"/>
          </a:p>
        </p:txBody>
      </p:sp>
    </p:spTree>
    <p:extLst>
      <p:ext uri="{BB962C8B-B14F-4D97-AF65-F5344CB8AC3E}">
        <p14:creationId xmlns:p14="http://schemas.microsoft.com/office/powerpoint/2010/main" val="29795488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A9B10-BD82-484C-3BD9-4879B058EEEE}"/>
              </a:ext>
            </a:extLst>
          </p:cNvPr>
          <p:cNvSpPr>
            <a:spLocks noGrp="1"/>
          </p:cNvSpPr>
          <p:nvPr>
            <p:ph type="title"/>
          </p:nvPr>
        </p:nvSpPr>
        <p:spPr/>
        <p:txBody>
          <a:bodyPr>
            <a:normAutofit/>
          </a:bodyPr>
          <a:lstStyle/>
          <a:p>
            <a:r>
              <a:rPr lang="en-US" sz="3100" dirty="0"/>
              <a:t>Exercise: Rewrite informal text into scientific English.</a:t>
            </a:r>
            <a:br>
              <a:rPr lang="en-US" dirty="0"/>
            </a:br>
            <a:endParaRPr lang="en-US" dirty="0"/>
          </a:p>
        </p:txBody>
      </p:sp>
      <p:sp>
        <p:nvSpPr>
          <p:cNvPr id="3" name="Content Placeholder 2">
            <a:extLst>
              <a:ext uri="{FF2B5EF4-FFF2-40B4-BE49-F238E27FC236}">
                <a16:creationId xmlns:a16="http://schemas.microsoft.com/office/drawing/2014/main" id="{E0977C10-19C4-BF7B-1B9E-614AC4701BA0}"/>
              </a:ext>
            </a:extLst>
          </p:cNvPr>
          <p:cNvSpPr>
            <a:spLocks noGrp="1"/>
          </p:cNvSpPr>
          <p:nvPr>
            <p:ph idx="1"/>
          </p:nvPr>
        </p:nvSpPr>
        <p:spPr/>
        <p:txBody>
          <a:bodyPr/>
          <a:lstStyle/>
          <a:p>
            <a:pPr algn="just"/>
            <a:r>
              <a:rPr lang="en-US" dirty="0"/>
              <a:t>"We tried a random forest model on the dataset, and it worked pretty well. The accuracy was around 85%, which is good. We also checked if the model overfits, but it looked okay. The data had some missing values, but we filled those in with the average."</a:t>
            </a:r>
            <a:br>
              <a:rPr lang="en-US" dirty="0"/>
            </a:br>
            <a:endParaRPr lang="en-US" dirty="0"/>
          </a:p>
          <a:p>
            <a:pPr marL="0" indent="0" algn="just">
              <a:buNone/>
            </a:pPr>
            <a:r>
              <a:rPr lang="en-US" dirty="0">
                <a:solidFill>
                  <a:srgbClr val="FF0000"/>
                </a:solidFill>
              </a:rPr>
              <a:t>Take your time to make the language more formal, precise, and objective.</a:t>
            </a:r>
          </a:p>
          <a:p>
            <a:pPr marL="0" indent="0" algn="just">
              <a:buNone/>
            </a:pPr>
            <a:r>
              <a:rPr lang="en-US" b="1" dirty="0"/>
              <a:t>ANSWER: </a:t>
            </a:r>
            <a:r>
              <a:rPr lang="en-US" dirty="0"/>
              <a:t>"A random forest model was applied to the dataset, achieving an accuracy of approximately 85%. The model’s performance was evaluated for overfitting, which was not detected. Missing data in the dataset were imputed using mean substitution."</a:t>
            </a:r>
          </a:p>
        </p:txBody>
      </p:sp>
      <p:sp>
        <p:nvSpPr>
          <p:cNvPr id="4" name="Slide Number Placeholder 3">
            <a:extLst>
              <a:ext uri="{FF2B5EF4-FFF2-40B4-BE49-F238E27FC236}">
                <a16:creationId xmlns:a16="http://schemas.microsoft.com/office/drawing/2014/main" id="{A0FCFF9B-A7D3-1A24-D3F2-A7271759C586}"/>
              </a:ext>
            </a:extLst>
          </p:cNvPr>
          <p:cNvSpPr>
            <a:spLocks noGrp="1"/>
          </p:cNvSpPr>
          <p:nvPr>
            <p:ph type="sldNum" sz="quarter" idx="12"/>
          </p:nvPr>
        </p:nvSpPr>
        <p:spPr/>
        <p:txBody>
          <a:bodyPr/>
          <a:lstStyle/>
          <a:p>
            <a:fld id="{ECAB64A0-D49F-4356-A295-EC5B0CCCE6D4}" type="slidenum">
              <a:rPr lang="en-US" smtClean="0"/>
              <a:t>16</a:t>
            </a:fld>
            <a:endParaRPr lang="en-US"/>
          </a:p>
        </p:txBody>
      </p:sp>
    </p:spTree>
    <p:extLst>
      <p:ext uri="{BB962C8B-B14F-4D97-AF65-F5344CB8AC3E}">
        <p14:creationId xmlns:p14="http://schemas.microsoft.com/office/powerpoint/2010/main" val="1486461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A8AC6-8C47-65D0-77CA-742F0CB58F09}"/>
              </a:ext>
            </a:extLst>
          </p:cNvPr>
          <p:cNvSpPr>
            <a:spLocks noGrp="1"/>
          </p:cNvSpPr>
          <p:nvPr>
            <p:ph type="title"/>
          </p:nvPr>
        </p:nvSpPr>
        <p:spPr/>
        <p:txBody>
          <a:bodyPr>
            <a:normAutofit/>
          </a:bodyPr>
          <a:lstStyle/>
          <a:p>
            <a:r>
              <a:rPr lang="en-US" dirty="0"/>
              <a:t>Exercise: Rewrite informal text into scientific English</a:t>
            </a:r>
          </a:p>
        </p:txBody>
      </p:sp>
      <p:sp>
        <p:nvSpPr>
          <p:cNvPr id="3" name="Content Placeholder 2">
            <a:extLst>
              <a:ext uri="{FF2B5EF4-FFF2-40B4-BE49-F238E27FC236}">
                <a16:creationId xmlns:a16="http://schemas.microsoft.com/office/drawing/2014/main" id="{B6F7FF24-9D38-D7C3-AC89-0BA015925D3D}"/>
              </a:ext>
            </a:extLst>
          </p:cNvPr>
          <p:cNvSpPr>
            <a:spLocks noGrp="1"/>
          </p:cNvSpPr>
          <p:nvPr>
            <p:ph idx="1"/>
          </p:nvPr>
        </p:nvSpPr>
        <p:spPr/>
        <p:txBody>
          <a:bodyPr/>
          <a:lstStyle/>
          <a:p>
            <a:pPr algn="just"/>
            <a:r>
              <a:rPr lang="en-US" b="1" dirty="0"/>
              <a:t>Informal text:</a:t>
            </a:r>
            <a:br>
              <a:rPr lang="en-US" dirty="0"/>
            </a:br>
            <a:r>
              <a:rPr lang="en-US" dirty="0"/>
              <a:t>"We ran the support vector machine on the data, and it performed okay. The model wasn’t too slow either. We cleaned the data by dropping the rows with errors.“</a:t>
            </a:r>
          </a:p>
          <a:p>
            <a:pPr algn="just"/>
            <a:endParaRPr lang="en-US" dirty="0"/>
          </a:p>
          <a:p>
            <a:pPr algn="just"/>
            <a:r>
              <a:rPr lang="en-US" b="1" dirty="0"/>
              <a:t>Answer: </a:t>
            </a:r>
            <a:r>
              <a:rPr lang="en-US" dirty="0"/>
              <a:t>"A support vector machine was trained on the dataset, demonstrating satisfactory performance and efficient processing speed. Data preprocessing included the removal of rows containing errors."</a:t>
            </a:r>
          </a:p>
          <a:p>
            <a:endParaRPr lang="en-US" dirty="0"/>
          </a:p>
        </p:txBody>
      </p:sp>
      <p:sp>
        <p:nvSpPr>
          <p:cNvPr id="4" name="Slide Number Placeholder 3">
            <a:extLst>
              <a:ext uri="{FF2B5EF4-FFF2-40B4-BE49-F238E27FC236}">
                <a16:creationId xmlns:a16="http://schemas.microsoft.com/office/drawing/2014/main" id="{FA2D5FF4-DAFD-3F98-D48C-2C43B94DAD6D}"/>
              </a:ext>
            </a:extLst>
          </p:cNvPr>
          <p:cNvSpPr>
            <a:spLocks noGrp="1"/>
          </p:cNvSpPr>
          <p:nvPr>
            <p:ph type="sldNum" sz="quarter" idx="12"/>
          </p:nvPr>
        </p:nvSpPr>
        <p:spPr/>
        <p:txBody>
          <a:bodyPr/>
          <a:lstStyle/>
          <a:p>
            <a:fld id="{ECAB64A0-D49F-4356-A295-EC5B0CCCE6D4}" type="slidenum">
              <a:rPr lang="en-US" smtClean="0"/>
              <a:t>17</a:t>
            </a:fld>
            <a:endParaRPr lang="en-US"/>
          </a:p>
        </p:txBody>
      </p:sp>
    </p:spTree>
    <p:extLst>
      <p:ext uri="{BB962C8B-B14F-4D97-AF65-F5344CB8AC3E}">
        <p14:creationId xmlns:p14="http://schemas.microsoft.com/office/powerpoint/2010/main" val="1005764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2478E-3129-344A-9233-4A521218E609}"/>
              </a:ext>
            </a:extLst>
          </p:cNvPr>
          <p:cNvSpPr>
            <a:spLocks noGrp="1"/>
          </p:cNvSpPr>
          <p:nvPr>
            <p:ph type="title"/>
          </p:nvPr>
        </p:nvSpPr>
        <p:spPr/>
        <p:txBody>
          <a:bodyPr>
            <a:normAutofit/>
          </a:bodyPr>
          <a:lstStyle/>
          <a:p>
            <a:r>
              <a:rPr lang="en-US" dirty="0"/>
              <a:t>Exercise: Rewrite informal text into scientific English</a:t>
            </a:r>
          </a:p>
        </p:txBody>
      </p:sp>
      <p:sp>
        <p:nvSpPr>
          <p:cNvPr id="3" name="Content Placeholder 2">
            <a:extLst>
              <a:ext uri="{FF2B5EF4-FFF2-40B4-BE49-F238E27FC236}">
                <a16:creationId xmlns:a16="http://schemas.microsoft.com/office/drawing/2014/main" id="{5310B7EF-3273-6EF9-F002-45AD69D351F8}"/>
              </a:ext>
            </a:extLst>
          </p:cNvPr>
          <p:cNvSpPr>
            <a:spLocks noGrp="1"/>
          </p:cNvSpPr>
          <p:nvPr>
            <p:ph idx="1"/>
          </p:nvPr>
        </p:nvSpPr>
        <p:spPr/>
        <p:txBody>
          <a:bodyPr/>
          <a:lstStyle/>
          <a:p>
            <a:r>
              <a:rPr lang="en-US" b="1" dirty="0"/>
              <a:t>Informal text:</a:t>
            </a:r>
            <a:br>
              <a:rPr lang="en-US" dirty="0"/>
            </a:br>
            <a:r>
              <a:rPr lang="en-US" dirty="0"/>
              <a:t>"The neural network did better than we thought. The accuracy went up to 92%. We used some dropout to avoid overfitting.“</a:t>
            </a:r>
          </a:p>
          <a:p>
            <a:pPr algn="just"/>
            <a:endParaRPr lang="en-US" dirty="0"/>
          </a:p>
          <a:p>
            <a:r>
              <a:rPr lang="en-US" b="1" dirty="0"/>
              <a:t>Sample Answer: </a:t>
            </a:r>
          </a:p>
          <a:p>
            <a:pPr marL="0" indent="0">
              <a:buNone/>
            </a:pPr>
            <a:r>
              <a:rPr lang="en-US" dirty="0"/>
              <a:t>"The neural network outperformed expectations, achieving an accuracy of 92%. Dropout regularization was applied to mitigate overfitting."</a:t>
            </a:r>
            <a:br>
              <a:rPr lang="en-US" dirty="0"/>
            </a:br>
            <a:endParaRPr lang="en-US" dirty="0"/>
          </a:p>
        </p:txBody>
      </p:sp>
      <p:sp>
        <p:nvSpPr>
          <p:cNvPr id="4" name="Slide Number Placeholder 3">
            <a:extLst>
              <a:ext uri="{FF2B5EF4-FFF2-40B4-BE49-F238E27FC236}">
                <a16:creationId xmlns:a16="http://schemas.microsoft.com/office/drawing/2014/main" id="{EC028AE1-1268-7B31-7187-ED79ADE582F8}"/>
              </a:ext>
            </a:extLst>
          </p:cNvPr>
          <p:cNvSpPr>
            <a:spLocks noGrp="1"/>
          </p:cNvSpPr>
          <p:nvPr>
            <p:ph type="sldNum" sz="quarter" idx="12"/>
          </p:nvPr>
        </p:nvSpPr>
        <p:spPr/>
        <p:txBody>
          <a:bodyPr/>
          <a:lstStyle/>
          <a:p>
            <a:fld id="{ECAB64A0-D49F-4356-A295-EC5B0CCCE6D4}" type="slidenum">
              <a:rPr lang="en-US" smtClean="0"/>
              <a:t>18</a:t>
            </a:fld>
            <a:endParaRPr lang="en-US"/>
          </a:p>
        </p:txBody>
      </p:sp>
    </p:spTree>
    <p:extLst>
      <p:ext uri="{BB962C8B-B14F-4D97-AF65-F5344CB8AC3E}">
        <p14:creationId xmlns:p14="http://schemas.microsoft.com/office/powerpoint/2010/main" val="466293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3A12C-1995-0A13-86A8-6B6710608560}"/>
              </a:ext>
            </a:extLst>
          </p:cNvPr>
          <p:cNvSpPr>
            <a:spLocks noGrp="1"/>
          </p:cNvSpPr>
          <p:nvPr>
            <p:ph type="title"/>
          </p:nvPr>
        </p:nvSpPr>
        <p:spPr/>
        <p:txBody>
          <a:bodyPr>
            <a:normAutofit/>
          </a:bodyPr>
          <a:lstStyle/>
          <a:p>
            <a:r>
              <a:rPr lang="en-US" dirty="0"/>
              <a:t>Exercise: Rewrite informal text into scientific English</a:t>
            </a:r>
          </a:p>
        </p:txBody>
      </p:sp>
      <p:sp>
        <p:nvSpPr>
          <p:cNvPr id="3" name="Content Placeholder 2">
            <a:extLst>
              <a:ext uri="{FF2B5EF4-FFF2-40B4-BE49-F238E27FC236}">
                <a16:creationId xmlns:a16="http://schemas.microsoft.com/office/drawing/2014/main" id="{7BAB2EA9-29D0-23F1-46FB-EC30CC82E054}"/>
              </a:ext>
            </a:extLst>
          </p:cNvPr>
          <p:cNvSpPr>
            <a:spLocks noGrp="1"/>
          </p:cNvSpPr>
          <p:nvPr>
            <p:ph idx="1"/>
          </p:nvPr>
        </p:nvSpPr>
        <p:spPr/>
        <p:txBody>
          <a:bodyPr/>
          <a:lstStyle/>
          <a:p>
            <a:pPr algn="just"/>
            <a:r>
              <a:rPr lang="en-US" b="1" dirty="0"/>
              <a:t>Informal text</a:t>
            </a:r>
            <a:r>
              <a:rPr lang="en-US" dirty="0"/>
              <a:t>:</a:t>
            </a:r>
            <a:br>
              <a:rPr lang="en-US" dirty="0"/>
            </a:br>
            <a:r>
              <a:rPr lang="en-US" dirty="0"/>
              <a:t>"We split the dataset into training and testing parts. Then, we trained a logistic regression model. It gave decent predictions.“</a:t>
            </a:r>
          </a:p>
          <a:p>
            <a:pPr algn="just"/>
            <a:endParaRPr lang="en-US" dirty="0"/>
          </a:p>
          <a:p>
            <a:pPr algn="just"/>
            <a:r>
              <a:rPr lang="en-US" b="1" dirty="0"/>
              <a:t>Sample Answer:</a:t>
            </a:r>
          </a:p>
          <a:p>
            <a:pPr marL="0" indent="0" algn="just">
              <a:buNone/>
            </a:pPr>
            <a:r>
              <a:rPr lang="en-US" dirty="0"/>
              <a:t>"The dataset was partitioned into training and testing subsets. Subsequently, a logistic regression model was trained, yielding satisfactory predictive accuracy."</a:t>
            </a:r>
          </a:p>
          <a:p>
            <a:endParaRPr lang="en-US" dirty="0"/>
          </a:p>
        </p:txBody>
      </p:sp>
      <p:sp>
        <p:nvSpPr>
          <p:cNvPr id="4" name="Slide Number Placeholder 3">
            <a:extLst>
              <a:ext uri="{FF2B5EF4-FFF2-40B4-BE49-F238E27FC236}">
                <a16:creationId xmlns:a16="http://schemas.microsoft.com/office/drawing/2014/main" id="{50D3AD01-0DB2-A389-C0C1-63B4216657AF}"/>
              </a:ext>
            </a:extLst>
          </p:cNvPr>
          <p:cNvSpPr>
            <a:spLocks noGrp="1"/>
          </p:cNvSpPr>
          <p:nvPr>
            <p:ph type="sldNum" sz="quarter" idx="12"/>
          </p:nvPr>
        </p:nvSpPr>
        <p:spPr/>
        <p:txBody>
          <a:bodyPr/>
          <a:lstStyle/>
          <a:p>
            <a:fld id="{ECAB64A0-D49F-4356-A295-EC5B0CCCE6D4}" type="slidenum">
              <a:rPr lang="en-US" smtClean="0"/>
              <a:t>19</a:t>
            </a:fld>
            <a:endParaRPr lang="en-US"/>
          </a:p>
        </p:txBody>
      </p:sp>
    </p:spTree>
    <p:extLst>
      <p:ext uri="{BB962C8B-B14F-4D97-AF65-F5344CB8AC3E}">
        <p14:creationId xmlns:p14="http://schemas.microsoft.com/office/powerpoint/2010/main" val="1889597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F9050-1934-9770-9772-4452855CC52E}"/>
              </a:ext>
            </a:extLst>
          </p:cNvPr>
          <p:cNvSpPr>
            <a:spLocks noGrp="1"/>
          </p:cNvSpPr>
          <p:nvPr>
            <p:ph type="title"/>
          </p:nvPr>
        </p:nvSpPr>
        <p:spPr/>
        <p:txBody>
          <a:bodyPr/>
          <a:lstStyle/>
          <a:p>
            <a:r>
              <a:rPr lang="en-US" dirty="0"/>
              <a:t>Academic vs Professional English</a:t>
            </a:r>
          </a:p>
        </p:txBody>
      </p:sp>
      <p:graphicFrame>
        <p:nvGraphicFramePr>
          <p:cNvPr id="22" name="Content Placeholder 21">
            <a:extLst>
              <a:ext uri="{FF2B5EF4-FFF2-40B4-BE49-F238E27FC236}">
                <a16:creationId xmlns:a16="http://schemas.microsoft.com/office/drawing/2014/main" id="{A4C00320-0D3B-3283-00C6-70A794053DA0}"/>
              </a:ext>
            </a:extLst>
          </p:cNvPr>
          <p:cNvGraphicFramePr>
            <a:graphicFrameLocks noGrp="1"/>
          </p:cNvGraphicFramePr>
          <p:nvPr>
            <p:ph idx="1"/>
            <p:extLst>
              <p:ext uri="{D42A27DB-BD31-4B8C-83A1-F6EECF244321}">
                <p14:modId xmlns:p14="http://schemas.microsoft.com/office/powerpoint/2010/main" val="1819563656"/>
              </p:ext>
            </p:extLst>
          </p:nvPr>
        </p:nvGraphicFramePr>
        <p:xfrm>
          <a:off x="3593454" y="1419173"/>
          <a:ext cx="8161245" cy="4010510"/>
        </p:xfrm>
        <a:graphic>
          <a:graphicData uri="http://schemas.openxmlformats.org/drawingml/2006/table">
            <a:tbl>
              <a:tblPr>
                <a:tableStyleId>{BDBED569-4797-4DF1-A0F4-6AAB3CD982D8}</a:tableStyleId>
              </a:tblPr>
              <a:tblGrid>
                <a:gridCol w="2720415">
                  <a:extLst>
                    <a:ext uri="{9D8B030D-6E8A-4147-A177-3AD203B41FA5}">
                      <a16:colId xmlns:a16="http://schemas.microsoft.com/office/drawing/2014/main" val="1039590199"/>
                    </a:ext>
                  </a:extLst>
                </a:gridCol>
                <a:gridCol w="2720415">
                  <a:extLst>
                    <a:ext uri="{9D8B030D-6E8A-4147-A177-3AD203B41FA5}">
                      <a16:colId xmlns:a16="http://schemas.microsoft.com/office/drawing/2014/main" val="3021853671"/>
                    </a:ext>
                  </a:extLst>
                </a:gridCol>
                <a:gridCol w="2720415">
                  <a:extLst>
                    <a:ext uri="{9D8B030D-6E8A-4147-A177-3AD203B41FA5}">
                      <a16:colId xmlns:a16="http://schemas.microsoft.com/office/drawing/2014/main" val="3462531442"/>
                    </a:ext>
                  </a:extLst>
                </a:gridCol>
              </a:tblGrid>
              <a:tr h="296773">
                <a:tc>
                  <a:txBody>
                    <a:bodyPr/>
                    <a:lstStyle/>
                    <a:p>
                      <a:pPr>
                        <a:buNone/>
                      </a:pPr>
                      <a:r>
                        <a:rPr lang="en-US" sz="1500" b="1"/>
                        <a:t>Feature</a:t>
                      </a:r>
                    </a:p>
                  </a:txBody>
                  <a:tcPr marL="74193" marR="74193" marT="37097" marB="37097" anchor="ctr"/>
                </a:tc>
                <a:tc>
                  <a:txBody>
                    <a:bodyPr/>
                    <a:lstStyle/>
                    <a:p>
                      <a:pPr>
                        <a:buNone/>
                      </a:pPr>
                      <a:r>
                        <a:rPr lang="en-US" sz="1500" b="1"/>
                        <a:t>Academic English</a:t>
                      </a:r>
                    </a:p>
                  </a:txBody>
                  <a:tcPr marL="74193" marR="74193" marT="37097" marB="37097" anchor="ctr"/>
                </a:tc>
                <a:tc>
                  <a:txBody>
                    <a:bodyPr/>
                    <a:lstStyle/>
                    <a:p>
                      <a:pPr>
                        <a:buNone/>
                      </a:pPr>
                      <a:r>
                        <a:rPr lang="en-US" sz="1500" b="1" dirty="0"/>
                        <a:t>Professional English</a:t>
                      </a:r>
                    </a:p>
                  </a:txBody>
                  <a:tcPr marL="74193" marR="74193" marT="37097" marB="37097" anchor="ctr"/>
                </a:tc>
                <a:extLst>
                  <a:ext uri="{0D108BD9-81ED-4DB2-BD59-A6C34878D82A}">
                    <a16:rowId xmlns:a16="http://schemas.microsoft.com/office/drawing/2014/main" val="1384949590"/>
                  </a:ext>
                </a:extLst>
              </a:tr>
              <a:tr h="519352">
                <a:tc>
                  <a:txBody>
                    <a:bodyPr/>
                    <a:lstStyle/>
                    <a:p>
                      <a:pPr>
                        <a:buNone/>
                      </a:pPr>
                      <a:r>
                        <a:rPr lang="en-US" sz="1500" b="1"/>
                        <a:t>Purpose</a:t>
                      </a:r>
                      <a:endParaRPr lang="en-US" sz="1500"/>
                    </a:p>
                  </a:txBody>
                  <a:tcPr marL="74193" marR="74193" marT="37097" marB="37097" anchor="ctr"/>
                </a:tc>
                <a:tc>
                  <a:txBody>
                    <a:bodyPr/>
                    <a:lstStyle/>
                    <a:p>
                      <a:pPr>
                        <a:buNone/>
                      </a:pPr>
                      <a:r>
                        <a:rPr lang="en-US" sz="1500"/>
                        <a:t>Used in educational and research contexts</a:t>
                      </a:r>
                    </a:p>
                  </a:txBody>
                  <a:tcPr marL="74193" marR="74193" marT="37097" marB="37097" anchor="ctr"/>
                </a:tc>
                <a:tc>
                  <a:txBody>
                    <a:bodyPr/>
                    <a:lstStyle/>
                    <a:p>
                      <a:pPr>
                        <a:buNone/>
                      </a:pPr>
                      <a:r>
                        <a:rPr lang="en-US" sz="1500"/>
                        <a:t>Used in workplace and business communications</a:t>
                      </a:r>
                    </a:p>
                  </a:txBody>
                  <a:tcPr marL="74193" marR="74193" marT="37097" marB="37097" anchor="ctr"/>
                </a:tc>
                <a:extLst>
                  <a:ext uri="{0D108BD9-81ED-4DB2-BD59-A6C34878D82A}">
                    <a16:rowId xmlns:a16="http://schemas.microsoft.com/office/drawing/2014/main" val="829297285"/>
                  </a:ext>
                </a:extLst>
              </a:tr>
              <a:tr h="519352">
                <a:tc>
                  <a:txBody>
                    <a:bodyPr/>
                    <a:lstStyle/>
                    <a:p>
                      <a:pPr>
                        <a:buNone/>
                      </a:pPr>
                      <a:r>
                        <a:rPr lang="en-US" sz="1500" b="1"/>
                        <a:t>Tone</a:t>
                      </a:r>
                      <a:endParaRPr lang="en-US" sz="1500"/>
                    </a:p>
                  </a:txBody>
                  <a:tcPr marL="74193" marR="74193" marT="37097" marB="37097" anchor="ctr"/>
                </a:tc>
                <a:tc>
                  <a:txBody>
                    <a:bodyPr/>
                    <a:lstStyle/>
                    <a:p>
                      <a:pPr>
                        <a:buNone/>
                      </a:pPr>
                      <a:r>
                        <a:rPr lang="en-US" sz="1500"/>
                        <a:t>Formal and objective</a:t>
                      </a:r>
                    </a:p>
                  </a:txBody>
                  <a:tcPr marL="74193" marR="74193" marT="37097" marB="37097" anchor="ctr"/>
                </a:tc>
                <a:tc>
                  <a:txBody>
                    <a:bodyPr/>
                    <a:lstStyle/>
                    <a:p>
                      <a:pPr>
                        <a:buNone/>
                      </a:pPr>
                      <a:r>
                        <a:rPr lang="en-US" sz="1500"/>
                        <a:t>Can be formal or semi-formal</a:t>
                      </a:r>
                    </a:p>
                  </a:txBody>
                  <a:tcPr marL="74193" marR="74193" marT="37097" marB="37097" anchor="ctr"/>
                </a:tc>
                <a:extLst>
                  <a:ext uri="{0D108BD9-81ED-4DB2-BD59-A6C34878D82A}">
                    <a16:rowId xmlns:a16="http://schemas.microsoft.com/office/drawing/2014/main" val="2489947365"/>
                  </a:ext>
                </a:extLst>
              </a:tr>
              <a:tr h="519352">
                <a:tc>
                  <a:txBody>
                    <a:bodyPr/>
                    <a:lstStyle/>
                    <a:p>
                      <a:pPr>
                        <a:buNone/>
                      </a:pPr>
                      <a:r>
                        <a:rPr lang="en-US" sz="1500" b="1"/>
                        <a:t>Structure</a:t>
                      </a:r>
                      <a:endParaRPr lang="en-US" sz="1500"/>
                    </a:p>
                  </a:txBody>
                  <a:tcPr marL="74193" marR="74193" marT="37097" marB="37097" anchor="ctr"/>
                </a:tc>
                <a:tc>
                  <a:txBody>
                    <a:bodyPr/>
                    <a:lstStyle/>
                    <a:p>
                      <a:pPr>
                        <a:buNone/>
                      </a:pPr>
                      <a:r>
                        <a:rPr lang="en-US" sz="1500"/>
                        <a:t>Follows specific academic formats</a:t>
                      </a:r>
                    </a:p>
                  </a:txBody>
                  <a:tcPr marL="74193" marR="74193" marT="37097" marB="37097" anchor="ctr"/>
                </a:tc>
                <a:tc>
                  <a:txBody>
                    <a:bodyPr/>
                    <a:lstStyle/>
                    <a:p>
                      <a:pPr>
                        <a:buNone/>
                      </a:pPr>
                      <a:r>
                        <a:rPr lang="en-US" sz="1500"/>
                        <a:t>Less rigid; includes various formats</a:t>
                      </a:r>
                    </a:p>
                  </a:txBody>
                  <a:tcPr marL="74193" marR="74193" marT="37097" marB="37097" anchor="ctr"/>
                </a:tc>
                <a:extLst>
                  <a:ext uri="{0D108BD9-81ED-4DB2-BD59-A6C34878D82A}">
                    <a16:rowId xmlns:a16="http://schemas.microsoft.com/office/drawing/2014/main" val="4234409189"/>
                  </a:ext>
                </a:extLst>
              </a:tr>
              <a:tr h="519352">
                <a:tc>
                  <a:txBody>
                    <a:bodyPr/>
                    <a:lstStyle/>
                    <a:p>
                      <a:pPr>
                        <a:buNone/>
                      </a:pPr>
                      <a:r>
                        <a:rPr lang="en-US" sz="1500" b="1"/>
                        <a:t>Vocabulary</a:t>
                      </a:r>
                      <a:endParaRPr lang="en-US" sz="1500"/>
                    </a:p>
                  </a:txBody>
                  <a:tcPr marL="74193" marR="74193" marT="37097" marB="37097" anchor="ctr"/>
                </a:tc>
                <a:tc>
                  <a:txBody>
                    <a:bodyPr/>
                    <a:lstStyle/>
                    <a:p>
                      <a:pPr>
                        <a:buNone/>
                      </a:pPr>
                      <a:r>
                        <a:rPr lang="en-US" sz="1500" dirty="0"/>
                        <a:t>Specialized terminology and jargon</a:t>
                      </a:r>
                    </a:p>
                  </a:txBody>
                  <a:tcPr marL="74193" marR="74193" marT="37097" marB="37097" anchor="ctr"/>
                </a:tc>
                <a:tc>
                  <a:txBody>
                    <a:bodyPr/>
                    <a:lstStyle/>
                    <a:p>
                      <a:pPr>
                        <a:buNone/>
                      </a:pPr>
                      <a:r>
                        <a:rPr lang="en-US" sz="1500"/>
                        <a:t>Focuses on clarity; may use industry terms</a:t>
                      </a:r>
                    </a:p>
                  </a:txBody>
                  <a:tcPr marL="74193" marR="74193" marT="37097" marB="37097" anchor="ctr"/>
                </a:tc>
                <a:extLst>
                  <a:ext uri="{0D108BD9-81ED-4DB2-BD59-A6C34878D82A}">
                    <a16:rowId xmlns:a16="http://schemas.microsoft.com/office/drawing/2014/main" val="3784711186"/>
                  </a:ext>
                </a:extLst>
              </a:tr>
              <a:tr h="519352">
                <a:tc>
                  <a:txBody>
                    <a:bodyPr/>
                    <a:lstStyle/>
                    <a:p>
                      <a:pPr>
                        <a:buNone/>
                      </a:pPr>
                      <a:r>
                        <a:rPr lang="en-US" sz="1500" b="1"/>
                        <a:t>Audience</a:t>
                      </a:r>
                      <a:endParaRPr lang="en-US" sz="1500"/>
                    </a:p>
                  </a:txBody>
                  <a:tcPr marL="74193" marR="74193" marT="37097" marB="37097" anchor="ctr"/>
                </a:tc>
                <a:tc>
                  <a:txBody>
                    <a:bodyPr/>
                    <a:lstStyle/>
                    <a:p>
                      <a:pPr>
                        <a:buNone/>
                      </a:pPr>
                      <a:r>
                        <a:rPr lang="en-US" sz="1500"/>
                        <a:t>Scholars, researchers, and students</a:t>
                      </a:r>
                    </a:p>
                  </a:txBody>
                  <a:tcPr marL="74193" marR="74193" marT="37097" marB="37097" anchor="ctr"/>
                </a:tc>
                <a:tc>
                  <a:txBody>
                    <a:bodyPr/>
                    <a:lstStyle/>
                    <a:p>
                      <a:pPr>
                        <a:buNone/>
                      </a:pPr>
                      <a:r>
                        <a:rPr lang="en-US" sz="1500"/>
                        <a:t>Colleagues, clients, and the general public</a:t>
                      </a:r>
                    </a:p>
                  </a:txBody>
                  <a:tcPr marL="74193" marR="74193" marT="37097" marB="37097" anchor="ctr"/>
                </a:tc>
                <a:extLst>
                  <a:ext uri="{0D108BD9-81ED-4DB2-BD59-A6C34878D82A}">
                    <a16:rowId xmlns:a16="http://schemas.microsoft.com/office/drawing/2014/main" val="3104259506"/>
                  </a:ext>
                </a:extLst>
              </a:tr>
              <a:tr h="519352">
                <a:tc>
                  <a:txBody>
                    <a:bodyPr/>
                    <a:lstStyle/>
                    <a:p>
                      <a:pPr>
                        <a:buNone/>
                      </a:pPr>
                      <a:r>
                        <a:rPr lang="en-US" sz="1500" b="1"/>
                        <a:t>Examples</a:t>
                      </a:r>
                      <a:endParaRPr lang="en-US" sz="1500"/>
                    </a:p>
                  </a:txBody>
                  <a:tcPr marL="74193" marR="74193" marT="37097" marB="37097" anchor="ctr"/>
                </a:tc>
                <a:tc>
                  <a:txBody>
                    <a:bodyPr/>
                    <a:lstStyle/>
                    <a:p>
                      <a:pPr>
                        <a:buNone/>
                      </a:pPr>
                      <a:r>
                        <a:rPr lang="en-US" sz="1500"/>
                        <a:t>Research articles, dissertations, textbooks</a:t>
                      </a:r>
                    </a:p>
                  </a:txBody>
                  <a:tcPr marL="74193" marR="74193" marT="37097" marB="37097" anchor="ctr"/>
                </a:tc>
                <a:tc>
                  <a:txBody>
                    <a:bodyPr/>
                    <a:lstStyle/>
                    <a:p>
                      <a:pPr>
                        <a:buNone/>
                      </a:pPr>
                      <a:r>
                        <a:rPr lang="en-US" sz="1500"/>
                        <a:t>Business reports, emails, proposals</a:t>
                      </a:r>
                    </a:p>
                  </a:txBody>
                  <a:tcPr marL="74193" marR="74193" marT="37097" marB="37097" anchor="ctr"/>
                </a:tc>
                <a:extLst>
                  <a:ext uri="{0D108BD9-81ED-4DB2-BD59-A6C34878D82A}">
                    <a16:rowId xmlns:a16="http://schemas.microsoft.com/office/drawing/2014/main" val="4014294395"/>
                  </a:ext>
                </a:extLst>
              </a:tr>
              <a:tr h="519352">
                <a:tc>
                  <a:txBody>
                    <a:bodyPr/>
                    <a:lstStyle/>
                    <a:p>
                      <a:pPr>
                        <a:buNone/>
                      </a:pPr>
                      <a:r>
                        <a:rPr lang="en-US" sz="1500" b="1"/>
                        <a:t>Style</a:t>
                      </a:r>
                      <a:endParaRPr lang="en-US" sz="1500"/>
                    </a:p>
                  </a:txBody>
                  <a:tcPr marL="74193" marR="74193" marT="37097" marB="37097" anchor="ctr"/>
                </a:tc>
                <a:tc>
                  <a:txBody>
                    <a:bodyPr/>
                    <a:lstStyle/>
                    <a:p>
                      <a:pPr>
                        <a:buNone/>
                      </a:pPr>
                      <a:r>
                        <a:rPr lang="en-US" sz="1500"/>
                        <a:t>Emphasizes complexity and depth</a:t>
                      </a:r>
                    </a:p>
                  </a:txBody>
                  <a:tcPr marL="74193" marR="74193" marT="37097" marB="37097" anchor="ctr"/>
                </a:tc>
                <a:tc>
                  <a:txBody>
                    <a:bodyPr/>
                    <a:lstStyle/>
                    <a:p>
                      <a:pPr>
                        <a:buNone/>
                      </a:pPr>
                      <a:r>
                        <a:rPr lang="en-US" sz="1500" dirty="0"/>
                        <a:t>Values clarity and efficiency</a:t>
                      </a:r>
                    </a:p>
                  </a:txBody>
                  <a:tcPr marL="74193" marR="74193" marT="37097" marB="37097" anchor="ctr"/>
                </a:tc>
                <a:extLst>
                  <a:ext uri="{0D108BD9-81ED-4DB2-BD59-A6C34878D82A}">
                    <a16:rowId xmlns:a16="http://schemas.microsoft.com/office/drawing/2014/main" val="3231613559"/>
                  </a:ext>
                </a:extLst>
              </a:tr>
            </a:tbl>
          </a:graphicData>
        </a:graphic>
      </p:graphicFrame>
      <p:sp>
        <p:nvSpPr>
          <p:cNvPr id="3" name="Slide Number Placeholder 2">
            <a:extLst>
              <a:ext uri="{FF2B5EF4-FFF2-40B4-BE49-F238E27FC236}">
                <a16:creationId xmlns:a16="http://schemas.microsoft.com/office/drawing/2014/main" id="{42DA9ED2-1C44-8017-0B6C-3C101EAFE23C}"/>
              </a:ext>
            </a:extLst>
          </p:cNvPr>
          <p:cNvSpPr>
            <a:spLocks noGrp="1"/>
          </p:cNvSpPr>
          <p:nvPr>
            <p:ph type="sldNum" sz="quarter" idx="12"/>
          </p:nvPr>
        </p:nvSpPr>
        <p:spPr/>
        <p:txBody>
          <a:bodyPr/>
          <a:lstStyle/>
          <a:p>
            <a:fld id="{ECAB64A0-D49F-4356-A295-EC5B0CCCE6D4}" type="slidenum">
              <a:rPr lang="en-US" smtClean="0"/>
              <a:t>20</a:t>
            </a:fld>
            <a:endParaRPr lang="en-US"/>
          </a:p>
        </p:txBody>
      </p:sp>
    </p:spTree>
    <p:extLst>
      <p:ext uri="{BB962C8B-B14F-4D97-AF65-F5344CB8AC3E}">
        <p14:creationId xmlns:p14="http://schemas.microsoft.com/office/powerpoint/2010/main" val="38306966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D1A07-68FD-C319-C543-BC740C69A303}"/>
              </a:ext>
            </a:extLst>
          </p:cNvPr>
          <p:cNvSpPr>
            <a:spLocks noGrp="1"/>
          </p:cNvSpPr>
          <p:nvPr>
            <p:ph type="title"/>
          </p:nvPr>
        </p:nvSpPr>
        <p:spPr/>
        <p:txBody>
          <a:bodyPr>
            <a:normAutofit/>
          </a:bodyPr>
          <a:lstStyle/>
          <a:p>
            <a:r>
              <a:rPr lang="en-US" b="1" dirty="0"/>
              <a:t>Example Comparison</a:t>
            </a:r>
            <a:br>
              <a:rPr lang="en-US" dirty="0"/>
            </a:br>
            <a:endParaRPr lang="en-US" dirty="0"/>
          </a:p>
        </p:txBody>
      </p:sp>
      <p:sp>
        <p:nvSpPr>
          <p:cNvPr id="3" name="Content Placeholder 2">
            <a:extLst>
              <a:ext uri="{FF2B5EF4-FFF2-40B4-BE49-F238E27FC236}">
                <a16:creationId xmlns:a16="http://schemas.microsoft.com/office/drawing/2014/main" id="{14161DA5-5C59-46B7-E941-6918C47896DF}"/>
              </a:ext>
            </a:extLst>
          </p:cNvPr>
          <p:cNvSpPr>
            <a:spLocks noGrp="1"/>
          </p:cNvSpPr>
          <p:nvPr>
            <p:ph idx="1"/>
          </p:nvPr>
        </p:nvSpPr>
        <p:spPr/>
        <p:txBody>
          <a:bodyPr/>
          <a:lstStyle/>
          <a:p>
            <a:r>
              <a:rPr lang="en-US" dirty="0"/>
              <a:t>Academic: </a:t>
            </a:r>
            <a:r>
              <a:rPr lang="en-US" i="1" dirty="0"/>
              <a:t>"This study investigates the performance of convolutional models in image classification."</a:t>
            </a:r>
            <a:endParaRPr lang="en-US" dirty="0"/>
          </a:p>
          <a:p>
            <a:r>
              <a:rPr lang="en-US" dirty="0"/>
              <a:t>Professional: </a:t>
            </a:r>
            <a:r>
              <a:rPr lang="en-US" i="1" dirty="0"/>
              <a:t>"Our team tested CNN models to improve image recognition speed."</a:t>
            </a:r>
            <a:endParaRPr lang="en-US" dirty="0"/>
          </a:p>
          <a:p>
            <a:endParaRPr lang="en-US" dirty="0"/>
          </a:p>
        </p:txBody>
      </p:sp>
      <p:sp>
        <p:nvSpPr>
          <p:cNvPr id="4" name="Slide Number Placeholder 3">
            <a:extLst>
              <a:ext uri="{FF2B5EF4-FFF2-40B4-BE49-F238E27FC236}">
                <a16:creationId xmlns:a16="http://schemas.microsoft.com/office/drawing/2014/main" id="{6FD94CBB-AB78-8BC1-9F18-48BE7221DE4A}"/>
              </a:ext>
            </a:extLst>
          </p:cNvPr>
          <p:cNvSpPr>
            <a:spLocks noGrp="1"/>
          </p:cNvSpPr>
          <p:nvPr>
            <p:ph type="sldNum" sz="quarter" idx="12"/>
          </p:nvPr>
        </p:nvSpPr>
        <p:spPr/>
        <p:txBody>
          <a:bodyPr/>
          <a:lstStyle/>
          <a:p>
            <a:fld id="{ECAB64A0-D49F-4356-A295-EC5B0CCCE6D4}" type="slidenum">
              <a:rPr lang="en-US" smtClean="0"/>
              <a:t>21</a:t>
            </a:fld>
            <a:endParaRPr lang="en-US"/>
          </a:p>
        </p:txBody>
      </p:sp>
    </p:spTree>
    <p:extLst>
      <p:ext uri="{BB962C8B-B14F-4D97-AF65-F5344CB8AC3E}">
        <p14:creationId xmlns:p14="http://schemas.microsoft.com/office/powerpoint/2010/main" val="39163434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D0EAE-A1F8-0056-3CBB-1E77183A4805}"/>
              </a:ext>
            </a:extLst>
          </p:cNvPr>
          <p:cNvSpPr>
            <a:spLocks noGrp="1"/>
          </p:cNvSpPr>
          <p:nvPr>
            <p:ph type="title"/>
          </p:nvPr>
        </p:nvSpPr>
        <p:spPr/>
        <p:txBody>
          <a:bodyPr>
            <a:normAutofit/>
          </a:bodyPr>
          <a:lstStyle/>
          <a:p>
            <a:r>
              <a:rPr lang="en-US" dirty="0"/>
              <a:t>Vocabulary Matching</a:t>
            </a:r>
            <a:br>
              <a:rPr lang="en-US" dirty="0"/>
            </a:br>
            <a:endParaRPr lang="en-US" dirty="0"/>
          </a:p>
        </p:txBody>
      </p:sp>
      <p:sp>
        <p:nvSpPr>
          <p:cNvPr id="3" name="Content Placeholder 2">
            <a:extLst>
              <a:ext uri="{FF2B5EF4-FFF2-40B4-BE49-F238E27FC236}">
                <a16:creationId xmlns:a16="http://schemas.microsoft.com/office/drawing/2014/main" id="{380CBB8B-8F8E-0E8E-6A98-8F2AC23F6494}"/>
              </a:ext>
            </a:extLst>
          </p:cNvPr>
          <p:cNvSpPr>
            <a:spLocks noGrp="1"/>
          </p:cNvSpPr>
          <p:nvPr>
            <p:ph idx="1"/>
          </p:nvPr>
        </p:nvSpPr>
        <p:spPr/>
        <p:txBody>
          <a:bodyPr/>
          <a:lstStyle/>
          <a:p>
            <a:r>
              <a:rPr lang="en-US" dirty="0"/>
              <a:t>Match the scientific word to its definition:</a:t>
            </a:r>
          </a:p>
        </p:txBody>
      </p:sp>
      <p:graphicFrame>
        <p:nvGraphicFramePr>
          <p:cNvPr id="4" name="Table 3">
            <a:extLst>
              <a:ext uri="{FF2B5EF4-FFF2-40B4-BE49-F238E27FC236}">
                <a16:creationId xmlns:a16="http://schemas.microsoft.com/office/drawing/2014/main" id="{B808C33F-5D49-FA94-6DE2-09899EA54AE5}"/>
              </a:ext>
            </a:extLst>
          </p:cNvPr>
          <p:cNvGraphicFramePr>
            <a:graphicFrameLocks noGrp="1"/>
          </p:cNvGraphicFramePr>
          <p:nvPr>
            <p:extLst>
              <p:ext uri="{D42A27DB-BD31-4B8C-83A1-F6EECF244321}">
                <p14:modId xmlns:p14="http://schemas.microsoft.com/office/powerpoint/2010/main" val="2090307799"/>
              </p:ext>
            </p:extLst>
          </p:nvPr>
        </p:nvGraphicFramePr>
        <p:xfrm>
          <a:off x="3869268" y="3936836"/>
          <a:ext cx="7048500" cy="1524000"/>
        </p:xfrm>
        <a:graphic>
          <a:graphicData uri="http://schemas.openxmlformats.org/drawingml/2006/table">
            <a:tbl>
              <a:tblPr/>
              <a:tblGrid>
                <a:gridCol w="3524250">
                  <a:extLst>
                    <a:ext uri="{9D8B030D-6E8A-4147-A177-3AD203B41FA5}">
                      <a16:colId xmlns:a16="http://schemas.microsoft.com/office/drawing/2014/main" val="2866294969"/>
                    </a:ext>
                  </a:extLst>
                </a:gridCol>
                <a:gridCol w="3524250">
                  <a:extLst>
                    <a:ext uri="{9D8B030D-6E8A-4147-A177-3AD203B41FA5}">
                      <a16:colId xmlns:a16="http://schemas.microsoft.com/office/drawing/2014/main" val="2644924169"/>
                    </a:ext>
                  </a:extLst>
                </a:gridCol>
              </a:tblGrid>
              <a:tr h="307258">
                <a:tc>
                  <a:txBody>
                    <a:bodyPr/>
                    <a:lstStyle/>
                    <a:p>
                      <a:pPr algn="l" fontAlgn="t" latinLnBrk="0">
                        <a:buNone/>
                      </a:pPr>
                      <a:r>
                        <a:rPr lang="en-US" b="0">
                          <a:effectLst/>
                        </a:rPr>
                        <a:t>Word</a:t>
                      </a:r>
                    </a:p>
                  </a:txBody>
                  <a:tcPr marL="76200" marR="76200" marT="76200" marB="76200">
                    <a:lnL w="9525" cap="flat" cmpd="sng" algn="ctr">
                      <a:solidFill>
                        <a:srgbClr val="603F47"/>
                      </a:solidFill>
                      <a:prstDash val="solid"/>
                      <a:round/>
                      <a:headEnd type="none" w="med" len="med"/>
                      <a:tailEnd type="none" w="med" len="med"/>
                    </a:lnL>
                    <a:lnR w="9525" cap="flat" cmpd="sng" algn="ctr">
                      <a:solidFill>
                        <a:srgbClr val="004547"/>
                      </a:solidFill>
                      <a:prstDash val="solid"/>
                      <a:round/>
                      <a:headEnd type="none" w="med" len="med"/>
                      <a:tailEnd type="none" w="med" len="med"/>
                    </a:lnR>
                    <a:lnT w="9525" cap="flat" cmpd="sng" algn="ctr">
                      <a:solidFill>
                        <a:srgbClr val="603F47"/>
                      </a:solidFill>
                      <a:prstDash val="solid"/>
                      <a:round/>
                      <a:headEnd type="none" w="med" len="med"/>
                      <a:tailEnd type="none" w="med" len="med"/>
                    </a:lnT>
                    <a:lnB w="9525" cap="flat" cmpd="sng" algn="ctr">
                      <a:solidFill>
                        <a:srgbClr val="603F47"/>
                      </a:solidFill>
                      <a:prstDash val="solid"/>
                      <a:round/>
                      <a:headEnd type="none" w="med" len="med"/>
                      <a:tailEnd type="none" w="med" len="med"/>
                    </a:lnB>
                    <a:noFill/>
                  </a:tcPr>
                </a:tc>
                <a:tc>
                  <a:txBody>
                    <a:bodyPr/>
                    <a:lstStyle/>
                    <a:p>
                      <a:pPr algn="l" fontAlgn="t" latinLnBrk="0">
                        <a:buNone/>
                      </a:pPr>
                      <a:r>
                        <a:rPr lang="en-US" b="0">
                          <a:effectLst/>
                        </a:rPr>
                        <a:t>Definition</a:t>
                      </a:r>
                    </a:p>
                  </a:txBody>
                  <a:tcPr marL="76200" marR="76200" marT="76200" marB="76200">
                    <a:lnL w="9525" cap="flat" cmpd="sng" algn="ctr">
                      <a:solidFill>
                        <a:srgbClr val="004547"/>
                      </a:solidFill>
                      <a:prstDash val="solid"/>
                      <a:round/>
                      <a:headEnd type="none" w="med" len="med"/>
                      <a:tailEnd type="none" w="med" len="med"/>
                    </a:lnL>
                    <a:lnR w="9525" cap="flat" cmpd="sng" algn="ctr">
                      <a:solidFill>
                        <a:srgbClr val="004547"/>
                      </a:solidFill>
                      <a:prstDash val="solid"/>
                      <a:round/>
                      <a:headEnd type="none" w="med" len="med"/>
                      <a:tailEnd type="none" w="med" len="med"/>
                    </a:lnR>
                    <a:lnT w="9525" cap="flat" cmpd="sng" algn="ctr">
                      <a:solidFill>
                        <a:srgbClr val="004547"/>
                      </a:solidFill>
                      <a:prstDash val="solid"/>
                      <a:round/>
                      <a:headEnd type="none" w="med" len="med"/>
                      <a:tailEnd type="none" w="med" len="med"/>
                    </a:lnT>
                    <a:lnB w="9525" cap="flat" cmpd="sng" algn="ctr">
                      <a:solidFill>
                        <a:srgbClr val="B03F47"/>
                      </a:solidFill>
                      <a:prstDash val="solid"/>
                      <a:round/>
                      <a:headEnd type="none" w="med" len="med"/>
                      <a:tailEnd type="none" w="med" len="med"/>
                    </a:lnB>
                    <a:noFill/>
                  </a:tcPr>
                </a:tc>
                <a:extLst>
                  <a:ext uri="{0D108BD9-81ED-4DB2-BD59-A6C34878D82A}">
                    <a16:rowId xmlns:a16="http://schemas.microsoft.com/office/drawing/2014/main" val="1143339861"/>
                  </a:ext>
                </a:extLst>
              </a:tr>
              <a:tr h="0">
                <a:tc>
                  <a:txBody>
                    <a:bodyPr/>
                    <a:lstStyle/>
                    <a:p>
                      <a:pPr fontAlgn="base" latinLnBrk="0">
                        <a:buNone/>
                      </a:pPr>
                      <a:r>
                        <a:rPr lang="en-US">
                          <a:effectLst/>
                        </a:rPr>
                        <a:t>Hypothesis</a:t>
                      </a:r>
                    </a:p>
                  </a:txBody>
                  <a:tcPr marL="76200" marR="76200" anchor="ctr">
                    <a:lnL w="9525" cap="flat" cmpd="sng" algn="ctr">
                      <a:solidFill>
                        <a:srgbClr val="603F47"/>
                      </a:solidFill>
                      <a:prstDash val="solid"/>
                      <a:round/>
                      <a:headEnd type="none" w="med" len="med"/>
                      <a:tailEnd type="none" w="med" len="med"/>
                    </a:lnL>
                    <a:lnR w="9525" cap="flat" cmpd="sng" algn="ctr">
                      <a:solidFill>
                        <a:srgbClr val="B03F47"/>
                      </a:solidFill>
                      <a:prstDash val="solid"/>
                      <a:round/>
                      <a:headEnd type="none" w="med" len="med"/>
                      <a:tailEnd type="none" w="med" len="med"/>
                    </a:lnR>
                    <a:lnT w="9525" cap="flat" cmpd="sng" algn="ctr">
                      <a:solidFill>
                        <a:srgbClr val="603F47"/>
                      </a:solidFill>
                      <a:prstDash val="solid"/>
                      <a:round/>
                      <a:headEnd type="none" w="med" len="med"/>
                      <a:tailEnd type="none" w="med" len="med"/>
                    </a:lnT>
                    <a:lnB w="9525" cap="flat" cmpd="sng" algn="ctr">
                      <a:solidFill>
                        <a:srgbClr val="B03F47"/>
                      </a:solidFill>
                      <a:prstDash val="solid"/>
                      <a:round/>
                      <a:headEnd type="none" w="med" len="med"/>
                      <a:tailEnd type="none" w="med" len="med"/>
                    </a:lnB>
                    <a:noFill/>
                  </a:tcPr>
                </a:tc>
                <a:tc>
                  <a:txBody>
                    <a:bodyPr/>
                    <a:lstStyle/>
                    <a:p>
                      <a:pPr fontAlgn="base" latinLnBrk="0">
                        <a:buNone/>
                      </a:pPr>
                      <a:r>
                        <a:rPr lang="en-US">
                          <a:effectLst/>
                        </a:rPr>
                        <a:t>A proposed explanation to test</a:t>
                      </a:r>
                    </a:p>
                  </a:txBody>
                  <a:tcPr marL="76200" marR="76200" anchor="ctr">
                    <a:lnL w="9525" cap="flat" cmpd="sng" algn="ctr">
                      <a:solidFill>
                        <a:srgbClr val="B03F47"/>
                      </a:solidFill>
                      <a:prstDash val="solid"/>
                      <a:round/>
                      <a:headEnd type="none" w="med" len="med"/>
                      <a:tailEnd type="none" w="med" len="med"/>
                    </a:lnL>
                    <a:lnR w="9525" cap="flat" cmpd="sng" algn="ctr">
                      <a:solidFill>
                        <a:srgbClr val="B03F47"/>
                      </a:solidFill>
                      <a:prstDash val="solid"/>
                      <a:round/>
                      <a:headEnd type="none" w="med" len="med"/>
                      <a:tailEnd type="none" w="med" len="med"/>
                    </a:lnR>
                    <a:lnT w="9525" cap="flat" cmpd="sng" algn="ctr">
                      <a:solidFill>
                        <a:srgbClr val="B03F47"/>
                      </a:solidFill>
                      <a:prstDash val="solid"/>
                      <a:round/>
                      <a:headEnd type="none" w="med" len="med"/>
                      <a:tailEnd type="none" w="med" len="med"/>
                    </a:lnT>
                    <a:lnB w="9525" cap="flat" cmpd="sng" algn="ctr">
                      <a:solidFill>
                        <a:srgbClr val="B03F47"/>
                      </a:solidFill>
                      <a:prstDash val="solid"/>
                      <a:round/>
                      <a:headEnd type="none" w="med" len="med"/>
                      <a:tailEnd type="none" w="med" len="med"/>
                    </a:lnB>
                    <a:noFill/>
                  </a:tcPr>
                </a:tc>
                <a:extLst>
                  <a:ext uri="{0D108BD9-81ED-4DB2-BD59-A6C34878D82A}">
                    <a16:rowId xmlns:a16="http://schemas.microsoft.com/office/drawing/2014/main" val="3290241455"/>
                  </a:ext>
                </a:extLst>
              </a:tr>
              <a:tr h="0">
                <a:tc>
                  <a:txBody>
                    <a:bodyPr/>
                    <a:lstStyle/>
                    <a:p>
                      <a:pPr fontAlgn="base" latinLnBrk="0">
                        <a:buNone/>
                      </a:pPr>
                      <a:r>
                        <a:rPr lang="en-US">
                          <a:effectLst/>
                        </a:rPr>
                        <a:t>Data</a:t>
                      </a:r>
                    </a:p>
                  </a:txBody>
                  <a:tcPr marL="76200" marR="76200" anchor="ctr">
                    <a:lnL w="9525" cap="flat" cmpd="sng" algn="ctr">
                      <a:solidFill>
                        <a:srgbClr val="B03F47"/>
                      </a:solidFill>
                      <a:prstDash val="solid"/>
                      <a:round/>
                      <a:headEnd type="none" w="med" len="med"/>
                      <a:tailEnd type="none" w="med" len="med"/>
                    </a:lnL>
                    <a:lnR w="9525" cap="flat" cmpd="sng" algn="ctr">
                      <a:solidFill>
                        <a:srgbClr val="B03F47"/>
                      </a:solidFill>
                      <a:prstDash val="solid"/>
                      <a:round/>
                      <a:headEnd type="none" w="med" len="med"/>
                      <a:tailEnd type="none" w="med" len="med"/>
                    </a:lnR>
                    <a:lnT w="9525" cap="flat" cmpd="sng" algn="ctr">
                      <a:solidFill>
                        <a:srgbClr val="B03F47"/>
                      </a:solidFill>
                      <a:prstDash val="solid"/>
                      <a:round/>
                      <a:headEnd type="none" w="med" len="med"/>
                      <a:tailEnd type="none" w="med" len="med"/>
                    </a:lnT>
                    <a:lnB w="9525" cap="flat" cmpd="sng" algn="ctr">
                      <a:solidFill>
                        <a:srgbClr val="804747"/>
                      </a:solidFill>
                      <a:prstDash val="solid"/>
                      <a:round/>
                      <a:headEnd type="none" w="med" len="med"/>
                      <a:tailEnd type="none" w="med" len="med"/>
                    </a:lnB>
                    <a:noFill/>
                  </a:tcPr>
                </a:tc>
                <a:tc>
                  <a:txBody>
                    <a:bodyPr/>
                    <a:lstStyle/>
                    <a:p>
                      <a:pPr fontAlgn="base" latinLnBrk="0">
                        <a:buNone/>
                      </a:pPr>
                      <a:r>
                        <a:rPr lang="en-US">
                          <a:effectLst/>
                        </a:rPr>
                        <a:t>Facts collected during research</a:t>
                      </a:r>
                    </a:p>
                  </a:txBody>
                  <a:tcPr marL="76200" marR="76200" anchor="ctr">
                    <a:lnL w="9525" cap="flat" cmpd="sng" algn="ctr">
                      <a:solidFill>
                        <a:srgbClr val="B03F47"/>
                      </a:solidFill>
                      <a:prstDash val="solid"/>
                      <a:round/>
                      <a:headEnd type="none" w="med" len="med"/>
                      <a:tailEnd type="none" w="med" len="med"/>
                    </a:lnL>
                    <a:lnR w="9525" cap="flat" cmpd="sng" algn="ctr">
                      <a:solidFill>
                        <a:srgbClr val="B03F47"/>
                      </a:solidFill>
                      <a:prstDash val="solid"/>
                      <a:round/>
                      <a:headEnd type="none" w="med" len="med"/>
                      <a:tailEnd type="none" w="med" len="med"/>
                    </a:lnR>
                    <a:lnT w="9525" cap="flat" cmpd="sng" algn="ctr">
                      <a:solidFill>
                        <a:srgbClr val="B03F47"/>
                      </a:solidFill>
                      <a:prstDash val="solid"/>
                      <a:round/>
                      <a:headEnd type="none" w="med" len="med"/>
                      <a:tailEnd type="none" w="med" len="med"/>
                    </a:lnT>
                    <a:lnB w="9525" cap="flat" cmpd="sng" algn="ctr">
                      <a:solidFill>
                        <a:srgbClr val="305147"/>
                      </a:solidFill>
                      <a:prstDash val="solid"/>
                      <a:round/>
                      <a:headEnd type="none" w="med" len="med"/>
                      <a:tailEnd type="none" w="med" len="med"/>
                    </a:lnB>
                    <a:noFill/>
                  </a:tcPr>
                </a:tc>
                <a:extLst>
                  <a:ext uri="{0D108BD9-81ED-4DB2-BD59-A6C34878D82A}">
                    <a16:rowId xmlns:a16="http://schemas.microsoft.com/office/drawing/2014/main" val="3162277635"/>
                  </a:ext>
                </a:extLst>
              </a:tr>
              <a:tr h="0">
                <a:tc>
                  <a:txBody>
                    <a:bodyPr/>
                    <a:lstStyle/>
                    <a:p>
                      <a:pPr fontAlgn="base" latinLnBrk="0">
                        <a:buNone/>
                      </a:pPr>
                      <a:r>
                        <a:rPr lang="en-US">
                          <a:effectLst/>
                        </a:rPr>
                        <a:t>Analysis</a:t>
                      </a:r>
                    </a:p>
                  </a:txBody>
                  <a:tcPr marL="76200" marR="76200" anchor="ctr">
                    <a:lnL w="9525" cap="flat" cmpd="sng" algn="ctr">
                      <a:solidFill>
                        <a:srgbClr val="804747"/>
                      </a:solidFill>
                      <a:prstDash val="solid"/>
                      <a:round/>
                      <a:headEnd type="none" w="med" len="med"/>
                      <a:tailEnd type="none" w="med" len="med"/>
                    </a:lnL>
                    <a:lnR w="9525" cap="flat" cmpd="sng" algn="ctr">
                      <a:solidFill>
                        <a:srgbClr val="305147"/>
                      </a:solidFill>
                      <a:prstDash val="solid"/>
                      <a:round/>
                      <a:headEnd type="none" w="med" len="med"/>
                      <a:tailEnd type="none" w="med" len="med"/>
                    </a:lnR>
                    <a:lnT w="9525" cap="flat" cmpd="sng" algn="ctr">
                      <a:solidFill>
                        <a:srgbClr val="804747"/>
                      </a:solidFill>
                      <a:prstDash val="solid"/>
                      <a:round/>
                      <a:headEnd type="none" w="med" len="med"/>
                      <a:tailEnd type="none" w="med" len="med"/>
                    </a:lnT>
                    <a:lnB w="9525" cap="flat" cmpd="sng" algn="ctr">
                      <a:solidFill>
                        <a:srgbClr val="804747"/>
                      </a:solidFill>
                      <a:prstDash val="solid"/>
                      <a:round/>
                      <a:headEnd type="none" w="med" len="med"/>
                      <a:tailEnd type="none" w="med" len="med"/>
                    </a:lnB>
                    <a:noFill/>
                  </a:tcPr>
                </a:tc>
                <a:tc>
                  <a:txBody>
                    <a:bodyPr/>
                    <a:lstStyle/>
                    <a:p>
                      <a:pPr fontAlgn="base" latinLnBrk="0">
                        <a:buNone/>
                      </a:pPr>
                      <a:r>
                        <a:rPr lang="en-US" dirty="0">
                          <a:effectLst/>
                        </a:rPr>
                        <a:t>The process of examining data</a:t>
                      </a:r>
                    </a:p>
                  </a:txBody>
                  <a:tcPr marL="76200" marR="76200" anchor="ctr">
                    <a:lnL w="9525" cap="flat" cmpd="sng" algn="ctr">
                      <a:solidFill>
                        <a:srgbClr val="305147"/>
                      </a:solidFill>
                      <a:prstDash val="solid"/>
                      <a:round/>
                      <a:headEnd type="none" w="med" len="med"/>
                      <a:tailEnd type="none" w="med" len="med"/>
                    </a:lnL>
                    <a:lnR w="9525" cap="flat" cmpd="sng" algn="ctr">
                      <a:solidFill>
                        <a:srgbClr val="305147"/>
                      </a:solidFill>
                      <a:prstDash val="solid"/>
                      <a:round/>
                      <a:headEnd type="none" w="med" len="med"/>
                      <a:tailEnd type="none" w="med" len="med"/>
                    </a:lnR>
                    <a:lnT w="9525" cap="flat" cmpd="sng" algn="ctr">
                      <a:solidFill>
                        <a:srgbClr val="305147"/>
                      </a:solidFill>
                      <a:prstDash val="solid"/>
                      <a:round/>
                      <a:headEnd type="none" w="med" len="med"/>
                      <a:tailEnd type="none" w="med" len="med"/>
                    </a:lnT>
                    <a:lnB w="9525" cap="flat" cmpd="sng" algn="ctr">
                      <a:solidFill>
                        <a:srgbClr val="305147"/>
                      </a:solidFill>
                      <a:prstDash val="solid"/>
                      <a:round/>
                      <a:headEnd type="none" w="med" len="med"/>
                      <a:tailEnd type="none" w="med" len="med"/>
                    </a:lnB>
                    <a:noFill/>
                  </a:tcPr>
                </a:tc>
                <a:extLst>
                  <a:ext uri="{0D108BD9-81ED-4DB2-BD59-A6C34878D82A}">
                    <a16:rowId xmlns:a16="http://schemas.microsoft.com/office/drawing/2014/main" val="1987530402"/>
                  </a:ext>
                </a:extLst>
              </a:tr>
            </a:tbl>
          </a:graphicData>
        </a:graphic>
      </p:graphicFrame>
      <p:sp>
        <p:nvSpPr>
          <p:cNvPr id="5" name="Slide Number Placeholder 4">
            <a:extLst>
              <a:ext uri="{FF2B5EF4-FFF2-40B4-BE49-F238E27FC236}">
                <a16:creationId xmlns:a16="http://schemas.microsoft.com/office/drawing/2014/main" id="{6D6DF986-93F2-F15A-1C00-E4F637507DD2}"/>
              </a:ext>
            </a:extLst>
          </p:cNvPr>
          <p:cNvSpPr>
            <a:spLocks noGrp="1"/>
          </p:cNvSpPr>
          <p:nvPr>
            <p:ph type="sldNum" sz="quarter" idx="12"/>
          </p:nvPr>
        </p:nvSpPr>
        <p:spPr/>
        <p:txBody>
          <a:bodyPr/>
          <a:lstStyle/>
          <a:p>
            <a:fld id="{ECAB64A0-D49F-4356-A295-EC5B0CCCE6D4}" type="slidenum">
              <a:rPr lang="en-US" smtClean="0"/>
              <a:t>22</a:t>
            </a:fld>
            <a:endParaRPr lang="en-US"/>
          </a:p>
        </p:txBody>
      </p:sp>
    </p:spTree>
    <p:extLst>
      <p:ext uri="{BB962C8B-B14F-4D97-AF65-F5344CB8AC3E}">
        <p14:creationId xmlns:p14="http://schemas.microsoft.com/office/powerpoint/2010/main" val="25833390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78378-5C7B-9E89-EC7C-4EA54B3CC411}"/>
              </a:ext>
            </a:extLst>
          </p:cNvPr>
          <p:cNvSpPr>
            <a:spLocks noGrp="1"/>
          </p:cNvSpPr>
          <p:nvPr>
            <p:ph type="title"/>
          </p:nvPr>
        </p:nvSpPr>
        <p:spPr/>
        <p:txBody>
          <a:bodyPr>
            <a:normAutofit/>
          </a:bodyPr>
          <a:lstStyle/>
          <a:p>
            <a:r>
              <a:rPr lang="en-US" b="1" dirty="0" err="1"/>
              <a:t>IMRaD</a:t>
            </a:r>
            <a:r>
              <a:rPr lang="en-US" b="1" dirty="0"/>
              <a:t> Structure (Research Writing)</a:t>
            </a:r>
            <a:br>
              <a:rPr lang="en-US" b="1" dirty="0"/>
            </a:br>
            <a:endParaRPr lang="en-US" dirty="0"/>
          </a:p>
        </p:txBody>
      </p:sp>
      <p:sp>
        <p:nvSpPr>
          <p:cNvPr id="3" name="Content Placeholder 2">
            <a:extLst>
              <a:ext uri="{FF2B5EF4-FFF2-40B4-BE49-F238E27FC236}">
                <a16:creationId xmlns:a16="http://schemas.microsoft.com/office/drawing/2014/main" id="{7606D2C0-413E-0031-4F83-F088CA0A3F31}"/>
              </a:ext>
            </a:extLst>
          </p:cNvPr>
          <p:cNvSpPr>
            <a:spLocks noGrp="1"/>
          </p:cNvSpPr>
          <p:nvPr>
            <p:ph idx="1"/>
          </p:nvPr>
        </p:nvSpPr>
        <p:spPr/>
        <p:txBody>
          <a:bodyPr/>
          <a:lstStyle/>
          <a:p>
            <a:pPr algn="just"/>
            <a:r>
              <a:rPr lang="en-US" dirty="0"/>
              <a:t>Most papers follow </a:t>
            </a:r>
            <a:r>
              <a:rPr lang="en-US" dirty="0" err="1"/>
              <a:t>IMRaD</a:t>
            </a:r>
            <a:r>
              <a:rPr lang="en-US" dirty="0"/>
              <a:t>:</a:t>
            </a:r>
          </a:p>
          <a:p>
            <a:pPr algn="just"/>
            <a:r>
              <a:rPr lang="en-US" b="1" dirty="0"/>
              <a:t>I – Introduction:</a:t>
            </a:r>
            <a:r>
              <a:rPr lang="en-US" dirty="0"/>
              <a:t> What is the problem?</a:t>
            </a:r>
          </a:p>
          <a:p>
            <a:pPr algn="just"/>
            <a:r>
              <a:rPr lang="en-US" b="1" dirty="0"/>
              <a:t>M – Methods:</a:t>
            </a:r>
            <a:r>
              <a:rPr lang="en-US" dirty="0"/>
              <a:t> How was it studied?</a:t>
            </a:r>
          </a:p>
          <a:p>
            <a:pPr algn="just"/>
            <a:r>
              <a:rPr lang="en-US" b="1" dirty="0"/>
              <a:t>R – Results:</a:t>
            </a:r>
            <a:r>
              <a:rPr lang="en-US" dirty="0"/>
              <a:t> What was found?</a:t>
            </a:r>
          </a:p>
          <a:p>
            <a:pPr algn="just"/>
            <a:r>
              <a:rPr lang="en-US" b="1" dirty="0"/>
              <a:t>D – Discussion:</a:t>
            </a:r>
            <a:r>
              <a:rPr lang="en-US" dirty="0"/>
              <a:t> What does it mean?</a:t>
            </a:r>
          </a:p>
          <a:p>
            <a:endParaRPr lang="en-US" dirty="0"/>
          </a:p>
        </p:txBody>
      </p:sp>
      <p:sp>
        <p:nvSpPr>
          <p:cNvPr id="4" name="Slide Number Placeholder 3">
            <a:extLst>
              <a:ext uri="{FF2B5EF4-FFF2-40B4-BE49-F238E27FC236}">
                <a16:creationId xmlns:a16="http://schemas.microsoft.com/office/drawing/2014/main" id="{8FC2EA47-1483-9FC3-43BC-25D9FDD96E23}"/>
              </a:ext>
            </a:extLst>
          </p:cNvPr>
          <p:cNvSpPr>
            <a:spLocks noGrp="1"/>
          </p:cNvSpPr>
          <p:nvPr>
            <p:ph type="sldNum" sz="quarter" idx="12"/>
          </p:nvPr>
        </p:nvSpPr>
        <p:spPr/>
        <p:txBody>
          <a:bodyPr/>
          <a:lstStyle/>
          <a:p>
            <a:fld id="{ECAB64A0-D49F-4356-A295-EC5B0CCCE6D4}" type="slidenum">
              <a:rPr lang="en-US" smtClean="0"/>
              <a:t>23</a:t>
            </a:fld>
            <a:endParaRPr lang="en-US"/>
          </a:p>
        </p:txBody>
      </p:sp>
    </p:spTree>
    <p:extLst>
      <p:ext uri="{BB962C8B-B14F-4D97-AF65-F5344CB8AC3E}">
        <p14:creationId xmlns:p14="http://schemas.microsoft.com/office/powerpoint/2010/main" val="23335593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B343B-0AC4-8F91-4494-FA55F5208A1F}"/>
              </a:ext>
            </a:extLst>
          </p:cNvPr>
          <p:cNvSpPr>
            <a:spLocks noGrp="1"/>
          </p:cNvSpPr>
          <p:nvPr>
            <p:ph type="title"/>
          </p:nvPr>
        </p:nvSpPr>
        <p:spPr/>
        <p:txBody>
          <a:bodyPr/>
          <a:lstStyle/>
          <a:p>
            <a:r>
              <a:rPr lang="en-US" dirty="0"/>
              <a:t>Why </a:t>
            </a:r>
            <a:r>
              <a:rPr lang="en-US" dirty="0" err="1"/>
              <a:t>IMRaD</a:t>
            </a:r>
            <a:r>
              <a:rPr lang="en-US" dirty="0"/>
              <a:t> is useful for Professional Master students</a:t>
            </a:r>
          </a:p>
        </p:txBody>
      </p:sp>
      <p:sp>
        <p:nvSpPr>
          <p:cNvPr id="3" name="Content Placeholder 2">
            <a:extLst>
              <a:ext uri="{FF2B5EF4-FFF2-40B4-BE49-F238E27FC236}">
                <a16:creationId xmlns:a16="http://schemas.microsoft.com/office/drawing/2014/main" id="{ACC7D946-A26F-4201-F9AE-59B2C8012360}"/>
              </a:ext>
            </a:extLst>
          </p:cNvPr>
          <p:cNvSpPr>
            <a:spLocks noGrp="1"/>
          </p:cNvSpPr>
          <p:nvPr>
            <p:ph idx="1"/>
          </p:nvPr>
        </p:nvSpPr>
        <p:spPr/>
        <p:txBody>
          <a:bodyPr/>
          <a:lstStyle/>
          <a:p>
            <a:r>
              <a:rPr lang="en-US" dirty="0"/>
              <a:t>Even though your students are </a:t>
            </a:r>
            <a:r>
              <a:rPr lang="en-US" b="1" dirty="0"/>
              <a:t>professional</a:t>
            </a:r>
            <a:r>
              <a:rPr lang="en-US" dirty="0"/>
              <a:t>, not </a:t>
            </a:r>
            <a:r>
              <a:rPr lang="en-US" b="1" dirty="0"/>
              <a:t>research track</a:t>
            </a:r>
            <a:r>
              <a:rPr lang="en-US" dirty="0"/>
              <a:t>, they still need to:</a:t>
            </a:r>
            <a:br>
              <a:rPr lang="en-US" dirty="0"/>
            </a:br>
            <a:r>
              <a:rPr lang="en-US" dirty="0"/>
              <a:t>✔ Write </a:t>
            </a:r>
            <a:r>
              <a:rPr lang="en-US" b="1" dirty="0"/>
              <a:t>technical reports</a:t>
            </a:r>
            <a:br>
              <a:rPr lang="en-US" dirty="0"/>
            </a:br>
            <a:r>
              <a:rPr lang="en-US" dirty="0"/>
              <a:t>✔ Present </a:t>
            </a:r>
            <a:r>
              <a:rPr lang="en-US" b="1" dirty="0"/>
              <a:t>project documentation</a:t>
            </a:r>
            <a:br>
              <a:rPr lang="en-US" dirty="0"/>
            </a:br>
            <a:r>
              <a:rPr lang="en-US" dirty="0"/>
              <a:t>✔ Prepare </a:t>
            </a:r>
            <a:r>
              <a:rPr lang="en-US" b="1" dirty="0"/>
              <a:t>end-of-study reports</a:t>
            </a:r>
            <a:br>
              <a:rPr lang="en-US" dirty="0"/>
            </a:br>
            <a:r>
              <a:rPr lang="en-US" dirty="0"/>
              <a:t>✔ Communicate </a:t>
            </a:r>
            <a:r>
              <a:rPr lang="en-US" b="1" dirty="0"/>
              <a:t>AI solutions clearly</a:t>
            </a:r>
            <a:br>
              <a:rPr lang="en-US" dirty="0"/>
            </a:br>
            <a:r>
              <a:rPr lang="en-US" dirty="0"/>
              <a:t>✔ </a:t>
            </a:r>
            <a:r>
              <a:rPr lang="en-US" b="1" dirty="0"/>
              <a:t>Document methodology</a:t>
            </a:r>
            <a:r>
              <a:rPr lang="en-US" dirty="0"/>
              <a:t> (like research)</a:t>
            </a:r>
          </a:p>
          <a:p>
            <a:r>
              <a:rPr lang="en-US" dirty="0"/>
              <a:t>So </a:t>
            </a:r>
            <a:r>
              <a:rPr lang="en-US" dirty="0" err="1"/>
              <a:t>IMRaD</a:t>
            </a:r>
            <a:r>
              <a:rPr lang="en-US" dirty="0"/>
              <a:t> helps them structure </a:t>
            </a:r>
            <a:r>
              <a:rPr lang="en-US" b="1" dirty="0"/>
              <a:t>capstone projects, AI system reports, internship reports, and project documentation</a:t>
            </a:r>
            <a:r>
              <a:rPr lang="en-US" dirty="0"/>
              <a:t> in a </a:t>
            </a:r>
            <a:r>
              <a:rPr lang="en-US" b="1" dirty="0"/>
              <a:t>professional, scientific way</a:t>
            </a:r>
            <a:r>
              <a:rPr lang="en-US" dirty="0"/>
              <a:t>.</a:t>
            </a:r>
          </a:p>
          <a:p>
            <a:pPr marL="0" indent="0">
              <a:buNone/>
            </a:pPr>
            <a:endParaRPr lang="en-US" dirty="0"/>
          </a:p>
        </p:txBody>
      </p:sp>
      <p:sp>
        <p:nvSpPr>
          <p:cNvPr id="4" name="Slide Number Placeholder 3">
            <a:extLst>
              <a:ext uri="{FF2B5EF4-FFF2-40B4-BE49-F238E27FC236}">
                <a16:creationId xmlns:a16="http://schemas.microsoft.com/office/drawing/2014/main" id="{7204A433-8AD2-90A2-7098-928368AEE3CC}"/>
              </a:ext>
            </a:extLst>
          </p:cNvPr>
          <p:cNvSpPr>
            <a:spLocks noGrp="1"/>
          </p:cNvSpPr>
          <p:nvPr>
            <p:ph type="sldNum" sz="quarter" idx="12"/>
          </p:nvPr>
        </p:nvSpPr>
        <p:spPr/>
        <p:txBody>
          <a:bodyPr/>
          <a:lstStyle/>
          <a:p>
            <a:fld id="{ECAB64A0-D49F-4356-A295-EC5B0CCCE6D4}" type="slidenum">
              <a:rPr lang="en-US" smtClean="0"/>
              <a:t>24</a:t>
            </a:fld>
            <a:endParaRPr lang="en-US"/>
          </a:p>
        </p:txBody>
      </p:sp>
    </p:spTree>
    <p:extLst>
      <p:ext uri="{BB962C8B-B14F-4D97-AF65-F5344CB8AC3E}">
        <p14:creationId xmlns:p14="http://schemas.microsoft.com/office/powerpoint/2010/main" val="34394146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227B1-3733-1C74-7A63-80770E2633F0}"/>
              </a:ext>
            </a:extLst>
          </p:cNvPr>
          <p:cNvSpPr>
            <a:spLocks noGrp="1"/>
          </p:cNvSpPr>
          <p:nvPr>
            <p:ph type="title"/>
          </p:nvPr>
        </p:nvSpPr>
        <p:spPr/>
        <p:txBody>
          <a:bodyPr/>
          <a:lstStyle/>
          <a:p>
            <a:r>
              <a:rPr lang="en-US" dirty="0" err="1"/>
              <a:t>IMRaD</a:t>
            </a:r>
            <a:r>
              <a:rPr lang="en-US" dirty="0"/>
              <a:t> Example – Fake News Detection Using Machine Learning</a:t>
            </a:r>
          </a:p>
        </p:txBody>
      </p:sp>
      <p:sp>
        <p:nvSpPr>
          <p:cNvPr id="3" name="Content Placeholder 2">
            <a:extLst>
              <a:ext uri="{FF2B5EF4-FFF2-40B4-BE49-F238E27FC236}">
                <a16:creationId xmlns:a16="http://schemas.microsoft.com/office/drawing/2014/main" id="{4391EF5F-FC87-FB3A-F204-B20B1E38F20E}"/>
              </a:ext>
            </a:extLst>
          </p:cNvPr>
          <p:cNvSpPr>
            <a:spLocks noGrp="1"/>
          </p:cNvSpPr>
          <p:nvPr>
            <p:ph idx="1"/>
          </p:nvPr>
        </p:nvSpPr>
        <p:spPr/>
        <p:txBody>
          <a:bodyPr/>
          <a:lstStyle/>
          <a:p>
            <a:pPr algn="just"/>
            <a:r>
              <a:rPr lang="en-US" b="1" dirty="0" err="1"/>
              <a:t>Title:</a:t>
            </a:r>
            <a:r>
              <a:rPr lang="en-US" dirty="0" err="1"/>
              <a:t>Fake</a:t>
            </a:r>
            <a:r>
              <a:rPr lang="en-US" dirty="0"/>
              <a:t> News Detection Using Logistic Regression and TF-IDF</a:t>
            </a:r>
          </a:p>
          <a:p>
            <a:pPr algn="just"/>
            <a:r>
              <a:rPr lang="en-US" b="1" dirty="0"/>
              <a:t>I – Introduction</a:t>
            </a:r>
          </a:p>
          <a:p>
            <a:pPr marL="0" indent="0" algn="just">
              <a:buNone/>
            </a:pPr>
            <a:r>
              <a:rPr lang="en-US" dirty="0"/>
              <a:t>Fake news has become a major problem on social media, influencing public opinion and causing misinformation. Detecting fake news automatically is important to maintain trust in online platforms. The goal of this project is to build a machine learning model that classifies news articles as </a:t>
            </a:r>
            <a:r>
              <a:rPr lang="en-US" i="1" dirty="0"/>
              <a:t>real</a:t>
            </a:r>
            <a:r>
              <a:rPr lang="en-US" dirty="0"/>
              <a:t> or </a:t>
            </a:r>
            <a:r>
              <a:rPr lang="en-US" i="1" dirty="0"/>
              <a:t>fake</a:t>
            </a:r>
            <a:r>
              <a:rPr lang="en-US" dirty="0"/>
              <a:t> using text analysis techniques.</a:t>
            </a:r>
          </a:p>
          <a:p>
            <a:endParaRPr lang="en-US" dirty="0"/>
          </a:p>
        </p:txBody>
      </p:sp>
      <p:sp>
        <p:nvSpPr>
          <p:cNvPr id="4" name="Slide Number Placeholder 3">
            <a:extLst>
              <a:ext uri="{FF2B5EF4-FFF2-40B4-BE49-F238E27FC236}">
                <a16:creationId xmlns:a16="http://schemas.microsoft.com/office/drawing/2014/main" id="{9FF2EABA-7D68-E0B2-7F9F-607A76611490}"/>
              </a:ext>
            </a:extLst>
          </p:cNvPr>
          <p:cNvSpPr>
            <a:spLocks noGrp="1"/>
          </p:cNvSpPr>
          <p:nvPr>
            <p:ph type="sldNum" sz="quarter" idx="12"/>
          </p:nvPr>
        </p:nvSpPr>
        <p:spPr/>
        <p:txBody>
          <a:bodyPr/>
          <a:lstStyle/>
          <a:p>
            <a:fld id="{ECAB64A0-D49F-4356-A295-EC5B0CCCE6D4}" type="slidenum">
              <a:rPr lang="en-US" smtClean="0"/>
              <a:t>25</a:t>
            </a:fld>
            <a:endParaRPr lang="en-US"/>
          </a:p>
        </p:txBody>
      </p:sp>
    </p:spTree>
    <p:extLst>
      <p:ext uri="{BB962C8B-B14F-4D97-AF65-F5344CB8AC3E}">
        <p14:creationId xmlns:p14="http://schemas.microsoft.com/office/powerpoint/2010/main" val="36243500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ED044-F4E9-7303-1EC3-4AD1CB804665}"/>
              </a:ext>
            </a:extLst>
          </p:cNvPr>
          <p:cNvSpPr>
            <a:spLocks noGrp="1"/>
          </p:cNvSpPr>
          <p:nvPr>
            <p:ph type="title"/>
          </p:nvPr>
        </p:nvSpPr>
        <p:spPr/>
        <p:txBody>
          <a:bodyPr/>
          <a:lstStyle/>
          <a:p>
            <a:r>
              <a:rPr lang="en-US" dirty="0" err="1"/>
              <a:t>IMRaD</a:t>
            </a:r>
            <a:r>
              <a:rPr lang="en-US" dirty="0"/>
              <a:t> Example – Fake News Detection Using Machine Learning</a:t>
            </a:r>
          </a:p>
        </p:txBody>
      </p:sp>
      <p:sp>
        <p:nvSpPr>
          <p:cNvPr id="3" name="Content Placeholder 2">
            <a:extLst>
              <a:ext uri="{FF2B5EF4-FFF2-40B4-BE49-F238E27FC236}">
                <a16:creationId xmlns:a16="http://schemas.microsoft.com/office/drawing/2014/main" id="{D7688C4E-416F-9C6D-2D75-F29F8C6369D4}"/>
              </a:ext>
            </a:extLst>
          </p:cNvPr>
          <p:cNvSpPr>
            <a:spLocks noGrp="1"/>
          </p:cNvSpPr>
          <p:nvPr>
            <p:ph idx="1"/>
          </p:nvPr>
        </p:nvSpPr>
        <p:spPr/>
        <p:txBody>
          <a:bodyPr/>
          <a:lstStyle/>
          <a:p>
            <a:pPr algn="just"/>
            <a:r>
              <a:rPr lang="en-US" b="1" dirty="0"/>
              <a:t>M – Methods: </a:t>
            </a:r>
            <a:r>
              <a:rPr lang="en-US" dirty="0"/>
              <a:t>A dataset of 20,000 labeled news articles was used. The data was preprocessed by removing punctuation, stop words, and converting all text to lowercase. The TF-IDF method was used to extract text features. A Logistic Regression classifier was trained on 80% of the data and tested on the remaining 20%. The model was evaluated using accuracy and F1-score.</a:t>
            </a:r>
          </a:p>
          <a:p>
            <a:pPr algn="just"/>
            <a:r>
              <a:rPr lang="en-US" b="1" dirty="0"/>
              <a:t>R – Results: </a:t>
            </a:r>
            <a:r>
              <a:rPr lang="en-US" dirty="0"/>
              <a:t>The model achieved an </a:t>
            </a:r>
            <a:r>
              <a:rPr lang="en-US" b="1" dirty="0"/>
              <a:t>accuracy of 92%</a:t>
            </a:r>
            <a:r>
              <a:rPr lang="en-US" dirty="0"/>
              <a:t> and an </a:t>
            </a:r>
            <a:r>
              <a:rPr lang="en-US" b="1" dirty="0"/>
              <a:t>F1-score of 0.90</a:t>
            </a:r>
            <a:r>
              <a:rPr lang="en-US" dirty="0"/>
              <a:t>. The confusion matrix shows that the model correctly identified most fake and real news articles, with only a few misclassifications.</a:t>
            </a:r>
          </a:p>
          <a:p>
            <a:endParaRPr lang="en-US" dirty="0"/>
          </a:p>
        </p:txBody>
      </p:sp>
      <p:sp>
        <p:nvSpPr>
          <p:cNvPr id="4" name="Slide Number Placeholder 3">
            <a:extLst>
              <a:ext uri="{FF2B5EF4-FFF2-40B4-BE49-F238E27FC236}">
                <a16:creationId xmlns:a16="http://schemas.microsoft.com/office/drawing/2014/main" id="{E5833C5F-D2A5-83C3-196F-8A54F50A479C}"/>
              </a:ext>
            </a:extLst>
          </p:cNvPr>
          <p:cNvSpPr>
            <a:spLocks noGrp="1"/>
          </p:cNvSpPr>
          <p:nvPr>
            <p:ph type="sldNum" sz="quarter" idx="12"/>
          </p:nvPr>
        </p:nvSpPr>
        <p:spPr/>
        <p:txBody>
          <a:bodyPr/>
          <a:lstStyle/>
          <a:p>
            <a:fld id="{ECAB64A0-D49F-4356-A295-EC5B0CCCE6D4}" type="slidenum">
              <a:rPr lang="en-US" smtClean="0"/>
              <a:t>26</a:t>
            </a:fld>
            <a:endParaRPr lang="en-US"/>
          </a:p>
        </p:txBody>
      </p:sp>
    </p:spTree>
    <p:extLst>
      <p:ext uri="{BB962C8B-B14F-4D97-AF65-F5344CB8AC3E}">
        <p14:creationId xmlns:p14="http://schemas.microsoft.com/office/powerpoint/2010/main" val="11862280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2A1D6-4C13-FB04-2B49-F4F048CFCA4D}"/>
              </a:ext>
            </a:extLst>
          </p:cNvPr>
          <p:cNvSpPr>
            <a:spLocks noGrp="1"/>
          </p:cNvSpPr>
          <p:nvPr>
            <p:ph type="title"/>
          </p:nvPr>
        </p:nvSpPr>
        <p:spPr/>
        <p:txBody>
          <a:bodyPr/>
          <a:lstStyle/>
          <a:p>
            <a:r>
              <a:rPr lang="en-US" dirty="0" err="1"/>
              <a:t>IMRaD</a:t>
            </a:r>
            <a:r>
              <a:rPr lang="en-US" dirty="0"/>
              <a:t> Example – Fake News Detection Using Machine Learning</a:t>
            </a:r>
          </a:p>
        </p:txBody>
      </p:sp>
      <p:graphicFrame>
        <p:nvGraphicFramePr>
          <p:cNvPr id="4" name="Content Placeholder 3">
            <a:extLst>
              <a:ext uri="{FF2B5EF4-FFF2-40B4-BE49-F238E27FC236}">
                <a16:creationId xmlns:a16="http://schemas.microsoft.com/office/drawing/2014/main" id="{DB44065B-0B2F-9600-B2D2-559538D1B43B}"/>
              </a:ext>
            </a:extLst>
          </p:cNvPr>
          <p:cNvGraphicFramePr>
            <a:graphicFrameLocks noGrp="1"/>
          </p:cNvGraphicFramePr>
          <p:nvPr>
            <p:ph idx="1"/>
            <p:extLst>
              <p:ext uri="{D42A27DB-BD31-4B8C-83A1-F6EECF244321}">
                <p14:modId xmlns:p14="http://schemas.microsoft.com/office/powerpoint/2010/main" val="469215157"/>
              </p:ext>
            </p:extLst>
          </p:nvPr>
        </p:nvGraphicFramePr>
        <p:xfrm>
          <a:off x="3868738" y="1300469"/>
          <a:ext cx="7315200" cy="1828800"/>
        </p:xfrm>
        <a:graphic>
          <a:graphicData uri="http://schemas.openxmlformats.org/drawingml/2006/table">
            <a:tbl>
              <a:tblPr>
                <a:tableStyleId>{3C2FFA5D-87B4-456A-9821-1D502468CF0F}</a:tableStyleId>
              </a:tblPr>
              <a:tblGrid>
                <a:gridCol w="3657600">
                  <a:extLst>
                    <a:ext uri="{9D8B030D-6E8A-4147-A177-3AD203B41FA5}">
                      <a16:colId xmlns:a16="http://schemas.microsoft.com/office/drawing/2014/main" val="2111744539"/>
                    </a:ext>
                  </a:extLst>
                </a:gridCol>
                <a:gridCol w="3657600">
                  <a:extLst>
                    <a:ext uri="{9D8B030D-6E8A-4147-A177-3AD203B41FA5}">
                      <a16:colId xmlns:a16="http://schemas.microsoft.com/office/drawing/2014/main" val="2061317177"/>
                    </a:ext>
                  </a:extLst>
                </a:gridCol>
              </a:tblGrid>
              <a:tr h="0">
                <a:tc>
                  <a:txBody>
                    <a:bodyPr/>
                    <a:lstStyle/>
                    <a:p>
                      <a:pPr>
                        <a:buNone/>
                      </a:pPr>
                      <a:r>
                        <a:rPr lang="en-US"/>
                        <a:t>Metric</a:t>
                      </a:r>
                    </a:p>
                  </a:txBody>
                  <a:tcPr anchor="ctr"/>
                </a:tc>
                <a:tc>
                  <a:txBody>
                    <a:bodyPr/>
                    <a:lstStyle/>
                    <a:p>
                      <a:pPr>
                        <a:buNone/>
                      </a:pPr>
                      <a:r>
                        <a:rPr lang="en-US"/>
                        <a:t>Score</a:t>
                      </a:r>
                    </a:p>
                  </a:txBody>
                  <a:tcPr anchor="ctr"/>
                </a:tc>
                <a:extLst>
                  <a:ext uri="{0D108BD9-81ED-4DB2-BD59-A6C34878D82A}">
                    <a16:rowId xmlns:a16="http://schemas.microsoft.com/office/drawing/2014/main" val="1888374524"/>
                  </a:ext>
                </a:extLst>
              </a:tr>
              <a:tr h="0">
                <a:tc>
                  <a:txBody>
                    <a:bodyPr/>
                    <a:lstStyle/>
                    <a:p>
                      <a:pPr>
                        <a:buNone/>
                      </a:pPr>
                      <a:r>
                        <a:rPr lang="en-US"/>
                        <a:t>Accuracy</a:t>
                      </a:r>
                    </a:p>
                  </a:txBody>
                  <a:tcPr anchor="ctr"/>
                </a:tc>
                <a:tc>
                  <a:txBody>
                    <a:bodyPr/>
                    <a:lstStyle/>
                    <a:p>
                      <a:pPr>
                        <a:buNone/>
                      </a:pPr>
                      <a:r>
                        <a:rPr lang="en-US"/>
                        <a:t>92%</a:t>
                      </a:r>
                    </a:p>
                  </a:txBody>
                  <a:tcPr anchor="ctr"/>
                </a:tc>
                <a:extLst>
                  <a:ext uri="{0D108BD9-81ED-4DB2-BD59-A6C34878D82A}">
                    <a16:rowId xmlns:a16="http://schemas.microsoft.com/office/drawing/2014/main" val="925416608"/>
                  </a:ext>
                </a:extLst>
              </a:tr>
              <a:tr h="0">
                <a:tc>
                  <a:txBody>
                    <a:bodyPr/>
                    <a:lstStyle/>
                    <a:p>
                      <a:pPr>
                        <a:buNone/>
                      </a:pPr>
                      <a:r>
                        <a:rPr lang="en-US" dirty="0"/>
                        <a:t>Precision</a:t>
                      </a:r>
                    </a:p>
                  </a:txBody>
                  <a:tcPr anchor="ctr"/>
                </a:tc>
                <a:tc>
                  <a:txBody>
                    <a:bodyPr/>
                    <a:lstStyle/>
                    <a:p>
                      <a:pPr>
                        <a:buNone/>
                      </a:pPr>
                      <a:r>
                        <a:rPr lang="en-US"/>
                        <a:t>91%</a:t>
                      </a:r>
                    </a:p>
                  </a:txBody>
                  <a:tcPr anchor="ctr"/>
                </a:tc>
                <a:extLst>
                  <a:ext uri="{0D108BD9-81ED-4DB2-BD59-A6C34878D82A}">
                    <a16:rowId xmlns:a16="http://schemas.microsoft.com/office/drawing/2014/main" val="4129666284"/>
                  </a:ext>
                </a:extLst>
              </a:tr>
              <a:tr h="0">
                <a:tc>
                  <a:txBody>
                    <a:bodyPr/>
                    <a:lstStyle/>
                    <a:p>
                      <a:pPr>
                        <a:buNone/>
                      </a:pPr>
                      <a:r>
                        <a:rPr lang="en-US"/>
                        <a:t>Recall</a:t>
                      </a:r>
                    </a:p>
                  </a:txBody>
                  <a:tcPr anchor="ctr"/>
                </a:tc>
                <a:tc>
                  <a:txBody>
                    <a:bodyPr/>
                    <a:lstStyle/>
                    <a:p>
                      <a:pPr>
                        <a:buNone/>
                      </a:pPr>
                      <a:r>
                        <a:rPr lang="en-US"/>
                        <a:t>89%</a:t>
                      </a:r>
                    </a:p>
                  </a:txBody>
                  <a:tcPr anchor="ctr"/>
                </a:tc>
                <a:extLst>
                  <a:ext uri="{0D108BD9-81ED-4DB2-BD59-A6C34878D82A}">
                    <a16:rowId xmlns:a16="http://schemas.microsoft.com/office/drawing/2014/main" val="351385190"/>
                  </a:ext>
                </a:extLst>
              </a:tr>
              <a:tr h="0">
                <a:tc>
                  <a:txBody>
                    <a:bodyPr/>
                    <a:lstStyle/>
                    <a:p>
                      <a:pPr>
                        <a:buNone/>
                      </a:pPr>
                      <a:r>
                        <a:rPr lang="en-US"/>
                        <a:t>F1-score</a:t>
                      </a:r>
                    </a:p>
                  </a:txBody>
                  <a:tcPr anchor="ctr"/>
                </a:tc>
                <a:tc>
                  <a:txBody>
                    <a:bodyPr/>
                    <a:lstStyle/>
                    <a:p>
                      <a:pPr>
                        <a:buNone/>
                      </a:pPr>
                      <a:r>
                        <a:rPr lang="en-US" dirty="0"/>
                        <a:t>0.90</a:t>
                      </a:r>
                    </a:p>
                  </a:txBody>
                  <a:tcPr anchor="ctr"/>
                </a:tc>
                <a:extLst>
                  <a:ext uri="{0D108BD9-81ED-4DB2-BD59-A6C34878D82A}">
                    <a16:rowId xmlns:a16="http://schemas.microsoft.com/office/drawing/2014/main" val="3692179449"/>
                  </a:ext>
                </a:extLst>
              </a:tr>
            </a:tbl>
          </a:graphicData>
        </a:graphic>
      </p:graphicFrame>
      <p:sp>
        <p:nvSpPr>
          <p:cNvPr id="6" name="TextBox 5">
            <a:extLst>
              <a:ext uri="{FF2B5EF4-FFF2-40B4-BE49-F238E27FC236}">
                <a16:creationId xmlns:a16="http://schemas.microsoft.com/office/drawing/2014/main" id="{B5F9B8D4-2CA4-F744-D64C-74D860A13E10}"/>
              </a:ext>
            </a:extLst>
          </p:cNvPr>
          <p:cNvSpPr txBox="1"/>
          <p:nvPr/>
        </p:nvSpPr>
        <p:spPr>
          <a:xfrm>
            <a:off x="3868738" y="3803205"/>
            <a:ext cx="6853339" cy="1938992"/>
          </a:xfrm>
          <a:prstGeom prst="rect">
            <a:avLst/>
          </a:prstGeom>
          <a:noFill/>
        </p:spPr>
        <p:txBody>
          <a:bodyPr wrap="square">
            <a:spAutoFit/>
          </a:bodyPr>
          <a:lstStyle/>
          <a:p>
            <a:pPr algn="just">
              <a:buNone/>
            </a:pPr>
            <a:r>
              <a:rPr lang="en-US" sz="2000" b="1" dirty="0"/>
              <a:t>D – Discussion</a:t>
            </a:r>
          </a:p>
          <a:p>
            <a:pPr algn="just">
              <a:buNone/>
            </a:pPr>
            <a:r>
              <a:rPr lang="en-US" sz="2000" dirty="0"/>
              <a:t>The results show that Logistic Regression combined with TF-IDF is effective for detecting fake news. However, performance could be improved by using deep learning models like BERT or LSTM. In addition, increasing dataset size and cleaning noisy data could further reduce misclassification.</a:t>
            </a:r>
          </a:p>
        </p:txBody>
      </p:sp>
      <p:sp>
        <p:nvSpPr>
          <p:cNvPr id="3" name="Slide Number Placeholder 2">
            <a:extLst>
              <a:ext uri="{FF2B5EF4-FFF2-40B4-BE49-F238E27FC236}">
                <a16:creationId xmlns:a16="http://schemas.microsoft.com/office/drawing/2014/main" id="{B747E328-1407-EADC-B7D7-9DEBBA43BAA1}"/>
              </a:ext>
            </a:extLst>
          </p:cNvPr>
          <p:cNvSpPr>
            <a:spLocks noGrp="1"/>
          </p:cNvSpPr>
          <p:nvPr>
            <p:ph type="sldNum" sz="quarter" idx="12"/>
          </p:nvPr>
        </p:nvSpPr>
        <p:spPr/>
        <p:txBody>
          <a:bodyPr/>
          <a:lstStyle/>
          <a:p>
            <a:fld id="{ECAB64A0-D49F-4356-A295-EC5B0CCCE6D4}" type="slidenum">
              <a:rPr lang="en-US" smtClean="0"/>
              <a:t>27</a:t>
            </a:fld>
            <a:endParaRPr lang="en-US"/>
          </a:p>
        </p:txBody>
      </p:sp>
    </p:spTree>
    <p:extLst>
      <p:ext uri="{BB962C8B-B14F-4D97-AF65-F5344CB8AC3E}">
        <p14:creationId xmlns:p14="http://schemas.microsoft.com/office/powerpoint/2010/main" val="2589413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385D0-2011-CCA4-0CC7-1268BEBC1DC0}"/>
              </a:ext>
            </a:extLst>
          </p:cNvPr>
          <p:cNvSpPr>
            <a:spLocks noGrp="1"/>
          </p:cNvSpPr>
          <p:nvPr>
            <p:ph type="title"/>
          </p:nvPr>
        </p:nvSpPr>
        <p:spPr/>
        <p:txBody>
          <a:bodyPr/>
          <a:lstStyle/>
          <a:p>
            <a:r>
              <a:rPr lang="en-US" b="1" dirty="0"/>
              <a:t>Example (Deep Learning context)</a:t>
            </a:r>
            <a:br>
              <a:rPr lang="en-US" dirty="0"/>
            </a:br>
            <a:endParaRPr lang="en-US" dirty="0"/>
          </a:p>
        </p:txBody>
      </p:sp>
      <p:sp>
        <p:nvSpPr>
          <p:cNvPr id="3" name="Content Placeholder 2">
            <a:extLst>
              <a:ext uri="{FF2B5EF4-FFF2-40B4-BE49-F238E27FC236}">
                <a16:creationId xmlns:a16="http://schemas.microsoft.com/office/drawing/2014/main" id="{C20B409E-541E-1FB7-985D-E870FB40427C}"/>
              </a:ext>
            </a:extLst>
          </p:cNvPr>
          <p:cNvSpPr>
            <a:spLocks noGrp="1"/>
          </p:cNvSpPr>
          <p:nvPr>
            <p:ph idx="1"/>
          </p:nvPr>
        </p:nvSpPr>
        <p:spPr/>
        <p:txBody>
          <a:bodyPr/>
          <a:lstStyle/>
          <a:p>
            <a:pPr algn="just"/>
            <a:r>
              <a:rPr lang="en-US" dirty="0"/>
              <a:t>Topic: </a:t>
            </a:r>
            <a:r>
              <a:rPr lang="en-US" i="1" dirty="0"/>
              <a:t>Improving accuracy in medical image segmentation using U-Net.</a:t>
            </a:r>
            <a:endParaRPr lang="en-US" dirty="0"/>
          </a:p>
          <a:p>
            <a:pPr algn="just"/>
            <a:r>
              <a:rPr lang="en-US" dirty="0"/>
              <a:t>Introduction: "This work addresses segmentation challenges in MRI scans."</a:t>
            </a:r>
          </a:p>
          <a:p>
            <a:pPr algn="just"/>
            <a:r>
              <a:rPr lang="en-US" dirty="0"/>
              <a:t>Methods: "We implement a modified U-Net with data augmentation."</a:t>
            </a:r>
          </a:p>
          <a:p>
            <a:pPr algn="just"/>
            <a:r>
              <a:rPr lang="en-US" dirty="0"/>
              <a:t>Results: "Dice score improved by 8%."</a:t>
            </a:r>
          </a:p>
          <a:p>
            <a:pPr algn="just"/>
            <a:r>
              <a:rPr lang="en-US" dirty="0"/>
              <a:t>Discussion: "Improvement is due to better feature extraction."</a:t>
            </a:r>
          </a:p>
          <a:p>
            <a:endParaRPr lang="en-US" dirty="0"/>
          </a:p>
        </p:txBody>
      </p:sp>
      <p:sp>
        <p:nvSpPr>
          <p:cNvPr id="4" name="Slide Number Placeholder 3">
            <a:extLst>
              <a:ext uri="{FF2B5EF4-FFF2-40B4-BE49-F238E27FC236}">
                <a16:creationId xmlns:a16="http://schemas.microsoft.com/office/drawing/2014/main" id="{D1DEB78B-DFF4-F971-D323-ED3E8A8B4CE9}"/>
              </a:ext>
            </a:extLst>
          </p:cNvPr>
          <p:cNvSpPr>
            <a:spLocks noGrp="1"/>
          </p:cNvSpPr>
          <p:nvPr>
            <p:ph type="sldNum" sz="quarter" idx="12"/>
          </p:nvPr>
        </p:nvSpPr>
        <p:spPr/>
        <p:txBody>
          <a:bodyPr/>
          <a:lstStyle/>
          <a:p>
            <a:fld id="{ECAB64A0-D49F-4356-A295-EC5B0CCCE6D4}" type="slidenum">
              <a:rPr lang="en-US" smtClean="0"/>
              <a:t>28</a:t>
            </a:fld>
            <a:endParaRPr lang="en-US"/>
          </a:p>
        </p:txBody>
      </p:sp>
    </p:spTree>
    <p:extLst>
      <p:ext uri="{BB962C8B-B14F-4D97-AF65-F5344CB8AC3E}">
        <p14:creationId xmlns:p14="http://schemas.microsoft.com/office/powerpoint/2010/main" val="6969846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1AC0C-06D2-00A0-9ECA-782F8D2EC6FC}"/>
              </a:ext>
            </a:extLst>
          </p:cNvPr>
          <p:cNvSpPr>
            <a:spLocks noGrp="1"/>
          </p:cNvSpPr>
          <p:nvPr>
            <p:ph type="title"/>
          </p:nvPr>
        </p:nvSpPr>
        <p:spPr/>
        <p:txBody>
          <a:bodyPr>
            <a:normAutofit fontScale="90000"/>
          </a:bodyPr>
          <a:lstStyle/>
          <a:p>
            <a:r>
              <a:rPr lang="en-US" b="1" dirty="0"/>
              <a:t>Mini Exercise (10 min):</a:t>
            </a:r>
            <a:r>
              <a:rPr lang="en-US" dirty="0"/>
              <a:t> Write </a:t>
            </a:r>
            <a:r>
              <a:rPr lang="en-US" dirty="0" err="1"/>
              <a:t>IMRaD</a:t>
            </a:r>
            <a:r>
              <a:rPr lang="en-US" dirty="0"/>
              <a:t> outline for: </a:t>
            </a:r>
            <a:r>
              <a:rPr lang="en-US" i="1" dirty="0"/>
              <a:t>"Detecting fake images using GANs"</a:t>
            </a:r>
            <a:endParaRPr lang="en-US" dirty="0"/>
          </a:p>
        </p:txBody>
      </p:sp>
      <p:sp>
        <p:nvSpPr>
          <p:cNvPr id="3" name="Text Placeholder 2">
            <a:extLst>
              <a:ext uri="{FF2B5EF4-FFF2-40B4-BE49-F238E27FC236}">
                <a16:creationId xmlns:a16="http://schemas.microsoft.com/office/drawing/2014/main" id="{6265095F-60D9-C54F-3F74-A700470ADC7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51A54C9-EECE-A3BC-1273-9E7AE6226621}"/>
              </a:ext>
            </a:extLst>
          </p:cNvPr>
          <p:cNvSpPr>
            <a:spLocks noGrp="1"/>
          </p:cNvSpPr>
          <p:nvPr>
            <p:ph type="sldNum" sz="quarter" idx="12"/>
          </p:nvPr>
        </p:nvSpPr>
        <p:spPr/>
        <p:txBody>
          <a:bodyPr/>
          <a:lstStyle/>
          <a:p>
            <a:fld id="{ECAB64A0-D49F-4356-A295-EC5B0CCCE6D4}" type="slidenum">
              <a:rPr lang="en-US" smtClean="0"/>
              <a:t>29</a:t>
            </a:fld>
            <a:endParaRPr lang="en-US"/>
          </a:p>
        </p:txBody>
      </p:sp>
    </p:spTree>
    <p:extLst>
      <p:ext uri="{BB962C8B-B14F-4D97-AF65-F5344CB8AC3E}">
        <p14:creationId xmlns:p14="http://schemas.microsoft.com/office/powerpoint/2010/main" val="774438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EB709-BD93-50B3-3C96-463B7A066D1C}"/>
              </a:ext>
            </a:extLst>
          </p:cNvPr>
          <p:cNvSpPr>
            <a:spLocks noGrp="1"/>
          </p:cNvSpPr>
          <p:nvPr>
            <p:ph type="title"/>
          </p:nvPr>
        </p:nvSpPr>
        <p:spPr/>
        <p:txBody>
          <a:bodyPr/>
          <a:lstStyle/>
          <a:p>
            <a:r>
              <a:rPr lang="en-US" b="1" dirty="0"/>
              <a:t>Mini Exercise (10 min):</a:t>
            </a:r>
            <a:r>
              <a:rPr lang="en-US" dirty="0"/>
              <a:t> Write </a:t>
            </a:r>
            <a:r>
              <a:rPr lang="en-US" dirty="0" err="1"/>
              <a:t>IMRaD</a:t>
            </a:r>
            <a:r>
              <a:rPr lang="en-US" dirty="0"/>
              <a:t> outline for: </a:t>
            </a:r>
            <a:r>
              <a:rPr lang="en-US" i="1" dirty="0"/>
              <a:t>"Detecting fake images using GANs"</a:t>
            </a:r>
            <a:br>
              <a:rPr lang="en-US" dirty="0"/>
            </a:br>
            <a:endParaRPr lang="en-US" dirty="0"/>
          </a:p>
        </p:txBody>
      </p:sp>
      <p:sp>
        <p:nvSpPr>
          <p:cNvPr id="3" name="Content Placeholder 2">
            <a:extLst>
              <a:ext uri="{FF2B5EF4-FFF2-40B4-BE49-F238E27FC236}">
                <a16:creationId xmlns:a16="http://schemas.microsoft.com/office/drawing/2014/main" id="{52290462-7AFC-7B0D-1147-958B6288D64F}"/>
              </a:ext>
            </a:extLst>
          </p:cNvPr>
          <p:cNvSpPr>
            <a:spLocks noGrp="1"/>
          </p:cNvSpPr>
          <p:nvPr>
            <p:ph idx="1"/>
          </p:nvPr>
        </p:nvSpPr>
        <p:spPr/>
        <p:txBody>
          <a:bodyPr>
            <a:normAutofit fontScale="85000" lnSpcReduction="20000"/>
          </a:bodyPr>
          <a:lstStyle/>
          <a:p>
            <a:r>
              <a:rPr lang="en-US" dirty="0" err="1"/>
              <a:t>IMRaD</a:t>
            </a:r>
            <a:r>
              <a:rPr lang="en-US" dirty="0"/>
              <a:t> Outline (Short – 10 minutes)</a:t>
            </a:r>
          </a:p>
          <a:p>
            <a:r>
              <a:rPr lang="en-US" dirty="0"/>
              <a:t>I – Introduction:</a:t>
            </a:r>
          </a:p>
          <a:p>
            <a:pPr lvl="1"/>
            <a:r>
              <a:rPr lang="en-US" dirty="0"/>
              <a:t>Fake images generated by AI have increased on social media.</a:t>
            </a:r>
          </a:p>
          <a:p>
            <a:pPr lvl="1"/>
            <a:r>
              <a:rPr lang="en-US" dirty="0"/>
              <a:t>Detecting manipulated or AI-generated images is important for security and trust.</a:t>
            </a:r>
          </a:p>
          <a:p>
            <a:pPr lvl="1"/>
            <a:r>
              <a:rPr lang="en-US" dirty="0"/>
              <a:t>Goal: Develop a model to detect GAN-generated fake images.</a:t>
            </a:r>
          </a:p>
          <a:p>
            <a:r>
              <a:rPr lang="en-US" dirty="0"/>
              <a:t>M – Methods:</a:t>
            </a:r>
          </a:p>
          <a:p>
            <a:pPr lvl="1"/>
            <a:r>
              <a:rPr lang="en-US" dirty="0"/>
              <a:t>Dataset: Real vs. fake images from </a:t>
            </a:r>
            <a:r>
              <a:rPr lang="en-US" dirty="0" err="1"/>
              <a:t>CelebA</a:t>
            </a:r>
            <a:r>
              <a:rPr lang="en-US" dirty="0"/>
              <a:t> and StyleGAN.</a:t>
            </a:r>
          </a:p>
          <a:p>
            <a:pPr lvl="1"/>
            <a:r>
              <a:rPr lang="en-US" dirty="0"/>
              <a:t>Preprocessing: Resizing images to 128×128, normalization.</a:t>
            </a:r>
          </a:p>
          <a:p>
            <a:pPr lvl="1"/>
            <a:r>
              <a:rPr lang="en-US" dirty="0"/>
              <a:t>Feature Extraction: CNN-based feature extraction.</a:t>
            </a:r>
          </a:p>
          <a:p>
            <a:pPr lvl="1"/>
            <a:r>
              <a:rPr lang="en-US" dirty="0"/>
              <a:t>Classifier: Binary classifier using Convolutional Neural Network (CNN).</a:t>
            </a:r>
          </a:p>
          <a:p>
            <a:pPr lvl="1"/>
            <a:r>
              <a:rPr lang="en-US" dirty="0"/>
              <a:t>Evaluation Metrics: Accuracy, Precision, Recall.</a:t>
            </a:r>
          </a:p>
          <a:p>
            <a:r>
              <a:rPr lang="en-US" dirty="0"/>
              <a:t>R – Results: </a:t>
            </a:r>
          </a:p>
          <a:p>
            <a:pPr lvl="1"/>
            <a:r>
              <a:rPr lang="en-US" dirty="0"/>
              <a:t>Model achieved 91% accuracy in detecting GAN-generated fake images.</a:t>
            </a:r>
          </a:p>
          <a:p>
            <a:pPr lvl="1"/>
            <a:r>
              <a:rPr lang="en-US" dirty="0"/>
              <a:t>Higher recall (94%) for fake image detection.</a:t>
            </a:r>
          </a:p>
          <a:p>
            <a:pPr lvl="1"/>
            <a:r>
              <a:rPr lang="en-US" dirty="0"/>
              <a:t>Confusion matrix shows small number of false negatives.</a:t>
            </a:r>
          </a:p>
          <a:p>
            <a:r>
              <a:rPr lang="en-US" dirty="0"/>
              <a:t>D – Discussion: </a:t>
            </a:r>
          </a:p>
          <a:p>
            <a:pPr lvl="1"/>
            <a:r>
              <a:rPr lang="en-US" dirty="0"/>
              <a:t>The model detects GAN fakes effectively.</a:t>
            </a:r>
          </a:p>
          <a:p>
            <a:pPr lvl="1"/>
            <a:r>
              <a:rPr lang="en-US" dirty="0"/>
              <a:t>Performance can improve using Ensemble Learning or Vision Transformers.</a:t>
            </a:r>
          </a:p>
          <a:p>
            <a:pPr lvl="1"/>
            <a:r>
              <a:rPr lang="en-US" dirty="0"/>
              <a:t>Future work: Test on more advanced GANs like StyleGAN3 and </a:t>
            </a:r>
            <a:r>
              <a:rPr lang="en-US" dirty="0" err="1"/>
              <a:t>DeepFake</a:t>
            </a:r>
            <a:r>
              <a:rPr lang="en-US" dirty="0"/>
              <a:t> models.</a:t>
            </a:r>
          </a:p>
        </p:txBody>
      </p:sp>
      <p:sp>
        <p:nvSpPr>
          <p:cNvPr id="4" name="Slide Number Placeholder 3">
            <a:extLst>
              <a:ext uri="{FF2B5EF4-FFF2-40B4-BE49-F238E27FC236}">
                <a16:creationId xmlns:a16="http://schemas.microsoft.com/office/drawing/2014/main" id="{DC55CEE8-EF1F-5526-A485-C9A6F074CC57}"/>
              </a:ext>
            </a:extLst>
          </p:cNvPr>
          <p:cNvSpPr>
            <a:spLocks noGrp="1"/>
          </p:cNvSpPr>
          <p:nvPr>
            <p:ph type="sldNum" sz="quarter" idx="12"/>
          </p:nvPr>
        </p:nvSpPr>
        <p:spPr/>
        <p:txBody>
          <a:bodyPr/>
          <a:lstStyle/>
          <a:p>
            <a:fld id="{ECAB64A0-D49F-4356-A295-EC5B0CCCE6D4}" type="slidenum">
              <a:rPr lang="en-US" smtClean="0"/>
              <a:t>30</a:t>
            </a:fld>
            <a:endParaRPr lang="en-US"/>
          </a:p>
        </p:txBody>
      </p:sp>
    </p:spTree>
    <p:extLst>
      <p:ext uri="{BB962C8B-B14F-4D97-AF65-F5344CB8AC3E}">
        <p14:creationId xmlns:p14="http://schemas.microsoft.com/office/powerpoint/2010/main" val="9730633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8E6F8-B386-ED32-2756-446D2505AC06}"/>
              </a:ext>
            </a:extLst>
          </p:cNvPr>
          <p:cNvSpPr>
            <a:spLocks noGrp="1"/>
          </p:cNvSpPr>
          <p:nvPr>
            <p:ph type="title"/>
          </p:nvPr>
        </p:nvSpPr>
        <p:spPr/>
        <p:txBody>
          <a:bodyPr>
            <a:normAutofit/>
          </a:bodyPr>
          <a:lstStyle/>
          <a:p>
            <a:r>
              <a:rPr lang="en-US" dirty="0"/>
              <a:t>Academic Integrity &amp; Avoiding Plagiarism</a:t>
            </a:r>
            <a:br>
              <a:rPr lang="en-US" dirty="0"/>
            </a:br>
            <a:endParaRPr lang="en-US" dirty="0"/>
          </a:p>
        </p:txBody>
      </p:sp>
      <p:sp>
        <p:nvSpPr>
          <p:cNvPr id="3" name="Content Placeholder 2">
            <a:extLst>
              <a:ext uri="{FF2B5EF4-FFF2-40B4-BE49-F238E27FC236}">
                <a16:creationId xmlns:a16="http://schemas.microsoft.com/office/drawing/2014/main" id="{49479CB1-2A08-C5B7-76B6-AC2EEB151CF3}"/>
              </a:ext>
            </a:extLst>
          </p:cNvPr>
          <p:cNvSpPr>
            <a:spLocks noGrp="1"/>
          </p:cNvSpPr>
          <p:nvPr>
            <p:ph idx="1"/>
          </p:nvPr>
        </p:nvSpPr>
        <p:spPr>
          <a:xfrm>
            <a:off x="3869268" y="790238"/>
            <a:ext cx="7315200" cy="5120640"/>
          </a:xfrm>
        </p:spPr>
        <p:txBody>
          <a:bodyPr>
            <a:normAutofit fontScale="77500" lnSpcReduction="20000"/>
          </a:bodyPr>
          <a:lstStyle/>
          <a:p>
            <a:pPr marL="0" indent="0" algn="just">
              <a:buNone/>
            </a:pPr>
            <a:r>
              <a:rPr lang="en-US" dirty="0"/>
              <a:t>Plagiarism is using someone else's work without proper credit.</a:t>
            </a:r>
          </a:p>
          <a:p>
            <a:pPr marL="0" indent="0" algn="just">
              <a:buNone/>
            </a:pPr>
            <a:endParaRPr lang="en-US" dirty="0"/>
          </a:p>
          <a:p>
            <a:pPr marL="0" indent="0" algn="just">
              <a:buNone/>
            </a:pPr>
            <a:endParaRPr lang="en-US" dirty="0"/>
          </a:p>
          <a:p>
            <a:pPr marL="0" indent="0" algn="just">
              <a:buNone/>
            </a:pPr>
            <a:endParaRPr lang="en-US" dirty="0"/>
          </a:p>
          <a:p>
            <a:pPr marL="0" indent="0" algn="just">
              <a:buNone/>
            </a:pPr>
            <a:endParaRPr lang="en-US" dirty="0"/>
          </a:p>
          <a:p>
            <a:pPr marL="0" indent="0" algn="just">
              <a:buNone/>
            </a:pPr>
            <a:endParaRPr lang="en-US" dirty="0"/>
          </a:p>
          <a:p>
            <a:pPr marL="0" indent="0" algn="just">
              <a:buNone/>
            </a:pPr>
            <a:endParaRPr lang="en-US" dirty="0"/>
          </a:p>
          <a:p>
            <a:pPr marL="0" indent="0" algn="just">
              <a:buNone/>
            </a:pPr>
            <a:endParaRPr lang="en-US" b="1" dirty="0"/>
          </a:p>
          <a:p>
            <a:pPr marL="0" indent="0" algn="just">
              <a:buNone/>
            </a:pPr>
            <a:endParaRPr lang="en-US" b="1" dirty="0"/>
          </a:p>
          <a:p>
            <a:pPr marL="0" indent="0" algn="just">
              <a:buNone/>
            </a:pPr>
            <a:endParaRPr lang="en-US" b="1" dirty="0"/>
          </a:p>
          <a:p>
            <a:pPr marL="0" indent="0" algn="just">
              <a:buNone/>
            </a:pPr>
            <a:endParaRPr lang="en-US" b="1" dirty="0"/>
          </a:p>
          <a:p>
            <a:pPr marL="0" indent="0" algn="just">
              <a:buNone/>
            </a:pPr>
            <a:endParaRPr lang="en-US" b="1" dirty="0"/>
          </a:p>
          <a:p>
            <a:pPr marL="0" indent="0" algn="just">
              <a:buNone/>
            </a:pPr>
            <a:r>
              <a:rPr lang="en-US" b="1" dirty="0"/>
              <a:t>Acceptable vs Unacceptable</a:t>
            </a:r>
          </a:p>
          <a:p>
            <a:pPr algn="just"/>
            <a:r>
              <a:rPr lang="en-US" dirty="0"/>
              <a:t>❌ "CNNs are widely used in image analysis."</a:t>
            </a:r>
          </a:p>
          <a:p>
            <a:pPr algn="just"/>
            <a:r>
              <a:rPr lang="en-US" dirty="0"/>
              <a:t>✅ According to LeCun et al. (1998), convolutional networks are effective for image tasks</a:t>
            </a:r>
          </a:p>
          <a:p>
            <a:endParaRPr lang="en-US" dirty="0"/>
          </a:p>
        </p:txBody>
      </p:sp>
      <p:graphicFrame>
        <p:nvGraphicFramePr>
          <p:cNvPr id="4" name="Table 3">
            <a:extLst>
              <a:ext uri="{FF2B5EF4-FFF2-40B4-BE49-F238E27FC236}">
                <a16:creationId xmlns:a16="http://schemas.microsoft.com/office/drawing/2014/main" id="{E65DE3A0-8A64-01F6-A2EC-313ED34C802F}"/>
              </a:ext>
            </a:extLst>
          </p:cNvPr>
          <p:cNvGraphicFramePr>
            <a:graphicFrameLocks noGrp="1"/>
          </p:cNvGraphicFramePr>
          <p:nvPr>
            <p:extLst>
              <p:ext uri="{D42A27DB-BD31-4B8C-83A1-F6EECF244321}">
                <p14:modId xmlns:p14="http://schemas.microsoft.com/office/powerpoint/2010/main" val="1931193733"/>
              </p:ext>
            </p:extLst>
          </p:nvPr>
        </p:nvGraphicFramePr>
        <p:xfrm>
          <a:off x="3869268" y="1123837"/>
          <a:ext cx="7315200" cy="3144495"/>
        </p:xfrm>
        <a:graphic>
          <a:graphicData uri="http://schemas.openxmlformats.org/drawingml/2006/table">
            <a:tbl>
              <a:tblPr>
                <a:tableStyleId>{3C2FFA5D-87B4-456A-9821-1D502468CF0F}</a:tableStyleId>
              </a:tblPr>
              <a:tblGrid>
                <a:gridCol w="3657600">
                  <a:extLst>
                    <a:ext uri="{9D8B030D-6E8A-4147-A177-3AD203B41FA5}">
                      <a16:colId xmlns:a16="http://schemas.microsoft.com/office/drawing/2014/main" val="3700208994"/>
                    </a:ext>
                  </a:extLst>
                </a:gridCol>
                <a:gridCol w="3657600">
                  <a:extLst>
                    <a:ext uri="{9D8B030D-6E8A-4147-A177-3AD203B41FA5}">
                      <a16:colId xmlns:a16="http://schemas.microsoft.com/office/drawing/2014/main" val="928664658"/>
                    </a:ext>
                  </a:extLst>
                </a:gridCol>
              </a:tblGrid>
              <a:tr h="314449">
                <a:tc>
                  <a:txBody>
                    <a:bodyPr/>
                    <a:lstStyle/>
                    <a:p>
                      <a:pPr>
                        <a:buNone/>
                      </a:pPr>
                      <a:r>
                        <a:rPr lang="en-US" sz="1400"/>
                        <a:t>Type</a:t>
                      </a:r>
                    </a:p>
                  </a:txBody>
                  <a:tcPr anchor="ctr"/>
                </a:tc>
                <a:tc>
                  <a:txBody>
                    <a:bodyPr/>
                    <a:lstStyle/>
                    <a:p>
                      <a:pPr>
                        <a:buNone/>
                      </a:pPr>
                      <a:r>
                        <a:rPr lang="en-US" sz="1400"/>
                        <a:t>Example</a:t>
                      </a:r>
                    </a:p>
                  </a:txBody>
                  <a:tcPr anchor="ctr"/>
                </a:tc>
                <a:extLst>
                  <a:ext uri="{0D108BD9-81ED-4DB2-BD59-A6C34878D82A}">
                    <a16:rowId xmlns:a16="http://schemas.microsoft.com/office/drawing/2014/main" val="3304436634"/>
                  </a:ext>
                </a:extLst>
              </a:tr>
              <a:tr h="550287">
                <a:tc>
                  <a:txBody>
                    <a:bodyPr/>
                    <a:lstStyle/>
                    <a:p>
                      <a:pPr>
                        <a:buNone/>
                      </a:pPr>
                      <a:r>
                        <a:rPr lang="en-US" sz="1400"/>
                        <a:t>Copy-paste plagiarism</a:t>
                      </a:r>
                    </a:p>
                  </a:txBody>
                  <a:tcPr anchor="ctr"/>
                </a:tc>
                <a:tc>
                  <a:txBody>
                    <a:bodyPr/>
                    <a:lstStyle/>
                    <a:p>
                      <a:pPr>
                        <a:buNone/>
                      </a:pPr>
                      <a:r>
                        <a:rPr lang="en-US" sz="1400"/>
                        <a:t>Copying text from a website or paper</a:t>
                      </a:r>
                    </a:p>
                  </a:txBody>
                  <a:tcPr anchor="ctr"/>
                </a:tc>
                <a:extLst>
                  <a:ext uri="{0D108BD9-81ED-4DB2-BD59-A6C34878D82A}">
                    <a16:rowId xmlns:a16="http://schemas.microsoft.com/office/drawing/2014/main" val="2360394100"/>
                  </a:ext>
                </a:extLst>
              </a:tr>
              <a:tr h="550287">
                <a:tc>
                  <a:txBody>
                    <a:bodyPr/>
                    <a:lstStyle/>
                    <a:p>
                      <a:pPr>
                        <a:buNone/>
                      </a:pPr>
                      <a:r>
                        <a:rPr lang="en-US" sz="1400" dirty="0"/>
                        <a:t>Paraphrasing plagiarism</a:t>
                      </a:r>
                    </a:p>
                  </a:txBody>
                  <a:tcPr anchor="ctr"/>
                </a:tc>
                <a:tc>
                  <a:txBody>
                    <a:bodyPr/>
                    <a:lstStyle/>
                    <a:p>
                      <a:pPr>
                        <a:buNone/>
                      </a:pPr>
                      <a:r>
                        <a:rPr lang="en-US" sz="1400" dirty="0"/>
                        <a:t>Changing some words without citation</a:t>
                      </a:r>
                    </a:p>
                  </a:txBody>
                  <a:tcPr anchor="ctr"/>
                </a:tc>
                <a:extLst>
                  <a:ext uri="{0D108BD9-81ED-4DB2-BD59-A6C34878D82A}">
                    <a16:rowId xmlns:a16="http://schemas.microsoft.com/office/drawing/2014/main" val="4256978246"/>
                  </a:ext>
                </a:extLst>
              </a:tr>
              <a:tr h="314449">
                <a:tc>
                  <a:txBody>
                    <a:bodyPr/>
                    <a:lstStyle/>
                    <a:p>
                      <a:pPr>
                        <a:buNone/>
                      </a:pPr>
                      <a:r>
                        <a:rPr lang="en-US" sz="1400"/>
                        <a:t>Idea plagiarism</a:t>
                      </a:r>
                    </a:p>
                  </a:txBody>
                  <a:tcPr anchor="ctr"/>
                </a:tc>
                <a:tc>
                  <a:txBody>
                    <a:bodyPr/>
                    <a:lstStyle/>
                    <a:p>
                      <a:pPr>
                        <a:buNone/>
                      </a:pPr>
                      <a:r>
                        <a:rPr lang="en-US" sz="1400"/>
                        <a:t>Using someone's idea without credit</a:t>
                      </a:r>
                    </a:p>
                  </a:txBody>
                  <a:tcPr anchor="ctr"/>
                </a:tc>
                <a:extLst>
                  <a:ext uri="{0D108BD9-81ED-4DB2-BD59-A6C34878D82A}">
                    <a16:rowId xmlns:a16="http://schemas.microsoft.com/office/drawing/2014/main" val="2598008652"/>
                  </a:ext>
                </a:extLst>
              </a:tr>
              <a:tr h="550287">
                <a:tc>
                  <a:txBody>
                    <a:bodyPr/>
                    <a:lstStyle/>
                    <a:p>
                      <a:pPr>
                        <a:buNone/>
                      </a:pPr>
                      <a:r>
                        <a:rPr lang="en-US" sz="1400" dirty="0"/>
                        <a:t>Code plagiarism</a:t>
                      </a:r>
                    </a:p>
                  </a:txBody>
                  <a:tcPr anchor="ctr"/>
                </a:tc>
                <a:tc>
                  <a:txBody>
                    <a:bodyPr/>
                    <a:lstStyle/>
                    <a:p>
                      <a:pPr>
                        <a:buNone/>
                      </a:pPr>
                      <a:r>
                        <a:rPr lang="en-US" sz="1400"/>
                        <a:t>Copying code from GitHub/Kaggle without mention</a:t>
                      </a:r>
                    </a:p>
                  </a:txBody>
                  <a:tcPr anchor="ctr"/>
                </a:tc>
                <a:extLst>
                  <a:ext uri="{0D108BD9-81ED-4DB2-BD59-A6C34878D82A}">
                    <a16:rowId xmlns:a16="http://schemas.microsoft.com/office/drawing/2014/main" val="4275230635"/>
                  </a:ext>
                </a:extLst>
              </a:tr>
              <a:tr h="550287">
                <a:tc>
                  <a:txBody>
                    <a:bodyPr/>
                    <a:lstStyle/>
                    <a:p>
                      <a:pPr>
                        <a:buNone/>
                      </a:pPr>
                      <a:r>
                        <a:rPr lang="en-US" sz="1400"/>
                        <a:t>AI/ChatGPT plagiarism</a:t>
                      </a:r>
                    </a:p>
                  </a:txBody>
                  <a:tcPr anchor="ctr"/>
                </a:tc>
                <a:tc>
                  <a:txBody>
                    <a:bodyPr/>
                    <a:lstStyle/>
                    <a:p>
                      <a:pPr>
                        <a:buNone/>
                      </a:pPr>
                      <a:r>
                        <a:rPr lang="en-US" sz="1400"/>
                        <a:t>Submitting AI-generated text without rewriting</a:t>
                      </a:r>
                    </a:p>
                  </a:txBody>
                  <a:tcPr anchor="ctr"/>
                </a:tc>
                <a:extLst>
                  <a:ext uri="{0D108BD9-81ED-4DB2-BD59-A6C34878D82A}">
                    <a16:rowId xmlns:a16="http://schemas.microsoft.com/office/drawing/2014/main" val="2413529984"/>
                  </a:ext>
                </a:extLst>
              </a:tr>
              <a:tr h="314449">
                <a:tc>
                  <a:txBody>
                    <a:bodyPr/>
                    <a:lstStyle/>
                    <a:p>
                      <a:pPr>
                        <a:buNone/>
                      </a:pPr>
                      <a:r>
                        <a:rPr lang="en-US" sz="1400"/>
                        <a:t>Self-plagiarism</a:t>
                      </a:r>
                    </a:p>
                  </a:txBody>
                  <a:tcPr anchor="ctr"/>
                </a:tc>
                <a:tc>
                  <a:txBody>
                    <a:bodyPr/>
                    <a:lstStyle/>
                    <a:p>
                      <a:pPr>
                        <a:buNone/>
                      </a:pPr>
                      <a:r>
                        <a:rPr lang="en-US" sz="1400" dirty="0"/>
                        <a:t>Reusing your own previous report</a:t>
                      </a:r>
                    </a:p>
                  </a:txBody>
                  <a:tcPr anchor="ctr"/>
                </a:tc>
                <a:extLst>
                  <a:ext uri="{0D108BD9-81ED-4DB2-BD59-A6C34878D82A}">
                    <a16:rowId xmlns:a16="http://schemas.microsoft.com/office/drawing/2014/main" val="1595528150"/>
                  </a:ext>
                </a:extLst>
              </a:tr>
            </a:tbl>
          </a:graphicData>
        </a:graphic>
      </p:graphicFrame>
      <p:sp>
        <p:nvSpPr>
          <p:cNvPr id="5" name="Slide Number Placeholder 4">
            <a:extLst>
              <a:ext uri="{FF2B5EF4-FFF2-40B4-BE49-F238E27FC236}">
                <a16:creationId xmlns:a16="http://schemas.microsoft.com/office/drawing/2014/main" id="{FE545F5E-C1C4-FF99-2105-7D6A92A0F3DD}"/>
              </a:ext>
            </a:extLst>
          </p:cNvPr>
          <p:cNvSpPr>
            <a:spLocks noGrp="1"/>
          </p:cNvSpPr>
          <p:nvPr>
            <p:ph type="sldNum" sz="quarter" idx="12"/>
          </p:nvPr>
        </p:nvSpPr>
        <p:spPr/>
        <p:txBody>
          <a:bodyPr/>
          <a:lstStyle/>
          <a:p>
            <a:fld id="{ECAB64A0-D49F-4356-A295-EC5B0CCCE6D4}" type="slidenum">
              <a:rPr lang="en-US" smtClean="0"/>
              <a:t>31</a:t>
            </a:fld>
            <a:endParaRPr lang="en-US"/>
          </a:p>
        </p:txBody>
      </p:sp>
    </p:spTree>
    <p:extLst>
      <p:ext uri="{BB962C8B-B14F-4D97-AF65-F5344CB8AC3E}">
        <p14:creationId xmlns:p14="http://schemas.microsoft.com/office/powerpoint/2010/main" val="39853368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80924-C9A0-851A-FF13-20056C3A00A2}"/>
              </a:ext>
            </a:extLst>
          </p:cNvPr>
          <p:cNvSpPr>
            <a:spLocks noGrp="1"/>
          </p:cNvSpPr>
          <p:nvPr>
            <p:ph type="title"/>
          </p:nvPr>
        </p:nvSpPr>
        <p:spPr>
          <a:xfrm>
            <a:off x="252919" y="1138585"/>
            <a:ext cx="3139210" cy="4642782"/>
          </a:xfrm>
        </p:spPr>
        <p:txBody>
          <a:bodyPr/>
          <a:lstStyle/>
          <a:p>
            <a:r>
              <a:rPr lang="en-US" dirty="0"/>
              <a:t>Professional Communication</a:t>
            </a:r>
          </a:p>
        </p:txBody>
      </p:sp>
      <p:sp>
        <p:nvSpPr>
          <p:cNvPr id="3" name="Content Placeholder 2">
            <a:extLst>
              <a:ext uri="{FF2B5EF4-FFF2-40B4-BE49-F238E27FC236}">
                <a16:creationId xmlns:a16="http://schemas.microsoft.com/office/drawing/2014/main" id="{5B41A70F-CF64-B282-AB23-37DB62B62CDB}"/>
              </a:ext>
            </a:extLst>
          </p:cNvPr>
          <p:cNvSpPr>
            <a:spLocks noGrp="1"/>
          </p:cNvSpPr>
          <p:nvPr>
            <p:ph idx="1"/>
          </p:nvPr>
        </p:nvSpPr>
        <p:spPr/>
        <p:txBody>
          <a:bodyPr/>
          <a:lstStyle/>
          <a:p>
            <a:pPr marL="0" indent="0" algn="just">
              <a:buNone/>
            </a:pPr>
            <a:r>
              <a:rPr lang="en-US" dirty="0"/>
              <a:t> Importance of Communication in Data Science and AI:</a:t>
            </a:r>
          </a:p>
          <a:p>
            <a:pPr algn="just"/>
            <a:r>
              <a:rPr lang="en-US" dirty="0"/>
              <a:t>Explains complex models and results to non-technical stakeholders.</a:t>
            </a:r>
          </a:p>
          <a:p>
            <a:pPr algn="just"/>
            <a:r>
              <a:rPr lang="en-US" dirty="0"/>
              <a:t>Collaborates with multidisciplinary teams.</a:t>
            </a:r>
          </a:p>
          <a:p>
            <a:pPr algn="just"/>
            <a:r>
              <a:rPr lang="en-US" dirty="0"/>
              <a:t>Writes reports, documentation, and emails professionally.</a:t>
            </a:r>
          </a:p>
          <a:p>
            <a:pPr algn="just"/>
            <a:r>
              <a:rPr lang="en-US" dirty="0"/>
              <a:t>Presents findings at conferences or meetings.</a:t>
            </a:r>
          </a:p>
          <a:p>
            <a:endParaRPr lang="en-US" dirty="0"/>
          </a:p>
        </p:txBody>
      </p:sp>
      <p:sp>
        <p:nvSpPr>
          <p:cNvPr id="4" name="Slide Number Placeholder 3">
            <a:extLst>
              <a:ext uri="{FF2B5EF4-FFF2-40B4-BE49-F238E27FC236}">
                <a16:creationId xmlns:a16="http://schemas.microsoft.com/office/drawing/2014/main" id="{D92AE479-142D-6E77-3B06-EA98221BE850}"/>
              </a:ext>
            </a:extLst>
          </p:cNvPr>
          <p:cNvSpPr>
            <a:spLocks noGrp="1"/>
          </p:cNvSpPr>
          <p:nvPr>
            <p:ph type="sldNum" sz="quarter" idx="12"/>
          </p:nvPr>
        </p:nvSpPr>
        <p:spPr/>
        <p:txBody>
          <a:bodyPr/>
          <a:lstStyle/>
          <a:p>
            <a:fld id="{ECAB64A0-D49F-4356-A295-EC5B0CCCE6D4}" type="slidenum">
              <a:rPr lang="en-US" smtClean="0"/>
              <a:t>32</a:t>
            </a:fld>
            <a:endParaRPr lang="en-US"/>
          </a:p>
        </p:txBody>
      </p:sp>
    </p:spTree>
    <p:extLst>
      <p:ext uri="{BB962C8B-B14F-4D97-AF65-F5344CB8AC3E}">
        <p14:creationId xmlns:p14="http://schemas.microsoft.com/office/powerpoint/2010/main" val="39313072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7A16B-8541-3FCD-C02E-B7C107CFC86A}"/>
              </a:ext>
            </a:extLst>
          </p:cNvPr>
          <p:cNvSpPr>
            <a:spLocks noGrp="1"/>
          </p:cNvSpPr>
          <p:nvPr>
            <p:ph type="title"/>
          </p:nvPr>
        </p:nvSpPr>
        <p:spPr>
          <a:xfrm>
            <a:off x="252918" y="1123836"/>
            <a:ext cx="3301443" cy="4860912"/>
          </a:xfrm>
        </p:spPr>
        <p:txBody>
          <a:bodyPr>
            <a:normAutofit/>
          </a:bodyPr>
          <a:lstStyle/>
          <a:p>
            <a:r>
              <a:rPr lang="en-US" dirty="0"/>
              <a:t>Types of Professional Communication</a:t>
            </a:r>
            <a:br>
              <a:rPr lang="en-US" dirty="0"/>
            </a:br>
            <a:endParaRPr lang="en-US" dirty="0"/>
          </a:p>
        </p:txBody>
      </p:sp>
      <p:sp>
        <p:nvSpPr>
          <p:cNvPr id="3" name="Content Placeholder 2">
            <a:extLst>
              <a:ext uri="{FF2B5EF4-FFF2-40B4-BE49-F238E27FC236}">
                <a16:creationId xmlns:a16="http://schemas.microsoft.com/office/drawing/2014/main" id="{E1111624-6663-F1E0-FDB6-07F9DB3EAC22}"/>
              </a:ext>
            </a:extLst>
          </p:cNvPr>
          <p:cNvSpPr>
            <a:spLocks noGrp="1"/>
          </p:cNvSpPr>
          <p:nvPr>
            <p:ph idx="1"/>
          </p:nvPr>
        </p:nvSpPr>
        <p:spPr/>
        <p:txBody>
          <a:bodyPr/>
          <a:lstStyle/>
          <a:p>
            <a:r>
              <a:rPr lang="en-US" dirty="0"/>
              <a:t>Writing Reports and Papers.</a:t>
            </a:r>
          </a:p>
          <a:p>
            <a:r>
              <a:rPr lang="en-US" dirty="0"/>
              <a:t>Giving Presentations.</a:t>
            </a:r>
          </a:p>
          <a:p>
            <a:r>
              <a:rPr lang="en-US" dirty="0"/>
              <a:t>Participating in Meetings and Discussions.</a:t>
            </a:r>
          </a:p>
          <a:p>
            <a:r>
              <a:rPr lang="en-US" dirty="0"/>
              <a:t>Writing Emails and Proposals.</a:t>
            </a:r>
          </a:p>
        </p:txBody>
      </p:sp>
      <p:sp>
        <p:nvSpPr>
          <p:cNvPr id="5" name="Callout: Up Arrow 4">
            <a:extLst>
              <a:ext uri="{FF2B5EF4-FFF2-40B4-BE49-F238E27FC236}">
                <a16:creationId xmlns:a16="http://schemas.microsoft.com/office/drawing/2014/main" id="{999541EE-698D-AA52-29C4-CFC0BB6D5F04}"/>
              </a:ext>
            </a:extLst>
          </p:cNvPr>
          <p:cNvSpPr/>
          <p:nvPr/>
        </p:nvSpPr>
        <p:spPr>
          <a:xfrm>
            <a:off x="3869268" y="4601496"/>
            <a:ext cx="5604387" cy="1740310"/>
          </a:xfrm>
          <a:prstGeom prst="upArrow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t>Best Practices:</a:t>
            </a:r>
          </a:p>
          <a:p>
            <a:pPr marL="285750" indent="-285750">
              <a:buFont typeface="Wingdings" panose="05000000000000000000" pitchFamily="2" charset="2"/>
              <a:buChar char="§"/>
            </a:pPr>
            <a:r>
              <a:rPr lang="en-US"/>
              <a:t>Know your audience.</a:t>
            </a:r>
          </a:p>
          <a:p>
            <a:pPr marL="285750" indent="-285750">
              <a:buFont typeface="Wingdings" panose="05000000000000000000" pitchFamily="2" charset="2"/>
              <a:buChar char="§"/>
            </a:pPr>
            <a:r>
              <a:rPr lang="en-US"/>
              <a:t>Be clear and precise.</a:t>
            </a:r>
          </a:p>
          <a:p>
            <a:pPr marL="285750" indent="-285750">
              <a:buFont typeface="Wingdings" panose="05000000000000000000" pitchFamily="2" charset="2"/>
              <a:buChar char="§"/>
            </a:pPr>
            <a:r>
              <a:rPr lang="en-US"/>
              <a:t>Use visuals effectively.</a:t>
            </a:r>
          </a:p>
          <a:p>
            <a:pPr marL="285750" indent="-285750">
              <a:buFont typeface="Wingdings" panose="05000000000000000000" pitchFamily="2" charset="2"/>
              <a:buChar char="§"/>
            </a:pPr>
            <a:r>
              <a:rPr lang="en-US"/>
              <a:t>Practice active listening.</a:t>
            </a:r>
          </a:p>
          <a:p>
            <a:pPr marL="285750" indent="-285750">
              <a:buFont typeface="Wingdings" panose="05000000000000000000" pitchFamily="2" charset="2"/>
              <a:buChar char="§"/>
            </a:pPr>
            <a:r>
              <a:rPr lang="en-US"/>
              <a:t>Be respectful and constructive.</a:t>
            </a:r>
            <a:endParaRPr lang="en-US" dirty="0"/>
          </a:p>
        </p:txBody>
      </p:sp>
      <p:sp>
        <p:nvSpPr>
          <p:cNvPr id="4" name="Slide Number Placeholder 3">
            <a:extLst>
              <a:ext uri="{FF2B5EF4-FFF2-40B4-BE49-F238E27FC236}">
                <a16:creationId xmlns:a16="http://schemas.microsoft.com/office/drawing/2014/main" id="{F7EC451D-F2C4-49AA-C1F0-B95F021FB941}"/>
              </a:ext>
            </a:extLst>
          </p:cNvPr>
          <p:cNvSpPr>
            <a:spLocks noGrp="1"/>
          </p:cNvSpPr>
          <p:nvPr>
            <p:ph type="sldNum" sz="quarter" idx="12"/>
          </p:nvPr>
        </p:nvSpPr>
        <p:spPr/>
        <p:txBody>
          <a:bodyPr/>
          <a:lstStyle/>
          <a:p>
            <a:fld id="{ECAB64A0-D49F-4356-A295-EC5B0CCCE6D4}" type="slidenum">
              <a:rPr lang="en-US" smtClean="0"/>
              <a:t>33</a:t>
            </a:fld>
            <a:endParaRPr lang="en-US"/>
          </a:p>
        </p:txBody>
      </p:sp>
    </p:spTree>
    <p:extLst>
      <p:ext uri="{BB962C8B-B14F-4D97-AF65-F5344CB8AC3E}">
        <p14:creationId xmlns:p14="http://schemas.microsoft.com/office/powerpoint/2010/main" val="39152216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5C3D3-F30A-0ACE-77AE-0B975E8FBFE0}"/>
              </a:ext>
            </a:extLst>
          </p:cNvPr>
          <p:cNvSpPr>
            <a:spLocks noGrp="1"/>
          </p:cNvSpPr>
          <p:nvPr>
            <p:ph type="title"/>
          </p:nvPr>
        </p:nvSpPr>
        <p:spPr/>
        <p:txBody>
          <a:bodyPr>
            <a:normAutofit/>
          </a:bodyPr>
          <a:lstStyle/>
          <a:p>
            <a:r>
              <a:rPr lang="en-US" dirty="0"/>
              <a:t>Professional Email Writing in Academia &amp; AI Industry</a:t>
            </a:r>
          </a:p>
        </p:txBody>
      </p:sp>
      <p:sp>
        <p:nvSpPr>
          <p:cNvPr id="3" name="Content Placeholder 2">
            <a:extLst>
              <a:ext uri="{FF2B5EF4-FFF2-40B4-BE49-F238E27FC236}">
                <a16:creationId xmlns:a16="http://schemas.microsoft.com/office/drawing/2014/main" id="{DE723B18-CB80-07BC-126F-61CF7AF5C792}"/>
              </a:ext>
            </a:extLst>
          </p:cNvPr>
          <p:cNvSpPr>
            <a:spLocks noGrp="1"/>
          </p:cNvSpPr>
          <p:nvPr>
            <p:ph idx="1"/>
          </p:nvPr>
        </p:nvSpPr>
        <p:spPr/>
        <p:txBody>
          <a:bodyPr>
            <a:normAutofit/>
          </a:bodyPr>
          <a:lstStyle/>
          <a:p>
            <a:pPr algn="just"/>
            <a:r>
              <a:rPr lang="en-US" b="1" dirty="0"/>
              <a:t>Email is essential for internships, supervisors, conferences.</a:t>
            </a:r>
          </a:p>
          <a:p>
            <a:pPr marL="0" indent="0" algn="just">
              <a:buNone/>
            </a:pPr>
            <a:r>
              <a:rPr lang="en-US" b="1" dirty="0"/>
              <a:t>Email Structure:</a:t>
            </a:r>
          </a:p>
          <a:p>
            <a:pPr algn="just"/>
            <a:r>
              <a:rPr lang="en-US" dirty="0"/>
              <a:t>Subject Line</a:t>
            </a:r>
          </a:p>
          <a:p>
            <a:pPr algn="just"/>
            <a:r>
              <a:rPr lang="en-US" dirty="0"/>
              <a:t>Greeting</a:t>
            </a:r>
          </a:p>
          <a:p>
            <a:pPr algn="just"/>
            <a:r>
              <a:rPr lang="en-US" dirty="0"/>
              <a:t>Purpose</a:t>
            </a:r>
          </a:p>
          <a:p>
            <a:pPr algn="just"/>
            <a:r>
              <a:rPr lang="en-US" dirty="0"/>
              <a:t>Main Message</a:t>
            </a:r>
          </a:p>
          <a:p>
            <a:pPr algn="just"/>
            <a:r>
              <a:rPr lang="en-US" dirty="0"/>
              <a:t>Closing</a:t>
            </a:r>
          </a:p>
          <a:p>
            <a:pPr algn="just"/>
            <a:r>
              <a:rPr lang="en-US" dirty="0"/>
              <a:t>Signature</a:t>
            </a:r>
          </a:p>
          <a:p>
            <a:endParaRPr lang="en-US" dirty="0"/>
          </a:p>
        </p:txBody>
      </p:sp>
      <p:sp>
        <p:nvSpPr>
          <p:cNvPr id="4" name="Slide Number Placeholder 3">
            <a:extLst>
              <a:ext uri="{FF2B5EF4-FFF2-40B4-BE49-F238E27FC236}">
                <a16:creationId xmlns:a16="http://schemas.microsoft.com/office/drawing/2014/main" id="{4107670D-A6B6-B7DD-A547-9D49975792A8}"/>
              </a:ext>
            </a:extLst>
          </p:cNvPr>
          <p:cNvSpPr>
            <a:spLocks noGrp="1"/>
          </p:cNvSpPr>
          <p:nvPr>
            <p:ph type="sldNum" sz="quarter" idx="12"/>
          </p:nvPr>
        </p:nvSpPr>
        <p:spPr/>
        <p:txBody>
          <a:bodyPr/>
          <a:lstStyle/>
          <a:p>
            <a:fld id="{ECAB64A0-D49F-4356-A295-EC5B0CCCE6D4}" type="slidenum">
              <a:rPr lang="en-US" smtClean="0"/>
              <a:t>34</a:t>
            </a:fld>
            <a:endParaRPr lang="en-US"/>
          </a:p>
        </p:txBody>
      </p:sp>
    </p:spTree>
    <p:extLst>
      <p:ext uri="{BB962C8B-B14F-4D97-AF65-F5344CB8AC3E}">
        <p14:creationId xmlns:p14="http://schemas.microsoft.com/office/powerpoint/2010/main" val="15652235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Professional Communication (Email)</a:t>
            </a:r>
          </a:p>
        </p:txBody>
      </p:sp>
      <p:sp>
        <p:nvSpPr>
          <p:cNvPr id="3" name="Content Placeholder 2"/>
          <p:cNvSpPr>
            <a:spLocks noGrp="1"/>
          </p:cNvSpPr>
          <p:nvPr>
            <p:ph idx="1"/>
          </p:nvPr>
        </p:nvSpPr>
        <p:spPr/>
        <p:txBody>
          <a:bodyPr>
            <a:normAutofit fontScale="92500" lnSpcReduction="20000"/>
          </a:bodyPr>
          <a:lstStyle/>
          <a:p>
            <a:endParaRPr dirty="0"/>
          </a:p>
          <a:p>
            <a:pPr>
              <a:defRPr sz="2000">
                <a:latin typeface="Arial"/>
              </a:defRPr>
            </a:pPr>
            <a:r>
              <a:rPr dirty="0"/>
              <a:t>📧 Structure of an academic email:</a:t>
            </a:r>
          </a:p>
          <a:p>
            <a:pPr>
              <a:defRPr sz="2000">
                <a:latin typeface="Arial"/>
              </a:defRPr>
            </a:pPr>
            <a:r>
              <a:rPr dirty="0"/>
              <a:t>1️⃣ Subject line (clear, short).</a:t>
            </a:r>
          </a:p>
          <a:p>
            <a:pPr>
              <a:defRPr sz="2000">
                <a:latin typeface="Arial"/>
              </a:defRPr>
            </a:pPr>
            <a:r>
              <a:rPr dirty="0"/>
              <a:t>2️⃣ Greeting (formal).</a:t>
            </a:r>
          </a:p>
          <a:p>
            <a:pPr>
              <a:defRPr sz="2000">
                <a:latin typeface="Arial"/>
              </a:defRPr>
            </a:pPr>
            <a:r>
              <a:rPr dirty="0"/>
              <a:t>3️⃣ Body (concise, structured).</a:t>
            </a:r>
          </a:p>
          <a:p>
            <a:pPr>
              <a:defRPr sz="2000">
                <a:latin typeface="Arial"/>
              </a:defRPr>
            </a:pPr>
            <a:r>
              <a:rPr dirty="0"/>
              <a:t>4️⃣ Closing (professional).</a:t>
            </a:r>
          </a:p>
          <a:p>
            <a:pPr>
              <a:defRPr sz="2000" b="1">
                <a:solidFill>
                  <a:srgbClr val="C81E1E"/>
                </a:solidFill>
                <a:latin typeface="Arial"/>
              </a:defRPr>
            </a:pPr>
            <a:r>
              <a:rPr dirty="0"/>
              <a:t>✍️ Exercise: Rewrite this email:</a:t>
            </a:r>
          </a:p>
          <a:p>
            <a:pPr>
              <a:defRPr sz="2000">
                <a:latin typeface="Arial"/>
              </a:defRPr>
            </a:pPr>
            <a:r>
              <a:rPr dirty="0"/>
              <a:t>'Hi prof, I </a:t>
            </a:r>
            <a:r>
              <a:rPr dirty="0" err="1"/>
              <a:t>wanna</a:t>
            </a:r>
            <a:r>
              <a:rPr dirty="0"/>
              <a:t> ask if u can give me some papers on ML. Thx!'</a:t>
            </a:r>
          </a:p>
          <a:p>
            <a:pPr>
              <a:defRPr sz="2000" b="1">
                <a:solidFill>
                  <a:srgbClr val="C81E1E"/>
                </a:solidFill>
                <a:latin typeface="Arial"/>
              </a:defRPr>
            </a:pPr>
            <a:r>
              <a:rPr dirty="0"/>
              <a:t>Answer:</a:t>
            </a:r>
          </a:p>
          <a:p>
            <a:pPr marL="0" indent="0">
              <a:buNone/>
              <a:defRPr sz="2000">
                <a:latin typeface="Arial"/>
              </a:defRPr>
            </a:pPr>
            <a:r>
              <a:rPr dirty="0"/>
              <a:t>Subject: Request for Machine Learning References</a:t>
            </a:r>
          </a:p>
          <a:p>
            <a:pPr marL="0" indent="0">
              <a:buNone/>
              <a:defRPr sz="2000">
                <a:latin typeface="Arial"/>
              </a:defRPr>
            </a:pPr>
            <a:r>
              <a:rPr dirty="0"/>
              <a:t>Dear Professor,</a:t>
            </a:r>
          </a:p>
          <a:p>
            <a:pPr marL="0" indent="0">
              <a:buNone/>
              <a:defRPr sz="2000">
                <a:latin typeface="Arial"/>
              </a:defRPr>
            </a:pPr>
            <a:r>
              <a:rPr dirty="0"/>
              <a:t>I hope this message finds you well. Could you kindly share references on machine learning for my project?</a:t>
            </a:r>
          </a:p>
          <a:p>
            <a:pPr marL="0" indent="0">
              <a:buNone/>
              <a:defRPr sz="2000">
                <a:latin typeface="Arial"/>
              </a:defRPr>
            </a:pPr>
            <a:r>
              <a:rPr dirty="0"/>
              <a:t>Best regards,</a:t>
            </a:r>
            <a:endParaRPr lang="en-US" dirty="0"/>
          </a:p>
          <a:p>
            <a:pPr marL="0" indent="0">
              <a:buNone/>
              <a:defRPr sz="2000">
                <a:latin typeface="Arial"/>
              </a:defRPr>
            </a:pPr>
            <a:r>
              <a:rPr dirty="0"/>
              <a:t> [Name]</a:t>
            </a:r>
          </a:p>
        </p:txBody>
      </p:sp>
      <p:sp>
        <p:nvSpPr>
          <p:cNvPr id="4" name="Slide Number Placeholder 3">
            <a:extLst>
              <a:ext uri="{FF2B5EF4-FFF2-40B4-BE49-F238E27FC236}">
                <a16:creationId xmlns:a16="http://schemas.microsoft.com/office/drawing/2014/main" id="{6718D791-D1F1-3E1C-8128-03D4EF12677A}"/>
              </a:ext>
            </a:extLst>
          </p:cNvPr>
          <p:cNvSpPr>
            <a:spLocks noGrp="1"/>
          </p:cNvSpPr>
          <p:nvPr>
            <p:ph type="sldNum" sz="quarter" idx="12"/>
          </p:nvPr>
        </p:nvSpPr>
        <p:spPr/>
        <p:txBody>
          <a:bodyPr/>
          <a:lstStyle/>
          <a:p>
            <a:fld id="{ECAB64A0-D49F-4356-A295-EC5B0CCCE6D4}" type="slidenum">
              <a:rPr lang="en-US" smtClean="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57A56-D4D5-8261-871E-DBD7110DCA8A}"/>
              </a:ext>
            </a:extLst>
          </p:cNvPr>
          <p:cNvSpPr>
            <a:spLocks noGrp="1"/>
          </p:cNvSpPr>
          <p:nvPr>
            <p:ph type="title"/>
          </p:nvPr>
        </p:nvSpPr>
        <p:spPr/>
        <p:txBody>
          <a:bodyPr>
            <a:normAutofit/>
          </a:bodyPr>
          <a:lstStyle/>
          <a:p>
            <a:r>
              <a:rPr lang="en-US" dirty="0"/>
              <a:t>Activity 1: Writing a Professional Email</a:t>
            </a:r>
            <a:br>
              <a:rPr lang="en-US" dirty="0"/>
            </a:br>
            <a:endParaRPr lang="en-US" dirty="0"/>
          </a:p>
        </p:txBody>
      </p:sp>
      <p:sp>
        <p:nvSpPr>
          <p:cNvPr id="3" name="Content Placeholder 2">
            <a:extLst>
              <a:ext uri="{FF2B5EF4-FFF2-40B4-BE49-F238E27FC236}">
                <a16:creationId xmlns:a16="http://schemas.microsoft.com/office/drawing/2014/main" id="{C3101A92-AD98-5658-03AA-5481FD414443}"/>
              </a:ext>
            </a:extLst>
          </p:cNvPr>
          <p:cNvSpPr>
            <a:spLocks noGrp="1"/>
          </p:cNvSpPr>
          <p:nvPr>
            <p:ph idx="1"/>
          </p:nvPr>
        </p:nvSpPr>
        <p:spPr>
          <a:xfrm>
            <a:off x="3869268" y="864108"/>
            <a:ext cx="7693466" cy="1672615"/>
          </a:xfrm>
        </p:spPr>
        <p:txBody>
          <a:bodyPr/>
          <a:lstStyle/>
          <a:p>
            <a:pPr marL="0" indent="0">
              <a:buNone/>
            </a:pPr>
            <a:r>
              <a:rPr lang="en-US" b="1" dirty="0"/>
              <a:t>Scenario:</a:t>
            </a:r>
            <a:br>
              <a:rPr lang="en-US" b="1" dirty="0"/>
            </a:br>
            <a:r>
              <a:rPr lang="en-US" b="1" dirty="0"/>
              <a:t>You need to ask your project supervisor for feedback on your data analysis report. Write a formal and polite email.</a:t>
            </a:r>
          </a:p>
        </p:txBody>
      </p:sp>
      <p:sp>
        <p:nvSpPr>
          <p:cNvPr id="4" name="Rectangle: Rounded Corners 3">
            <a:extLst>
              <a:ext uri="{FF2B5EF4-FFF2-40B4-BE49-F238E27FC236}">
                <a16:creationId xmlns:a16="http://schemas.microsoft.com/office/drawing/2014/main" id="{3F50C49D-13F9-631C-2118-D637D98E6848}"/>
              </a:ext>
            </a:extLst>
          </p:cNvPr>
          <p:cNvSpPr/>
          <p:nvPr/>
        </p:nvSpPr>
        <p:spPr>
          <a:xfrm>
            <a:off x="3999407" y="2315498"/>
            <a:ext cx="7433187" cy="4262284"/>
          </a:xfrm>
          <a:prstGeom prst="round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600" dirty="0"/>
              <a:t>Subject: Request for Feedback on Data Analysis Report</a:t>
            </a:r>
          </a:p>
          <a:p>
            <a:pPr algn="just"/>
            <a:endParaRPr lang="en-US" sz="1600" dirty="0"/>
          </a:p>
          <a:p>
            <a:pPr algn="just"/>
            <a:r>
              <a:rPr lang="en-US" sz="1600" dirty="0"/>
              <a:t>Dear Dr. Smith,</a:t>
            </a:r>
          </a:p>
          <a:p>
            <a:pPr algn="just"/>
            <a:endParaRPr lang="en-US" sz="1600" dirty="0"/>
          </a:p>
          <a:p>
            <a:pPr algn="just"/>
            <a:r>
              <a:rPr lang="en-US" sz="1600" dirty="0"/>
              <a:t>I hope this message finds you well. I have completed the initial draft of the data analysis report for the project on predictive modeling. I would appreciate it if you could review the document and provide your feedback at your earliest convenience.</a:t>
            </a:r>
          </a:p>
          <a:p>
            <a:pPr algn="just"/>
            <a:endParaRPr lang="en-US" sz="1600" dirty="0"/>
          </a:p>
          <a:p>
            <a:pPr algn="just"/>
            <a:r>
              <a:rPr lang="en-US" sz="1600" dirty="0"/>
              <a:t>Thank you very much for your time and support.</a:t>
            </a:r>
          </a:p>
          <a:p>
            <a:pPr algn="just"/>
            <a:endParaRPr lang="en-US" sz="1600" dirty="0"/>
          </a:p>
          <a:p>
            <a:r>
              <a:rPr lang="en-US" sz="1600" dirty="0"/>
              <a:t>Best regards,</a:t>
            </a:r>
            <a:br>
              <a:rPr lang="en-US" sz="1600" dirty="0"/>
            </a:br>
            <a:r>
              <a:rPr lang="en-US" sz="1600" dirty="0"/>
              <a:t>[Your Name]</a:t>
            </a:r>
          </a:p>
        </p:txBody>
      </p:sp>
      <p:sp>
        <p:nvSpPr>
          <p:cNvPr id="5" name="Slide Number Placeholder 4">
            <a:extLst>
              <a:ext uri="{FF2B5EF4-FFF2-40B4-BE49-F238E27FC236}">
                <a16:creationId xmlns:a16="http://schemas.microsoft.com/office/drawing/2014/main" id="{38774AE9-F23A-EA16-E6C0-293FDC709254}"/>
              </a:ext>
            </a:extLst>
          </p:cNvPr>
          <p:cNvSpPr>
            <a:spLocks noGrp="1"/>
          </p:cNvSpPr>
          <p:nvPr>
            <p:ph type="sldNum" sz="quarter" idx="12"/>
          </p:nvPr>
        </p:nvSpPr>
        <p:spPr/>
        <p:txBody>
          <a:bodyPr/>
          <a:lstStyle/>
          <a:p>
            <a:fld id="{ECAB64A0-D49F-4356-A295-EC5B0CCCE6D4}" type="slidenum">
              <a:rPr lang="en-US" smtClean="0"/>
              <a:t>36</a:t>
            </a:fld>
            <a:endParaRPr lang="en-US"/>
          </a:p>
        </p:txBody>
      </p:sp>
    </p:spTree>
    <p:extLst>
      <p:ext uri="{BB962C8B-B14F-4D97-AF65-F5344CB8AC3E}">
        <p14:creationId xmlns:p14="http://schemas.microsoft.com/office/powerpoint/2010/main" val="1006692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2A20B-4A3D-3DC8-190C-35D14FBF4302}"/>
              </a:ext>
            </a:extLst>
          </p:cNvPr>
          <p:cNvSpPr>
            <a:spLocks noGrp="1"/>
          </p:cNvSpPr>
          <p:nvPr>
            <p:ph type="title"/>
          </p:nvPr>
        </p:nvSpPr>
        <p:spPr/>
        <p:txBody>
          <a:bodyPr>
            <a:normAutofit/>
          </a:bodyPr>
          <a:lstStyle/>
          <a:p>
            <a:r>
              <a:rPr lang="en-US" dirty="0"/>
              <a:t>Scientific and Technical Vocabulary for AI Industry</a:t>
            </a:r>
          </a:p>
        </p:txBody>
      </p:sp>
      <p:sp>
        <p:nvSpPr>
          <p:cNvPr id="3" name="Content Placeholder 2">
            <a:extLst>
              <a:ext uri="{FF2B5EF4-FFF2-40B4-BE49-F238E27FC236}">
                <a16:creationId xmlns:a16="http://schemas.microsoft.com/office/drawing/2014/main" id="{121FC7AD-ECEB-9583-A081-0657594EB491}"/>
              </a:ext>
            </a:extLst>
          </p:cNvPr>
          <p:cNvSpPr>
            <a:spLocks noGrp="1"/>
          </p:cNvSpPr>
          <p:nvPr>
            <p:ph idx="1"/>
          </p:nvPr>
        </p:nvSpPr>
        <p:spPr>
          <a:xfrm>
            <a:off x="3869268" y="864108"/>
            <a:ext cx="7118280" cy="1643118"/>
          </a:xfrm>
        </p:spPr>
        <p:txBody>
          <a:bodyPr/>
          <a:lstStyle/>
          <a:p>
            <a:pPr algn="just"/>
            <a:r>
              <a:rPr lang="en-US" dirty="0"/>
              <a:t>Professional AI communication uses precise technical vocabulary. Below is a glossary of common terms used in AI projects in industry settings.</a:t>
            </a:r>
          </a:p>
          <a:p>
            <a:endParaRPr lang="en-US" dirty="0"/>
          </a:p>
        </p:txBody>
      </p:sp>
      <p:graphicFrame>
        <p:nvGraphicFramePr>
          <p:cNvPr id="11" name="Table 10">
            <a:extLst>
              <a:ext uri="{FF2B5EF4-FFF2-40B4-BE49-F238E27FC236}">
                <a16:creationId xmlns:a16="http://schemas.microsoft.com/office/drawing/2014/main" id="{4E7BC9E1-9441-B830-A161-992E11819B7B}"/>
              </a:ext>
            </a:extLst>
          </p:cNvPr>
          <p:cNvGraphicFramePr>
            <a:graphicFrameLocks noGrp="1"/>
          </p:cNvGraphicFramePr>
          <p:nvPr>
            <p:extLst>
              <p:ext uri="{D42A27DB-BD31-4B8C-83A1-F6EECF244321}">
                <p14:modId xmlns:p14="http://schemas.microsoft.com/office/powerpoint/2010/main" val="1741035638"/>
              </p:ext>
            </p:extLst>
          </p:nvPr>
        </p:nvGraphicFramePr>
        <p:xfrm>
          <a:off x="3957484" y="3886676"/>
          <a:ext cx="10058400" cy="365760"/>
        </p:xfrm>
        <a:graphic>
          <a:graphicData uri="http://schemas.openxmlformats.org/drawingml/2006/table">
            <a:tbl>
              <a:tblPr/>
              <a:tblGrid>
                <a:gridCol w="10058400">
                  <a:extLst>
                    <a:ext uri="{9D8B030D-6E8A-4147-A177-3AD203B41FA5}">
                      <a16:colId xmlns:a16="http://schemas.microsoft.com/office/drawing/2014/main" val="2282688038"/>
                    </a:ext>
                  </a:extLst>
                </a:gridCol>
              </a:tblGrid>
              <a:tr h="0">
                <a:tc>
                  <a:txBody>
                    <a:bodyPr/>
                    <a:lstStyle/>
                    <a:p>
                      <a:pPr>
                        <a:buNone/>
                      </a:pPr>
                      <a:endParaRPr lang="en-US" dirty="0"/>
                    </a:p>
                  </a:txBody>
                  <a:tcPr anchor="ctr">
                    <a:lnL>
                      <a:noFill/>
                    </a:lnL>
                    <a:lnR>
                      <a:noFill/>
                    </a:lnR>
                    <a:lnT>
                      <a:noFill/>
                    </a:lnT>
                    <a:lnB>
                      <a:noFill/>
                    </a:lnB>
                    <a:noFill/>
                  </a:tcPr>
                </a:tc>
                <a:extLst>
                  <a:ext uri="{0D108BD9-81ED-4DB2-BD59-A6C34878D82A}">
                    <a16:rowId xmlns:a16="http://schemas.microsoft.com/office/drawing/2014/main" val="483468418"/>
                  </a:ext>
                </a:extLst>
              </a:tr>
            </a:tbl>
          </a:graphicData>
        </a:graphic>
      </p:graphicFrame>
      <p:graphicFrame>
        <p:nvGraphicFramePr>
          <p:cNvPr id="12" name="Table 11">
            <a:extLst>
              <a:ext uri="{FF2B5EF4-FFF2-40B4-BE49-F238E27FC236}">
                <a16:creationId xmlns:a16="http://schemas.microsoft.com/office/drawing/2014/main" id="{640DF4C1-C6F2-12A8-E412-229EC5E639D7}"/>
              </a:ext>
            </a:extLst>
          </p:cNvPr>
          <p:cNvGraphicFramePr>
            <a:graphicFrameLocks noGrp="1"/>
          </p:cNvGraphicFramePr>
          <p:nvPr>
            <p:extLst>
              <p:ext uri="{D42A27DB-BD31-4B8C-83A1-F6EECF244321}">
                <p14:modId xmlns:p14="http://schemas.microsoft.com/office/powerpoint/2010/main" val="3358407256"/>
              </p:ext>
            </p:extLst>
          </p:nvPr>
        </p:nvGraphicFramePr>
        <p:xfrm>
          <a:off x="3501922" y="2470832"/>
          <a:ext cx="8046066" cy="3188004"/>
        </p:xfrm>
        <a:graphic>
          <a:graphicData uri="http://schemas.openxmlformats.org/drawingml/2006/table">
            <a:tbl>
              <a:tblPr firstRow="1" bandRow="1">
                <a:tableStyleId>{5C22544A-7EE6-4342-B048-85BDC9FD1C3A}</a:tableStyleId>
              </a:tblPr>
              <a:tblGrid>
                <a:gridCol w="4023033">
                  <a:extLst>
                    <a:ext uri="{9D8B030D-6E8A-4147-A177-3AD203B41FA5}">
                      <a16:colId xmlns:a16="http://schemas.microsoft.com/office/drawing/2014/main" val="533234624"/>
                    </a:ext>
                  </a:extLst>
                </a:gridCol>
                <a:gridCol w="4023033">
                  <a:extLst>
                    <a:ext uri="{9D8B030D-6E8A-4147-A177-3AD203B41FA5}">
                      <a16:colId xmlns:a16="http://schemas.microsoft.com/office/drawing/2014/main" val="2804241689"/>
                    </a:ext>
                  </a:extLst>
                </a:gridCol>
              </a:tblGrid>
              <a:tr h="315316">
                <a:tc>
                  <a:txBody>
                    <a:bodyPr/>
                    <a:lstStyle/>
                    <a:p>
                      <a:r>
                        <a:rPr lang="en-US" sz="1600" dirty="0"/>
                        <a:t>Category</a:t>
                      </a:r>
                    </a:p>
                  </a:txBody>
                  <a:tcPr/>
                </a:tc>
                <a:tc>
                  <a:txBody>
                    <a:bodyPr/>
                    <a:lstStyle/>
                    <a:p>
                      <a:r>
                        <a:rPr lang="en-US" sz="1600" dirty="0"/>
                        <a:t>Vocabulary Examples</a:t>
                      </a:r>
                    </a:p>
                  </a:txBody>
                  <a:tcPr/>
                </a:tc>
                <a:extLst>
                  <a:ext uri="{0D108BD9-81ED-4DB2-BD59-A6C34878D82A}">
                    <a16:rowId xmlns:a16="http://schemas.microsoft.com/office/drawing/2014/main" val="1053582833"/>
                  </a:ext>
                </a:extLst>
              </a:tr>
              <a:tr h="639696">
                <a:tc>
                  <a:txBody>
                    <a:bodyPr/>
                    <a:lstStyle/>
                    <a:p>
                      <a:r>
                        <a:rPr lang="en-US" sz="1600" dirty="0"/>
                        <a:t>Machine Learning</a:t>
                      </a:r>
                    </a:p>
                  </a:txBody>
                  <a:tcPr/>
                </a:tc>
                <a:tc>
                  <a:txBody>
                    <a:bodyPr/>
                    <a:lstStyle/>
                    <a:p>
                      <a:r>
                        <a:rPr lang="en-US" sz="1600" dirty="0"/>
                        <a:t>model deployment, supervised learning</a:t>
                      </a:r>
                    </a:p>
                  </a:txBody>
                  <a:tcPr/>
                </a:tc>
                <a:extLst>
                  <a:ext uri="{0D108BD9-81ED-4DB2-BD59-A6C34878D82A}">
                    <a16:rowId xmlns:a16="http://schemas.microsoft.com/office/drawing/2014/main" val="3657288048"/>
                  </a:ext>
                </a:extLst>
              </a:tr>
              <a:tr h="544636">
                <a:tc>
                  <a:txBody>
                    <a:bodyPr/>
                    <a:lstStyle/>
                    <a:p>
                      <a:r>
                        <a:rPr lang="en-US" sz="1600" dirty="0"/>
                        <a:t>Deep Learning</a:t>
                      </a:r>
                    </a:p>
                  </a:txBody>
                  <a:tcPr/>
                </a:tc>
                <a:tc>
                  <a:txBody>
                    <a:bodyPr/>
                    <a:lstStyle/>
                    <a:p>
                      <a:r>
                        <a:rPr lang="en-US" sz="1600" dirty="0"/>
                        <a:t>neural network, training pipeline, overfitting</a:t>
                      </a:r>
                    </a:p>
                  </a:txBody>
                  <a:tcPr/>
                </a:tc>
                <a:extLst>
                  <a:ext uri="{0D108BD9-81ED-4DB2-BD59-A6C34878D82A}">
                    <a16:rowId xmlns:a16="http://schemas.microsoft.com/office/drawing/2014/main" val="1417096446"/>
                  </a:ext>
                </a:extLst>
              </a:tr>
              <a:tr h="544636">
                <a:tc>
                  <a:txBody>
                    <a:bodyPr/>
                    <a:lstStyle/>
                    <a:p>
                      <a:r>
                        <a:rPr lang="en-US" sz="1600" dirty="0"/>
                        <a:t>NLP</a:t>
                      </a:r>
                    </a:p>
                  </a:txBody>
                  <a:tcPr/>
                </a:tc>
                <a:tc>
                  <a:txBody>
                    <a:bodyPr/>
                    <a:lstStyle/>
                    <a:p>
                      <a:r>
                        <a:rPr lang="en-US" sz="1600" dirty="0"/>
                        <a:t>embeddings, language model, fine-tuning</a:t>
                      </a:r>
                    </a:p>
                  </a:txBody>
                  <a:tcPr/>
                </a:tc>
                <a:extLst>
                  <a:ext uri="{0D108BD9-81ED-4DB2-BD59-A6C34878D82A}">
                    <a16:rowId xmlns:a16="http://schemas.microsoft.com/office/drawing/2014/main" val="3191241396"/>
                  </a:ext>
                </a:extLst>
              </a:tr>
              <a:tr h="544636">
                <a:tc>
                  <a:txBody>
                    <a:bodyPr/>
                    <a:lstStyle/>
                    <a:p>
                      <a:r>
                        <a:rPr lang="en-US" sz="1600" dirty="0"/>
                        <a:t>Computer Vision</a:t>
                      </a:r>
                    </a:p>
                  </a:txBody>
                  <a:tcPr/>
                </a:tc>
                <a:tc>
                  <a:txBody>
                    <a:bodyPr/>
                    <a:lstStyle/>
                    <a:p>
                      <a:r>
                        <a:rPr lang="en-US" sz="1600" dirty="0"/>
                        <a:t>object detection, segmentation, feature extraction</a:t>
                      </a:r>
                    </a:p>
                  </a:txBody>
                  <a:tcPr/>
                </a:tc>
                <a:extLst>
                  <a:ext uri="{0D108BD9-81ED-4DB2-BD59-A6C34878D82A}">
                    <a16:rowId xmlns:a16="http://schemas.microsoft.com/office/drawing/2014/main" val="4031077265"/>
                  </a:ext>
                </a:extLst>
              </a:tr>
              <a:tr h="544636">
                <a:tc>
                  <a:txBody>
                    <a:bodyPr/>
                    <a:lstStyle/>
                    <a:p>
                      <a:r>
                        <a:rPr lang="en-US" sz="1600" dirty="0"/>
                        <a:t>Engineering</a:t>
                      </a:r>
                    </a:p>
                  </a:txBody>
                  <a:tcPr/>
                </a:tc>
                <a:tc>
                  <a:txBody>
                    <a:bodyPr/>
                    <a:lstStyle/>
                    <a:p>
                      <a:r>
                        <a:rPr lang="fr-FR" sz="1600" dirty="0"/>
                        <a:t> cloud services, production </a:t>
                      </a:r>
                      <a:r>
                        <a:rPr lang="fr-FR" sz="1600" dirty="0" err="1"/>
                        <a:t>environment</a:t>
                      </a:r>
                      <a:r>
                        <a:rPr lang="fr-FR" sz="1600" dirty="0"/>
                        <a:t>.</a:t>
                      </a:r>
                      <a:endParaRPr lang="en-US" sz="1600" dirty="0"/>
                    </a:p>
                  </a:txBody>
                  <a:tcPr/>
                </a:tc>
                <a:extLst>
                  <a:ext uri="{0D108BD9-81ED-4DB2-BD59-A6C34878D82A}">
                    <a16:rowId xmlns:a16="http://schemas.microsoft.com/office/drawing/2014/main" val="2543614368"/>
                  </a:ext>
                </a:extLst>
              </a:tr>
            </a:tbl>
          </a:graphicData>
        </a:graphic>
      </p:graphicFrame>
      <p:sp>
        <p:nvSpPr>
          <p:cNvPr id="4" name="Slide Number Placeholder 3">
            <a:extLst>
              <a:ext uri="{FF2B5EF4-FFF2-40B4-BE49-F238E27FC236}">
                <a16:creationId xmlns:a16="http://schemas.microsoft.com/office/drawing/2014/main" id="{6D45F4B3-08F4-6B82-F526-85B9CAF72DFC}"/>
              </a:ext>
            </a:extLst>
          </p:cNvPr>
          <p:cNvSpPr>
            <a:spLocks noGrp="1"/>
          </p:cNvSpPr>
          <p:nvPr>
            <p:ph type="sldNum" sz="quarter" idx="12"/>
          </p:nvPr>
        </p:nvSpPr>
        <p:spPr/>
        <p:txBody>
          <a:bodyPr/>
          <a:lstStyle/>
          <a:p>
            <a:fld id="{ECAB64A0-D49F-4356-A295-EC5B0CCCE6D4}" type="slidenum">
              <a:rPr lang="en-US" smtClean="0"/>
              <a:t>37</a:t>
            </a:fld>
            <a:endParaRPr lang="en-US"/>
          </a:p>
        </p:txBody>
      </p:sp>
    </p:spTree>
    <p:extLst>
      <p:ext uri="{BB962C8B-B14F-4D97-AF65-F5344CB8AC3E}">
        <p14:creationId xmlns:p14="http://schemas.microsoft.com/office/powerpoint/2010/main" val="39171975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C8AAB-B06D-1A19-2C2F-1270B0F0E927}"/>
              </a:ext>
            </a:extLst>
          </p:cNvPr>
          <p:cNvSpPr>
            <a:spLocks noGrp="1"/>
          </p:cNvSpPr>
          <p:nvPr>
            <p:ph type="title"/>
          </p:nvPr>
        </p:nvSpPr>
        <p:spPr/>
        <p:txBody>
          <a:bodyPr>
            <a:normAutofit/>
          </a:bodyPr>
          <a:lstStyle/>
          <a:p>
            <a:r>
              <a:rPr lang="en-US" dirty="0"/>
              <a:t>Main Group Activity – AI Team Communication + Email Task</a:t>
            </a:r>
          </a:p>
        </p:txBody>
      </p:sp>
      <p:sp>
        <p:nvSpPr>
          <p:cNvPr id="3" name="Content Placeholder 2">
            <a:extLst>
              <a:ext uri="{FF2B5EF4-FFF2-40B4-BE49-F238E27FC236}">
                <a16:creationId xmlns:a16="http://schemas.microsoft.com/office/drawing/2014/main" id="{B273FCC4-187C-7347-697F-575C9F0ED5D1}"/>
              </a:ext>
            </a:extLst>
          </p:cNvPr>
          <p:cNvSpPr>
            <a:spLocks noGrp="1"/>
          </p:cNvSpPr>
          <p:nvPr>
            <p:ph idx="1"/>
          </p:nvPr>
        </p:nvSpPr>
        <p:spPr/>
        <p:txBody>
          <a:bodyPr/>
          <a:lstStyle/>
          <a:p>
            <a:pPr algn="just"/>
            <a:r>
              <a:rPr lang="en-US" b="1" dirty="0"/>
              <a:t>Objective:</a:t>
            </a:r>
            <a:r>
              <a:rPr lang="en-US" dirty="0"/>
              <a:t> Develop professional communication skills used in AI companies (team discussions + workplace emails).</a:t>
            </a:r>
          </a:p>
          <a:p>
            <a:pPr algn="just"/>
            <a:r>
              <a:rPr lang="en-US" b="1" dirty="0"/>
              <a:t>Scenario</a:t>
            </a:r>
          </a:p>
          <a:p>
            <a:pPr algn="just"/>
            <a:r>
              <a:rPr lang="en-US" dirty="0"/>
              <a:t>Students work in groups like they are in a real AI company. Each group is building an AI project that detects fake news using Natural Language Processing (NLP).During the project, the team faces problems and delays, just like in real work situations.</a:t>
            </a:r>
          </a:p>
        </p:txBody>
      </p:sp>
      <p:sp>
        <p:nvSpPr>
          <p:cNvPr id="4" name="Slide Number Placeholder 3">
            <a:extLst>
              <a:ext uri="{FF2B5EF4-FFF2-40B4-BE49-F238E27FC236}">
                <a16:creationId xmlns:a16="http://schemas.microsoft.com/office/drawing/2014/main" id="{805563D8-E3EE-EE55-FCEF-C433B11DE37D}"/>
              </a:ext>
            </a:extLst>
          </p:cNvPr>
          <p:cNvSpPr>
            <a:spLocks noGrp="1"/>
          </p:cNvSpPr>
          <p:nvPr>
            <p:ph type="sldNum" sz="quarter" idx="12"/>
          </p:nvPr>
        </p:nvSpPr>
        <p:spPr/>
        <p:txBody>
          <a:bodyPr/>
          <a:lstStyle/>
          <a:p>
            <a:fld id="{ECAB64A0-D49F-4356-A295-EC5B0CCCE6D4}" type="slidenum">
              <a:rPr lang="en-US" smtClean="0"/>
              <a:t>38</a:t>
            </a:fld>
            <a:endParaRPr lang="en-US"/>
          </a:p>
        </p:txBody>
      </p:sp>
    </p:spTree>
    <p:extLst>
      <p:ext uri="{BB962C8B-B14F-4D97-AF65-F5344CB8AC3E}">
        <p14:creationId xmlns:p14="http://schemas.microsoft.com/office/powerpoint/2010/main" val="24802609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4BEEB-6297-9972-D23C-41508566F3A0}"/>
              </a:ext>
            </a:extLst>
          </p:cNvPr>
          <p:cNvSpPr>
            <a:spLocks noGrp="1"/>
          </p:cNvSpPr>
          <p:nvPr>
            <p:ph type="title"/>
          </p:nvPr>
        </p:nvSpPr>
        <p:spPr/>
        <p:txBody>
          <a:bodyPr>
            <a:normAutofit/>
          </a:bodyPr>
          <a:lstStyle/>
          <a:p>
            <a:r>
              <a:rPr lang="en-US" dirty="0"/>
              <a:t>Part 1 – Team Meeting Roleplay</a:t>
            </a:r>
            <a:br>
              <a:rPr lang="en-US" dirty="0"/>
            </a:br>
            <a:endParaRPr lang="en-US" dirty="0"/>
          </a:p>
        </p:txBody>
      </p:sp>
      <p:sp>
        <p:nvSpPr>
          <p:cNvPr id="3" name="Content Placeholder 2">
            <a:extLst>
              <a:ext uri="{FF2B5EF4-FFF2-40B4-BE49-F238E27FC236}">
                <a16:creationId xmlns:a16="http://schemas.microsoft.com/office/drawing/2014/main" id="{8989A63B-6F82-A957-B5C3-52A1ECD476E5}"/>
              </a:ext>
            </a:extLst>
          </p:cNvPr>
          <p:cNvSpPr>
            <a:spLocks noGrp="1"/>
          </p:cNvSpPr>
          <p:nvPr>
            <p:ph idx="1"/>
          </p:nvPr>
        </p:nvSpPr>
        <p:spPr>
          <a:xfrm>
            <a:off x="3869268" y="864108"/>
            <a:ext cx="7295261" cy="3132705"/>
          </a:xfrm>
        </p:spPr>
        <p:txBody>
          <a:bodyPr/>
          <a:lstStyle/>
          <a:p>
            <a:pPr marL="0" indent="0">
              <a:buNone/>
            </a:pPr>
            <a:r>
              <a:rPr lang="en-US" dirty="0"/>
              <a:t>Each group has roles:</a:t>
            </a:r>
          </a:p>
          <a:p>
            <a:r>
              <a:rPr lang="en-US" dirty="0"/>
              <a:t>Project Manager – leads the team and manages time</a:t>
            </a:r>
          </a:p>
          <a:p>
            <a:r>
              <a:rPr lang="en-US" dirty="0"/>
              <a:t>AI Engineer – works on model training</a:t>
            </a:r>
          </a:p>
          <a:p>
            <a:r>
              <a:rPr lang="en-US" dirty="0"/>
              <a:t>Data Engineer – prepares and cleans the data</a:t>
            </a:r>
          </a:p>
          <a:p>
            <a:r>
              <a:rPr lang="en-US" dirty="0"/>
              <a:t>ML Ops Engineer – helps run and deploy the model</a:t>
            </a:r>
          </a:p>
        </p:txBody>
      </p:sp>
      <p:sp>
        <p:nvSpPr>
          <p:cNvPr id="4" name="Rectangle: Single Corner Snipped 3">
            <a:extLst>
              <a:ext uri="{FF2B5EF4-FFF2-40B4-BE49-F238E27FC236}">
                <a16:creationId xmlns:a16="http://schemas.microsoft.com/office/drawing/2014/main" id="{E7CA5AA7-F6FA-D1DA-2630-586F09200355}"/>
              </a:ext>
            </a:extLst>
          </p:cNvPr>
          <p:cNvSpPr/>
          <p:nvPr/>
        </p:nvSpPr>
        <p:spPr>
          <a:xfrm>
            <a:off x="4090494" y="3880144"/>
            <a:ext cx="6175206" cy="2113748"/>
          </a:xfrm>
          <a:prstGeom prst="snip1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What ML Ops Engineers Do</a:t>
            </a:r>
          </a:p>
          <a:p>
            <a:r>
              <a:rPr lang="en-US" dirty="0"/>
              <a:t>Prepare the </a:t>
            </a:r>
            <a:r>
              <a:rPr lang="en-US" b="1" dirty="0"/>
              <a:t>infrastructure</a:t>
            </a:r>
            <a:r>
              <a:rPr lang="en-US" dirty="0"/>
              <a:t> (servers, GPUs, cloud resources)</a:t>
            </a:r>
          </a:p>
          <a:p>
            <a:r>
              <a:rPr lang="en-US" b="1" dirty="0"/>
              <a:t>Deploy models</a:t>
            </a:r>
            <a:r>
              <a:rPr lang="en-US" dirty="0"/>
              <a:t> so they can run in real applications</a:t>
            </a:r>
          </a:p>
          <a:p>
            <a:r>
              <a:rPr lang="en-US" dirty="0"/>
              <a:t>Monitor model </a:t>
            </a:r>
            <a:r>
              <a:rPr lang="en-US" b="1" dirty="0"/>
              <a:t>performance and errors</a:t>
            </a:r>
            <a:r>
              <a:rPr lang="en-US" dirty="0"/>
              <a:t> after deployment</a:t>
            </a:r>
          </a:p>
          <a:p>
            <a:r>
              <a:rPr lang="en-US" dirty="0"/>
              <a:t>Automate </a:t>
            </a:r>
            <a:r>
              <a:rPr lang="en-US" b="1" dirty="0"/>
              <a:t>training and updates</a:t>
            </a:r>
            <a:r>
              <a:rPr lang="en-US" dirty="0"/>
              <a:t> of models</a:t>
            </a:r>
          </a:p>
        </p:txBody>
      </p:sp>
      <p:sp>
        <p:nvSpPr>
          <p:cNvPr id="5" name="Slide Number Placeholder 4">
            <a:extLst>
              <a:ext uri="{FF2B5EF4-FFF2-40B4-BE49-F238E27FC236}">
                <a16:creationId xmlns:a16="http://schemas.microsoft.com/office/drawing/2014/main" id="{740885A9-AF73-EFC3-28AD-F2BB6DFBBFAA}"/>
              </a:ext>
            </a:extLst>
          </p:cNvPr>
          <p:cNvSpPr>
            <a:spLocks noGrp="1"/>
          </p:cNvSpPr>
          <p:nvPr>
            <p:ph type="sldNum" sz="quarter" idx="12"/>
          </p:nvPr>
        </p:nvSpPr>
        <p:spPr/>
        <p:txBody>
          <a:bodyPr/>
          <a:lstStyle/>
          <a:p>
            <a:fld id="{ECAB64A0-D49F-4356-A295-EC5B0CCCE6D4}" type="slidenum">
              <a:rPr lang="en-US" smtClean="0"/>
              <a:t>39</a:t>
            </a:fld>
            <a:endParaRPr lang="en-US"/>
          </a:p>
        </p:txBody>
      </p:sp>
    </p:spTree>
    <p:extLst>
      <p:ext uri="{BB962C8B-B14F-4D97-AF65-F5344CB8AC3E}">
        <p14:creationId xmlns:p14="http://schemas.microsoft.com/office/powerpoint/2010/main" val="1557661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8BBB5-B7CA-8945-7F30-73AE7F8C7F4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B5E908B-2A21-062C-7A98-93878B939822}"/>
              </a:ext>
            </a:extLst>
          </p:cNvPr>
          <p:cNvSpPr>
            <a:spLocks noGrp="1"/>
          </p:cNvSpPr>
          <p:nvPr>
            <p:ph sz="half" idx="1"/>
          </p:nvPr>
        </p:nvSpPr>
        <p:spPr/>
        <p:txBody>
          <a:bodyPr>
            <a:normAutofit/>
          </a:bodyPr>
          <a:lstStyle/>
          <a:p>
            <a:r>
              <a:rPr lang="en-US" b="1" dirty="0"/>
              <a:t>Task:</a:t>
            </a:r>
            <a:r>
              <a:rPr lang="en-US" dirty="0"/>
              <a:t> Conduct a 5-minute meeting and discuss:</a:t>
            </a:r>
          </a:p>
          <a:p>
            <a:r>
              <a:rPr lang="en-US" dirty="0"/>
              <a:t>Sprint progress</a:t>
            </a:r>
          </a:p>
          <a:p>
            <a:r>
              <a:rPr lang="en-US" dirty="0"/>
              <a:t>Technical blockers</a:t>
            </a:r>
          </a:p>
          <a:p>
            <a:r>
              <a:rPr lang="en-US" dirty="0"/>
              <a:t>Task assignments</a:t>
            </a:r>
          </a:p>
          <a:p>
            <a:r>
              <a:rPr lang="en-US" dirty="0"/>
              <a:t>Next steps</a:t>
            </a:r>
          </a:p>
          <a:p>
            <a:endParaRPr lang="en-US" dirty="0"/>
          </a:p>
        </p:txBody>
      </p:sp>
      <p:sp>
        <p:nvSpPr>
          <p:cNvPr id="4" name="Content Placeholder 3">
            <a:extLst>
              <a:ext uri="{FF2B5EF4-FFF2-40B4-BE49-F238E27FC236}">
                <a16:creationId xmlns:a16="http://schemas.microsoft.com/office/drawing/2014/main" id="{89522C38-65D9-DA30-525C-1C7CFAEBA7ED}"/>
              </a:ext>
            </a:extLst>
          </p:cNvPr>
          <p:cNvSpPr>
            <a:spLocks noGrp="1"/>
          </p:cNvSpPr>
          <p:nvPr>
            <p:ph sz="half" idx="2"/>
          </p:nvPr>
        </p:nvSpPr>
        <p:spPr>
          <a:xfrm>
            <a:off x="7847617" y="852457"/>
            <a:ext cx="3474720" cy="5120640"/>
          </a:xfrm>
        </p:spPr>
        <p:txBody>
          <a:bodyPr>
            <a:normAutofit/>
          </a:bodyPr>
          <a:lstStyle/>
          <a:p>
            <a:pPr algn="just"/>
            <a:r>
              <a:rPr lang="en-US" b="1" dirty="0"/>
              <a:t>Useful Phrases:</a:t>
            </a:r>
            <a:endParaRPr lang="en-US" dirty="0"/>
          </a:p>
          <a:p>
            <a:pPr algn="just"/>
            <a:r>
              <a:rPr lang="en-US" dirty="0"/>
              <a:t>"The main issue we are facing is…"</a:t>
            </a:r>
          </a:p>
          <a:p>
            <a:pPr algn="just"/>
            <a:r>
              <a:rPr lang="en-US" dirty="0"/>
              <a:t>"We need support from…"</a:t>
            </a:r>
          </a:p>
          <a:p>
            <a:pPr algn="just"/>
            <a:r>
              <a:rPr lang="en-US" dirty="0"/>
              <a:t>"I suggest we…"</a:t>
            </a:r>
          </a:p>
          <a:p>
            <a:pPr algn="just"/>
            <a:r>
              <a:rPr lang="en-US" dirty="0"/>
              <a:t>"The next action item is…"</a:t>
            </a:r>
          </a:p>
          <a:p>
            <a:endParaRPr lang="en-US" dirty="0"/>
          </a:p>
        </p:txBody>
      </p:sp>
      <p:sp>
        <p:nvSpPr>
          <p:cNvPr id="5" name="Callout: Up Arrow 4">
            <a:extLst>
              <a:ext uri="{FF2B5EF4-FFF2-40B4-BE49-F238E27FC236}">
                <a16:creationId xmlns:a16="http://schemas.microsoft.com/office/drawing/2014/main" id="{1774421D-DBCE-7128-A0DB-4E32407BFDB0}"/>
              </a:ext>
            </a:extLst>
          </p:cNvPr>
          <p:cNvSpPr/>
          <p:nvPr/>
        </p:nvSpPr>
        <p:spPr>
          <a:xfrm>
            <a:off x="4160815" y="4055806"/>
            <a:ext cx="4597956" cy="2698955"/>
          </a:xfrm>
          <a:prstGeom prst="upArrow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a:t>Sprint progress</a:t>
            </a:r>
            <a:r>
              <a:rPr lang="en-US"/>
              <a:t> shows </a:t>
            </a:r>
            <a:r>
              <a:rPr lang="en-US" b="1"/>
              <a:t>how much work has been completed</a:t>
            </a:r>
            <a:r>
              <a:rPr lang="en-US"/>
              <a:t> during the sprint.</a:t>
            </a:r>
          </a:p>
          <a:p>
            <a:r>
              <a:rPr lang="en-US"/>
              <a:t>Teams track:</a:t>
            </a:r>
          </a:p>
          <a:p>
            <a:r>
              <a:rPr lang="en-US"/>
              <a:t>Tasks finished ✅</a:t>
            </a:r>
          </a:p>
          <a:p>
            <a:r>
              <a:rPr lang="en-US"/>
              <a:t>Tasks in progress 🔄</a:t>
            </a:r>
          </a:p>
          <a:p>
            <a:r>
              <a:rPr lang="en-US"/>
              <a:t>Tasks delayed ❌</a:t>
            </a:r>
            <a:endParaRPr lang="en-US" dirty="0"/>
          </a:p>
        </p:txBody>
      </p:sp>
      <p:sp>
        <p:nvSpPr>
          <p:cNvPr id="6" name="Slide Number Placeholder 5">
            <a:extLst>
              <a:ext uri="{FF2B5EF4-FFF2-40B4-BE49-F238E27FC236}">
                <a16:creationId xmlns:a16="http://schemas.microsoft.com/office/drawing/2014/main" id="{C0913BC8-5FAF-3D8E-E606-0C300DB403BF}"/>
              </a:ext>
            </a:extLst>
          </p:cNvPr>
          <p:cNvSpPr>
            <a:spLocks noGrp="1"/>
          </p:cNvSpPr>
          <p:nvPr>
            <p:ph type="sldNum" sz="quarter" idx="12"/>
          </p:nvPr>
        </p:nvSpPr>
        <p:spPr/>
        <p:txBody>
          <a:bodyPr/>
          <a:lstStyle/>
          <a:p>
            <a:fld id="{ECAB64A0-D49F-4356-A295-EC5B0CCCE6D4}" type="slidenum">
              <a:rPr lang="en-US" smtClean="0"/>
              <a:t>40</a:t>
            </a:fld>
            <a:endParaRPr lang="en-US"/>
          </a:p>
        </p:txBody>
      </p:sp>
    </p:spTree>
    <p:extLst>
      <p:ext uri="{BB962C8B-B14F-4D97-AF65-F5344CB8AC3E}">
        <p14:creationId xmlns:p14="http://schemas.microsoft.com/office/powerpoint/2010/main" val="42204125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1C1C5-7C34-F2FD-F292-55D6B994245E}"/>
              </a:ext>
            </a:extLst>
          </p:cNvPr>
          <p:cNvSpPr>
            <a:spLocks noGrp="1"/>
          </p:cNvSpPr>
          <p:nvPr>
            <p:ph type="title"/>
          </p:nvPr>
        </p:nvSpPr>
        <p:spPr/>
        <p:txBody>
          <a:bodyPr>
            <a:normAutofit/>
          </a:bodyPr>
          <a:lstStyle/>
          <a:p>
            <a:r>
              <a:rPr lang="en-US" b="1" dirty="0"/>
              <a:t>Part 1 – AI Team Meeting Roleplay (Sample Dialogue)</a:t>
            </a:r>
            <a:br>
              <a:rPr lang="en-US" b="1" dirty="0"/>
            </a:br>
            <a:endParaRPr lang="en-US" dirty="0"/>
          </a:p>
        </p:txBody>
      </p:sp>
      <p:sp>
        <p:nvSpPr>
          <p:cNvPr id="3" name="Content Placeholder 2">
            <a:extLst>
              <a:ext uri="{FF2B5EF4-FFF2-40B4-BE49-F238E27FC236}">
                <a16:creationId xmlns:a16="http://schemas.microsoft.com/office/drawing/2014/main" id="{04630E16-4A45-8353-6054-0E568DE245B4}"/>
              </a:ext>
            </a:extLst>
          </p:cNvPr>
          <p:cNvSpPr>
            <a:spLocks noGrp="1"/>
          </p:cNvSpPr>
          <p:nvPr>
            <p:ph idx="1"/>
          </p:nvPr>
        </p:nvSpPr>
        <p:spPr/>
        <p:txBody>
          <a:bodyPr>
            <a:normAutofit/>
          </a:bodyPr>
          <a:lstStyle/>
          <a:p>
            <a:r>
              <a:rPr lang="en-US" b="1" dirty="0"/>
              <a:t>Project Manager:</a:t>
            </a:r>
            <a:r>
              <a:rPr lang="en-US" dirty="0"/>
              <a:t> "Good morning team. Let's begin with project updates. What is the current status of the fake news detection model?"</a:t>
            </a:r>
          </a:p>
          <a:p>
            <a:r>
              <a:rPr lang="en-US" b="1" dirty="0"/>
              <a:t>AI Engineer:</a:t>
            </a:r>
            <a:r>
              <a:rPr lang="en-US" dirty="0"/>
              <a:t> "The training reached 85% accuracy, but we are still facing overfitting after 10 epochs. I plan to add regularization and try learning rate decay."</a:t>
            </a:r>
          </a:p>
          <a:p>
            <a:r>
              <a:rPr lang="en-US" b="1" dirty="0"/>
              <a:t>Data Engineer:</a:t>
            </a:r>
            <a:r>
              <a:rPr lang="en-US" dirty="0"/>
              <a:t> "The dataset has class imbalance. There are only 2,000 fake news samples versus 8,000 real ones. I suggest we use SMOTE or collect more fake news data."</a:t>
            </a:r>
          </a:p>
          <a:p>
            <a:r>
              <a:rPr lang="en-US" b="1" dirty="0"/>
              <a:t>ML Ops Engineer:</a:t>
            </a:r>
            <a:r>
              <a:rPr lang="en-US" dirty="0"/>
              <a:t> "The deployment pipeline is ready, but we need GPU access on the production server to speed up inference. I will contact IT support today."</a:t>
            </a:r>
          </a:p>
          <a:p>
            <a:r>
              <a:rPr lang="en-US" b="1" dirty="0"/>
              <a:t>Project Manager:</a:t>
            </a:r>
            <a:r>
              <a:rPr lang="en-US" dirty="0"/>
              <a:t> "Thank you. Action items: AI Engineer experiments with regularization, Data Engineer balances dataset, ML Ops requests GPU access. Next meeting tomorrow."</a:t>
            </a:r>
          </a:p>
          <a:p>
            <a:endParaRPr lang="en-US" dirty="0"/>
          </a:p>
        </p:txBody>
      </p:sp>
      <p:sp>
        <p:nvSpPr>
          <p:cNvPr id="4" name="Slide Number Placeholder 3">
            <a:extLst>
              <a:ext uri="{FF2B5EF4-FFF2-40B4-BE49-F238E27FC236}">
                <a16:creationId xmlns:a16="http://schemas.microsoft.com/office/drawing/2014/main" id="{001FD9D1-9532-6CA0-8CD3-465A5398CAAA}"/>
              </a:ext>
            </a:extLst>
          </p:cNvPr>
          <p:cNvSpPr>
            <a:spLocks noGrp="1"/>
          </p:cNvSpPr>
          <p:nvPr>
            <p:ph type="sldNum" sz="quarter" idx="12"/>
          </p:nvPr>
        </p:nvSpPr>
        <p:spPr/>
        <p:txBody>
          <a:bodyPr/>
          <a:lstStyle/>
          <a:p>
            <a:fld id="{ECAB64A0-D49F-4356-A295-EC5B0CCCE6D4}" type="slidenum">
              <a:rPr lang="en-US" smtClean="0"/>
              <a:t>41</a:t>
            </a:fld>
            <a:endParaRPr lang="en-US"/>
          </a:p>
        </p:txBody>
      </p:sp>
    </p:spTree>
    <p:extLst>
      <p:ext uri="{BB962C8B-B14F-4D97-AF65-F5344CB8AC3E}">
        <p14:creationId xmlns:p14="http://schemas.microsoft.com/office/powerpoint/2010/main" val="6984302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716BD-37B8-DBC9-FE54-E1CFE080B67B}"/>
              </a:ext>
            </a:extLst>
          </p:cNvPr>
          <p:cNvSpPr>
            <a:spLocks noGrp="1"/>
          </p:cNvSpPr>
          <p:nvPr>
            <p:ph type="title"/>
          </p:nvPr>
        </p:nvSpPr>
        <p:spPr/>
        <p:txBody>
          <a:bodyPr/>
          <a:lstStyle/>
          <a:p>
            <a:r>
              <a:rPr lang="en-US" dirty="0"/>
              <a:t>Part 2 – Professional Email Writing</a:t>
            </a:r>
          </a:p>
        </p:txBody>
      </p:sp>
      <p:sp>
        <p:nvSpPr>
          <p:cNvPr id="3" name="Content Placeholder 2">
            <a:extLst>
              <a:ext uri="{FF2B5EF4-FFF2-40B4-BE49-F238E27FC236}">
                <a16:creationId xmlns:a16="http://schemas.microsoft.com/office/drawing/2014/main" id="{484FB8DE-14C4-2444-8818-43BE570339B3}"/>
              </a:ext>
            </a:extLst>
          </p:cNvPr>
          <p:cNvSpPr>
            <a:spLocks noGrp="1"/>
          </p:cNvSpPr>
          <p:nvPr>
            <p:ph sz="half" idx="1"/>
          </p:nvPr>
        </p:nvSpPr>
        <p:spPr/>
        <p:txBody>
          <a:bodyPr/>
          <a:lstStyle/>
          <a:p>
            <a:r>
              <a:rPr lang="en-US" dirty="0"/>
              <a:t>Each member writes </a:t>
            </a:r>
            <a:r>
              <a:rPr lang="en-US" b="1" dirty="0"/>
              <a:t>one professional email</a:t>
            </a:r>
            <a:r>
              <a:rPr lang="en-US" dirty="0"/>
              <a:t> based on a real AI workplace situation:</a:t>
            </a:r>
          </a:p>
        </p:txBody>
      </p:sp>
      <p:graphicFrame>
        <p:nvGraphicFramePr>
          <p:cNvPr id="6" name="Content Placeholder 5">
            <a:extLst>
              <a:ext uri="{FF2B5EF4-FFF2-40B4-BE49-F238E27FC236}">
                <a16:creationId xmlns:a16="http://schemas.microsoft.com/office/drawing/2014/main" id="{0B6FC46E-8895-F0D2-B1AE-A29D33B555A7}"/>
              </a:ext>
            </a:extLst>
          </p:cNvPr>
          <p:cNvGraphicFramePr>
            <a:graphicFrameLocks noGrp="1"/>
          </p:cNvGraphicFramePr>
          <p:nvPr>
            <p:ph sz="half" idx="2"/>
            <p:extLst>
              <p:ext uri="{D42A27DB-BD31-4B8C-83A1-F6EECF244321}">
                <p14:modId xmlns:p14="http://schemas.microsoft.com/office/powerpoint/2010/main" val="374935996"/>
              </p:ext>
            </p:extLst>
          </p:nvPr>
        </p:nvGraphicFramePr>
        <p:xfrm>
          <a:off x="7818438" y="868363"/>
          <a:ext cx="3475036" cy="4028440"/>
        </p:xfrm>
        <a:graphic>
          <a:graphicData uri="http://schemas.openxmlformats.org/drawingml/2006/table">
            <a:tbl>
              <a:tblPr firstRow="1" bandRow="1">
                <a:tableStyleId>{5C22544A-7EE6-4342-B048-85BDC9FD1C3A}</a:tableStyleId>
              </a:tblPr>
              <a:tblGrid>
                <a:gridCol w="1737518">
                  <a:extLst>
                    <a:ext uri="{9D8B030D-6E8A-4147-A177-3AD203B41FA5}">
                      <a16:colId xmlns:a16="http://schemas.microsoft.com/office/drawing/2014/main" val="1165416191"/>
                    </a:ext>
                  </a:extLst>
                </a:gridCol>
                <a:gridCol w="1737518">
                  <a:extLst>
                    <a:ext uri="{9D8B030D-6E8A-4147-A177-3AD203B41FA5}">
                      <a16:colId xmlns:a16="http://schemas.microsoft.com/office/drawing/2014/main" val="3488389927"/>
                    </a:ext>
                  </a:extLst>
                </a:gridCol>
              </a:tblGrid>
              <a:tr h="370840">
                <a:tc>
                  <a:txBody>
                    <a:bodyPr/>
                    <a:lstStyle/>
                    <a:p>
                      <a:r>
                        <a:rPr lang="en-US" dirty="0"/>
                        <a:t>Email Situation</a:t>
                      </a:r>
                    </a:p>
                  </a:txBody>
                  <a:tcPr marL="66832" marR="66832"/>
                </a:tc>
                <a:tc>
                  <a:txBody>
                    <a:bodyPr/>
                    <a:lstStyle/>
                    <a:p>
                      <a:r>
                        <a:rPr lang="en-US" dirty="0"/>
                        <a:t>Purpose</a:t>
                      </a:r>
                    </a:p>
                  </a:txBody>
                  <a:tcPr marL="66832" marR="66832"/>
                </a:tc>
                <a:extLst>
                  <a:ext uri="{0D108BD9-81ED-4DB2-BD59-A6C34878D82A}">
                    <a16:rowId xmlns:a16="http://schemas.microsoft.com/office/drawing/2014/main" val="1123330933"/>
                  </a:ext>
                </a:extLst>
              </a:tr>
              <a:tr h="370840">
                <a:tc>
                  <a:txBody>
                    <a:bodyPr/>
                    <a:lstStyle/>
                    <a:p>
                      <a:r>
                        <a:rPr lang="en-US" dirty="0"/>
                        <a:t>Request GPU access</a:t>
                      </a:r>
                    </a:p>
                  </a:txBody>
                  <a:tcPr marL="66832" marR="66832"/>
                </a:tc>
                <a:tc>
                  <a:txBody>
                    <a:bodyPr/>
                    <a:lstStyle/>
                    <a:p>
                      <a:r>
                        <a:rPr lang="en-US" dirty="0"/>
                        <a:t>Writing a request email to IT</a:t>
                      </a:r>
                    </a:p>
                  </a:txBody>
                  <a:tcPr marL="66832" marR="66832"/>
                </a:tc>
                <a:extLst>
                  <a:ext uri="{0D108BD9-81ED-4DB2-BD59-A6C34878D82A}">
                    <a16:rowId xmlns:a16="http://schemas.microsoft.com/office/drawing/2014/main" val="1659559703"/>
                  </a:ext>
                </a:extLst>
              </a:tr>
              <a:tr h="370840">
                <a:tc>
                  <a:txBody>
                    <a:bodyPr/>
                    <a:lstStyle/>
                    <a:p>
                      <a:r>
                        <a:rPr lang="en-US" dirty="0"/>
                        <a:t>Report model accuracy issue</a:t>
                      </a:r>
                    </a:p>
                  </a:txBody>
                  <a:tcPr marL="66832" marR="66832"/>
                </a:tc>
                <a:tc>
                  <a:txBody>
                    <a:bodyPr/>
                    <a:lstStyle/>
                    <a:p>
                      <a:pPr>
                        <a:buNone/>
                      </a:pPr>
                      <a:r>
                        <a:rPr lang="en-US" dirty="0"/>
                        <a:t>Sending a status update email</a:t>
                      </a:r>
                    </a:p>
                  </a:txBody>
                  <a:tcPr marL="66832" marR="66832" anchor="ctr"/>
                </a:tc>
                <a:extLst>
                  <a:ext uri="{0D108BD9-81ED-4DB2-BD59-A6C34878D82A}">
                    <a16:rowId xmlns:a16="http://schemas.microsoft.com/office/drawing/2014/main" val="628310134"/>
                  </a:ext>
                </a:extLst>
              </a:tr>
              <a:tr h="370840">
                <a:tc>
                  <a:txBody>
                    <a:bodyPr/>
                    <a:lstStyle/>
                    <a:p>
                      <a:r>
                        <a:rPr lang="en-US" dirty="0"/>
                        <a:t>Ask project manager for deadline extension</a:t>
                      </a:r>
                    </a:p>
                  </a:txBody>
                  <a:tcPr marL="66832" marR="66832"/>
                </a:tc>
                <a:tc>
                  <a:txBody>
                    <a:bodyPr/>
                    <a:lstStyle/>
                    <a:p>
                      <a:r>
                        <a:rPr lang="en-US" dirty="0"/>
                        <a:t>Professional request</a:t>
                      </a:r>
                    </a:p>
                  </a:txBody>
                  <a:tcPr marL="66832" marR="66832"/>
                </a:tc>
                <a:extLst>
                  <a:ext uri="{0D108BD9-81ED-4DB2-BD59-A6C34878D82A}">
                    <a16:rowId xmlns:a16="http://schemas.microsoft.com/office/drawing/2014/main" val="511629265"/>
                  </a:ext>
                </a:extLst>
              </a:tr>
              <a:tr h="370840">
                <a:tc>
                  <a:txBody>
                    <a:bodyPr/>
                    <a:lstStyle/>
                    <a:p>
                      <a:r>
                        <a:rPr lang="en-US" dirty="0"/>
                        <a:t>Missing dataset files</a:t>
                      </a:r>
                    </a:p>
                  </a:txBody>
                  <a:tcPr marL="66832" marR="66832"/>
                </a:tc>
                <a:tc>
                  <a:txBody>
                    <a:bodyPr/>
                    <a:lstStyle/>
                    <a:p>
                      <a:r>
                        <a:rPr lang="en-US" dirty="0"/>
                        <a:t>Emailing data engineer for help</a:t>
                      </a:r>
                    </a:p>
                  </a:txBody>
                  <a:tcPr marL="66832" marR="66832"/>
                </a:tc>
                <a:extLst>
                  <a:ext uri="{0D108BD9-81ED-4DB2-BD59-A6C34878D82A}">
                    <a16:rowId xmlns:a16="http://schemas.microsoft.com/office/drawing/2014/main" val="3795861001"/>
                  </a:ext>
                </a:extLst>
              </a:tr>
            </a:tbl>
          </a:graphicData>
        </a:graphic>
      </p:graphicFrame>
      <p:sp>
        <p:nvSpPr>
          <p:cNvPr id="4" name="Slide Number Placeholder 3">
            <a:extLst>
              <a:ext uri="{FF2B5EF4-FFF2-40B4-BE49-F238E27FC236}">
                <a16:creationId xmlns:a16="http://schemas.microsoft.com/office/drawing/2014/main" id="{FF446719-5925-29EC-0EB0-E77B60F034E2}"/>
              </a:ext>
            </a:extLst>
          </p:cNvPr>
          <p:cNvSpPr>
            <a:spLocks noGrp="1"/>
          </p:cNvSpPr>
          <p:nvPr>
            <p:ph type="sldNum" sz="quarter" idx="12"/>
          </p:nvPr>
        </p:nvSpPr>
        <p:spPr/>
        <p:txBody>
          <a:bodyPr/>
          <a:lstStyle/>
          <a:p>
            <a:fld id="{ECAB64A0-D49F-4356-A295-EC5B0CCCE6D4}" type="slidenum">
              <a:rPr lang="en-US" smtClean="0"/>
              <a:t>42</a:t>
            </a:fld>
            <a:endParaRPr lang="en-US"/>
          </a:p>
        </p:txBody>
      </p:sp>
    </p:spTree>
    <p:extLst>
      <p:ext uri="{BB962C8B-B14F-4D97-AF65-F5344CB8AC3E}">
        <p14:creationId xmlns:p14="http://schemas.microsoft.com/office/powerpoint/2010/main" val="17814208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19514-5E07-D8AF-9397-41EF201BE716}"/>
              </a:ext>
            </a:extLst>
          </p:cNvPr>
          <p:cNvSpPr>
            <a:spLocks noGrp="1"/>
          </p:cNvSpPr>
          <p:nvPr>
            <p:ph type="title"/>
          </p:nvPr>
        </p:nvSpPr>
        <p:spPr/>
        <p:txBody>
          <a:bodyPr>
            <a:normAutofit/>
          </a:bodyPr>
          <a:lstStyle/>
          <a:p>
            <a:r>
              <a:rPr lang="en-US" dirty="0"/>
              <a:t>Part 2 – Professional Email Writing (Sample Answers)</a:t>
            </a:r>
          </a:p>
        </p:txBody>
      </p:sp>
      <p:sp>
        <p:nvSpPr>
          <p:cNvPr id="3" name="Content Placeholder 2">
            <a:extLst>
              <a:ext uri="{FF2B5EF4-FFF2-40B4-BE49-F238E27FC236}">
                <a16:creationId xmlns:a16="http://schemas.microsoft.com/office/drawing/2014/main" id="{B6EE8252-7670-F95C-BB4C-BC412C2CBF18}"/>
              </a:ext>
            </a:extLst>
          </p:cNvPr>
          <p:cNvSpPr>
            <a:spLocks noGrp="1"/>
          </p:cNvSpPr>
          <p:nvPr>
            <p:ph idx="1"/>
          </p:nvPr>
        </p:nvSpPr>
        <p:spPr/>
        <p:txBody>
          <a:bodyPr>
            <a:normAutofit/>
          </a:bodyPr>
          <a:lstStyle/>
          <a:p>
            <a:pPr algn="just"/>
            <a:r>
              <a:rPr lang="fr-FR" b="1" dirty="0"/>
              <a:t>Email 1 – </a:t>
            </a:r>
            <a:r>
              <a:rPr lang="fr-FR" b="1" dirty="0" err="1"/>
              <a:t>Request</a:t>
            </a:r>
            <a:r>
              <a:rPr lang="fr-FR" b="1" dirty="0"/>
              <a:t> GPU </a:t>
            </a:r>
            <a:r>
              <a:rPr lang="fr-FR" b="1" dirty="0" err="1"/>
              <a:t>access</a:t>
            </a:r>
            <a:endParaRPr lang="fr-FR" dirty="0"/>
          </a:p>
          <a:p>
            <a:pPr marL="0" indent="0" algn="just">
              <a:buNone/>
            </a:pPr>
            <a:r>
              <a:rPr lang="en-US" dirty="0"/>
              <a:t>Subject: Request for GPU Server Access</a:t>
            </a:r>
          </a:p>
          <a:p>
            <a:pPr marL="0" indent="0" algn="just">
              <a:buNone/>
            </a:pPr>
            <a:r>
              <a:rPr lang="en-US" dirty="0"/>
              <a:t>Dear IT Support Team,</a:t>
            </a:r>
          </a:p>
          <a:p>
            <a:pPr marL="0" indent="0" algn="just">
              <a:buNone/>
            </a:pPr>
            <a:r>
              <a:rPr lang="en-US" dirty="0"/>
              <a:t>I hope you are doing well. I am working on the Fake News Detection project, and I need access to GPU Server G-02 to continue model training.</a:t>
            </a:r>
          </a:p>
          <a:p>
            <a:pPr marL="0" indent="0" algn="just">
              <a:buNone/>
            </a:pPr>
            <a:r>
              <a:rPr lang="en-US" dirty="0"/>
              <a:t>Could you please grant me access today?</a:t>
            </a:r>
          </a:p>
          <a:p>
            <a:pPr marL="0" indent="0" algn="just">
              <a:buNone/>
            </a:pPr>
            <a:r>
              <a:rPr lang="en-US" dirty="0"/>
              <a:t>Thank you in advance.</a:t>
            </a:r>
          </a:p>
          <a:p>
            <a:pPr marL="0" indent="0" algn="just">
              <a:buNone/>
            </a:pPr>
            <a:r>
              <a:rPr lang="en-US" dirty="0"/>
              <a:t>Best regards,</a:t>
            </a:r>
          </a:p>
          <a:p>
            <a:pPr marL="0" indent="0" algn="just">
              <a:buNone/>
            </a:pPr>
            <a:r>
              <a:rPr lang="en-US" dirty="0"/>
              <a:t>[Name]</a:t>
            </a:r>
          </a:p>
          <a:p>
            <a:pPr marL="0" indent="0" algn="just">
              <a:buNone/>
            </a:pPr>
            <a:r>
              <a:rPr lang="en-US" dirty="0"/>
              <a:t>ML Engineer – AI Team</a:t>
            </a:r>
          </a:p>
        </p:txBody>
      </p:sp>
      <p:sp>
        <p:nvSpPr>
          <p:cNvPr id="4" name="Slide Number Placeholder 3">
            <a:extLst>
              <a:ext uri="{FF2B5EF4-FFF2-40B4-BE49-F238E27FC236}">
                <a16:creationId xmlns:a16="http://schemas.microsoft.com/office/drawing/2014/main" id="{9AB58425-8894-1848-2B28-DA804BC35EE9}"/>
              </a:ext>
            </a:extLst>
          </p:cNvPr>
          <p:cNvSpPr>
            <a:spLocks noGrp="1"/>
          </p:cNvSpPr>
          <p:nvPr>
            <p:ph type="sldNum" sz="quarter" idx="12"/>
          </p:nvPr>
        </p:nvSpPr>
        <p:spPr/>
        <p:txBody>
          <a:bodyPr/>
          <a:lstStyle/>
          <a:p>
            <a:fld id="{ECAB64A0-D49F-4356-A295-EC5B0CCCE6D4}" type="slidenum">
              <a:rPr lang="en-US" smtClean="0"/>
              <a:t>43</a:t>
            </a:fld>
            <a:endParaRPr lang="en-US"/>
          </a:p>
        </p:txBody>
      </p:sp>
    </p:spTree>
    <p:extLst>
      <p:ext uri="{BB962C8B-B14F-4D97-AF65-F5344CB8AC3E}">
        <p14:creationId xmlns:p14="http://schemas.microsoft.com/office/powerpoint/2010/main" val="290279077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45248-1551-9686-2698-5929E75B5D82}"/>
              </a:ext>
            </a:extLst>
          </p:cNvPr>
          <p:cNvSpPr>
            <a:spLocks noGrp="1"/>
          </p:cNvSpPr>
          <p:nvPr>
            <p:ph type="title"/>
          </p:nvPr>
        </p:nvSpPr>
        <p:spPr/>
        <p:txBody>
          <a:bodyPr>
            <a:normAutofit/>
          </a:bodyPr>
          <a:lstStyle/>
          <a:p>
            <a:r>
              <a:rPr lang="en-US" dirty="0"/>
              <a:t>Email 2 – Reporting Model Accuracy Issue</a:t>
            </a:r>
          </a:p>
        </p:txBody>
      </p:sp>
      <p:sp>
        <p:nvSpPr>
          <p:cNvPr id="3" name="Content Placeholder 2">
            <a:extLst>
              <a:ext uri="{FF2B5EF4-FFF2-40B4-BE49-F238E27FC236}">
                <a16:creationId xmlns:a16="http://schemas.microsoft.com/office/drawing/2014/main" id="{B9262686-7026-6CDF-E7AF-3D5B3D8745F4}"/>
              </a:ext>
            </a:extLst>
          </p:cNvPr>
          <p:cNvSpPr>
            <a:spLocks noGrp="1"/>
          </p:cNvSpPr>
          <p:nvPr>
            <p:ph idx="1"/>
          </p:nvPr>
        </p:nvSpPr>
        <p:spPr/>
        <p:txBody>
          <a:bodyPr>
            <a:normAutofit/>
          </a:bodyPr>
          <a:lstStyle/>
          <a:p>
            <a:r>
              <a:rPr lang="en-US" b="1" dirty="0"/>
              <a:t>Subject: Model Accuracy Issue – Fake News Project</a:t>
            </a:r>
          </a:p>
          <a:p>
            <a:pPr marL="0" indent="0" algn="just">
              <a:buNone/>
            </a:pPr>
            <a:r>
              <a:rPr lang="en-US" dirty="0"/>
              <a:t>Dear Team,</a:t>
            </a:r>
          </a:p>
          <a:p>
            <a:pPr marL="0" indent="0" algn="just">
              <a:buNone/>
            </a:pPr>
            <a:r>
              <a:rPr lang="en-US" dirty="0"/>
              <a:t>I would like to inform you that the current model accuracy has dropped from 87% to 80% after data cleaning. I suspect this issue may be caused by data imbalance.</a:t>
            </a:r>
          </a:p>
          <a:p>
            <a:pPr marL="0" indent="0" algn="just">
              <a:buNone/>
            </a:pPr>
            <a:r>
              <a:rPr lang="en-US" dirty="0"/>
              <a:t>I will run experiments using class weighting to address this. I will share results tomorrow.</a:t>
            </a:r>
          </a:p>
          <a:p>
            <a:pPr marL="0" indent="0" algn="just">
              <a:buNone/>
            </a:pPr>
            <a:r>
              <a:rPr lang="en-US" dirty="0"/>
              <a:t>Best regards,</a:t>
            </a:r>
          </a:p>
          <a:p>
            <a:pPr marL="0" indent="0" algn="just">
              <a:buNone/>
            </a:pPr>
            <a:r>
              <a:rPr lang="en-US" dirty="0"/>
              <a:t>[Name]</a:t>
            </a:r>
          </a:p>
        </p:txBody>
      </p:sp>
      <p:sp>
        <p:nvSpPr>
          <p:cNvPr id="4" name="Slide Number Placeholder 3">
            <a:extLst>
              <a:ext uri="{FF2B5EF4-FFF2-40B4-BE49-F238E27FC236}">
                <a16:creationId xmlns:a16="http://schemas.microsoft.com/office/drawing/2014/main" id="{EE4D1DC6-77F8-3293-18EB-61A281352AC9}"/>
              </a:ext>
            </a:extLst>
          </p:cNvPr>
          <p:cNvSpPr>
            <a:spLocks noGrp="1"/>
          </p:cNvSpPr>
          <p:nvPr>
            <p:ph type="sldNum" sz="quarter" idx="12"/>
          </p:nvPr>
        </p:nvSpPr>
        <p:spPr/>
        <p:txBody>
          <a:bodyPr/>
          <a:lstStyle/>
          <a:p>
            <a:fld id="{ECAB64A0-D49F-4356-A295-EC5B0CCCE6D4}" type="slidenum">
              <a:rPr lang="en-US" smtClean="0"/>
              <a:t>44</a:t>
            </a:fld>
            <a:endParaRPr lang="en-US"/>
          </a:p>
        </p:txBody>
      </p:sp>
    </p:spTree>
    <p:extLst>
      <p:ext uri="{BB962C8B-B14F-4D97-AF65-F5344CB8AC3E}">
        <p14:creationId xmlns:p14="http://schemas.microsoft.com/office/powerpoint/2010/main" val="2954969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4594F-7136-4F52-0A05-B2E8529F4ECF}"/>
              </a:ext>
            </a:extLst>
          </p:cNvPr>
          <p:cNvSpPr>
            <a:spLocks noGrp="1"/>
          </p:cNvSpPr>
          <p:nvPr>
            <p:ph type="title"/>
          </p:nvPr>
        </p:nvSpPr>
        <p:spPr/>
        <p:txBody>
          <a:bodyPr>
            <a:normAutofit/>
          </a:bodyPr>
          <a:lstStyle/>
          <a:p>
            <a:r>
              <a:rPr lang="en-US" dirty="0"/>
              <a:t>Email 3 – Deadline Extension Request</a:t>
            </a:r>
          </a:p>
        </p:txBody>
      </p:sp>
      <p:sp>
        <p:nvSpPr>
          <p:cNvPr id="3" name="Content Placeholder 2">
            <a:extLst>
              <a:ext uri="{FF2B5EF4-FFF2-40B4-BE49-F238E27FC236}">
                <a16:creationId xmlns:a16="http://schemas.microsoft.com/office/drawing/2014/main" id="{94FE7D3D-9057-548F-B8BB-4674382FB379}"/>
              </a:ext>
            </a:extLst>
          </p:cNvPr>
          <p:cNvSpPr>
            <a:spLocks noGrp="1"/>
          </p:cNvSpPr>
          <p:nvPr>
            <p:ph idx="1"/>
          </p:nvPr>
        </p:nvSpPr>
        <p:spPr/>
        <p:txBody>
          <a:bodyPr/>
          <a:lstStyle/>
          <a:p>
            <a:r>
              <a:rPr lang="en-US" b="1" dirty="0"/>
              <a:t>Subject: Request for Deadline Extension</a:t>
            </a:r>
          </a:p>
          <a:p>
            <a:pPr marL="0" indent="0" algn="just">
              <a:buNone/>
            </a:pPr>
            <a:r>
              <a:rPr lang="en-US" dirty="0"/>
              <a:t>Dear Project Manager,</a:t>
            </a:r>
          </a:p>
          <a:p>
            <a:pPr marL="0" indent="0" algn="just">
              <a:buNone/>
            </a:pPr>
            <a:r>
              <a:rPr lang="en-US" dirty="0"/>
              <a:t>I hope you are doing well. I am writing to request a two-day extension for the evaluation report. I faced a technical issue with the tokenizer during preprocessing and need additional time to complete testing.</a:t>
            </a:r>
          </a:p>
          <a:p>
            <a:pPr marL="0" indent="0" algn="just">
              <a:buNone/>
            </a:pPr>
            <a:r>
              <a:rPr lang="en-US" dirty="0"/>
              <a:t>Is it possible to submit the report by Friday?</a:t>
            </a:r>
          </a:p>
          <a:p>
            <a:pPr marL="0" indent="0" algn="just">
              <a:buNone/>
            </a:pPr>
            <a:r>
              <a:rPr lang="en-US" dirty="0"/>
              <a:t>Best regards,</a:t>
            </a:r>
          </a:p>
          <a:p>
            <a:pPr marL="0" indent="0" algn="just">
              <a:buNone/>
            </a:pPr>
            <a:r>
              <a:rPr lang="en-US" dirty="0"/>
              <a:t>[Name]</a:t>
            </a:r>
          </a:p>
        </p:txBody>
      </p:sp>
      <p:sp>
        <p:nvSpPr>
          <p:cNvPr id="4" name="Slide Number Placeholder 3">
            <a:extLst>
              <a:ext uri="{FF2B5EF4-FFF2-40B4-BE49-F238E27FC236}">
                <a16:creationId xmlns:a16="http://schemas.microsoft.com/office/drawing/2014/main" id="{F6EFDE87-0D42-8AFC-C93B-B77FB4EE9A8D}"/>
              </a:ext>
            </a:extLst>
          </p:cNvPr>
          <p:cNvSpPr>
            <a:spLocks noGrp="1"/>
          </p:cNvSpPr>
          <p:nvPr>
            <p:ph type="sldNum" sz="quarter" idx="12"/>
          </p:nvPr>
        </p:nvSpPr>
        <p:spPr/>
        <p:txBody>
          <a:bodyPr/>
          <a:lstStyle/>
          <a:p>
            <a:fld id="{ECAB64A0-D49F-4356-A295-EC5B0CCCE6D4}" type="slidenum">
              <a:rPr lang="en-US" smtClean="0"/>
              <a:t>45</a:t>
            </a:fld>
            <a:endParaRPr lang="en-US"/>
          </a:p>
        </p:txBody>
      </p:sp>
    </p:spTree>
    <p:extLst>
      <p:ext uri="{BB962C8B-B14F-4D97-AF65-F5344CB8AC3E}">
        <p14:creationId xmlns:p14="http://schemas.microsoft.com/office/powerpoint/2010/main" val="40365839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EB42F-B0CD-D441-B749-09CD1E766DBB}"/>
              </a:ext>
            </a:extLst>
          </p:cNvPr>
          <p:cNvSpPr>
            <a:spLocks noGrp="1"/>
          </p:cNvSpPr>
          <p:nvPr>
            <p:ph type="title"/>
          </p:nvPr>
        </p:nvSpPr>
        <p:spPr/>
        <p:txBody>
          <a:bodyPr/>
          <a:lstStyle/>
          <a:p>
            <a:r>
              <a:rPr lang="en-US" dirty="0"/>
              <a:t>Email 4 – Missing Dataset Files</a:t>
            </a:r>
          </a:p>
        </p:txBody>
      </p:sp>
      <p:sp>
        <p:nvSpPr>
          <p:cNvPr id="3" name="Content Placeholder 2">
            <a:extLst>
              <a:ext uri="{FF2B5EF4-FFF2-40B4-BE49-F238E27FC236}">
                <a16:creationId xmlns:a16="http://schemas.microsoft.com/office/drawing/2014/main" id="{9E6E250C-8290-BACD-6348-1A5370C63F19}"/>
              </a:ext>
            </a:extLst>
          </p:cNvPr>
          <p:cNvSpPr>
            <a:spLocks noGrp="1"/>
          </p:cNvSpPr>
          <p:nvPr>
            <p:ph idx="1"/>
          </p:nvPr>
        </p:nvSpPr>
        <p:spPr/>
        <p:txBody>
          <a:bodyPr/>
          <a:lstStyle/>
          <a:p>
            <a:r>
              <a:rPr lang="en-US" b="1" dirty="0"/>
              <a:t>Subject: Missing Dataset Files – Urgent</a:t>
            </a:r>
          </a:p>
          <a:p>
            <a:pPr marL="0" indent="0" algn="just">
              <a:buNone/>
            </a:pPr>
            <a:r>
              <a:rPr lang="en-US" dirty="0"/>
              <a:t>Hello [Data Engineer],</a:t>
            </a:r>
          </a:p>
          <a:p>
            <a:pPr marL="0" indent="0" algn="just">
              <a:buNone/>
            </a:pPr>
            <a:r>
              <a:rPr lang="en-US" dirty="0"/>
              <a:t>I noticed that some JSON files are missing from the dataset in folder /dataset/v2/news/. Could you please upload the complete dataset or share the correct directory?</a:t>
            </a:r>
          </a:p>
          <a:p>
            <a:pPr marL="0" indent="0" algn="just">
              <a:buNone/>
            </a:pPr>
            <a:r>
              <a:rPr lang="en-US" dirty="0"/>
              <a:t>Thank you.</a:t>
            </a:r>
          </a:p>
          <a:p>
            <a:pPr marL="0" indent="0" algn="just">
              <a:buNone/>
            </a:pPr>
            <a:r>
              <a:rPr lang="en-US" dirty="0"/>
              <a:t>Kind regards,</a:t>
            </a:r>
          </a:p>
          <a:p>
            <a:pPr marL="0" indent="0" algn="just">
              <a:buNone/>
            </a:pPr>
            <a:r>
              <a:rPr lang="en-US" dirty="0"/>
              <a:t>[Name]</a:t>
            </a:r>
          </a:p>
        </p:txBody>
      </p:sp>
      <p:sp>
        <p:nvSpPr>
          <p:cNvPr id="4" name="Slide Number Placeholder 3">
            <a:extLst>
              <a:ext uri="{FF2B5EF4-FFF2-40B4-BE49-F238E27FC236}">
                <a16:creationId xmlns:a16="http://schemas.microsoft.com/office/drawing/2014/main" id="{3D65E6DB-4752-950A-CDAF-B80F369250AB}"/>
              </a:ext>
            </a:extLst>
          </p:cNvPr>
          <p:cNvSpPr>
            <a:spLocks noGrp="1"/>
          </p:cNvSpPr>
          <p:nvPr>
            <p:ph type="sldNum" sz="quarter" idx="12"/>
          </p:nvPr>
        </p:nvSpPr>
        <p:spPr/>
        <p:txBody>
          <a:bodyPr/>
          <a:lstStyle/>
          <a:p>
            <a:fld id="{ECAB64A0-D49F-4356-A295-EC5B0CCCE6D4}" type="slidenum">
              <a:rPr lang="en-US" smtClean="0"/>
              <a:t>46</a:t>
            </a:fld>
            <a:endParaRPr lang="en-US"/>
          </a:p>
        </p:txBody>
      </p:sp>
    </p:spTree>
    <p:extLst>
      <p:ext uri="{BB962C8B-B14F-4D97-AF65-F5344CB8AC3E}">
        <p14:creationId xmlns:p14="http://schemas.microsoft.com/office/powerpoint/2010/main" val="362742773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4271C-54FE-D71E-DFD4-F9675927F131}"/>
              </a:ext>
            </a:extLst>
          </p:cNvPr>
          <p:cNvSpPr>
            <a:spLocks noGrp="1"/>
          </p:cNvSpPr>
          <p:nvPr>
            <p:ph type="title"/>
          </p:nvPr>
        </p:nvSpPr>
        <p:spPr/>
        <p:txBody>
          <a:bodyPr>
            <a:normAutofit/>
          </a:bodyPr>
          <a:lstStyle/>
          <a:p>
            <a:r>
              <a:rPr lang="en-US" dirty="0"/>
              <a:t>Email 5 – Request for Meeting with Supervisor</a:t>
            </a:r>
          </a:p>
        </p:txBody>
      </p:sp>
      <p:sp>
        <p:nvSpPr>
          <p:cNvPr id="3" name="Content Placeholder 2">
            <a:extLst>
              <a:ext uri="{FF2B5EF4-FFF2-40B4-BE49-F238E27FC236}">
                <a16:creationId xmlns:a16="http://schemas.microsoft.com/office/drawing/2014/main" id="{54673B31-B9F8-6A34-907A-33C3DBCD7689}"/>
              </a:ext>
            </a:extLst>
          </p:cNvPr>
          <p:cNvSpPr>
            <a:spLocks noGrp="1"/>
          </p:cNvSpPr>
          <p:nvPr>
            <p:ph idx="1"/>
          </p:nvPr>
        </p:nvSpPr>
        <p:spPr/>
        <p:txBody>
          <a:bodyPr/>
          <a:lstStyle/>
          <a:p>
            <a:r>
              <a:rPr lang="en-US" b="1" dirty="0"/>
              <a:t>Subject: Request for Short Meeting – Project Update</a:t>
            </a:r>
          </a:p>
          <a:p>
            <a:pPr marL="0" indent="0" algn="just">
              <a:buNone/>
            </a:pPr>
            <a:r>
              <a:rPr lang="en-US" dirty="0"/>
              <a:t>Dear Dr. Karim,</a:t>
            </a:r>
          </a:p>
          <a:p>
            <a:pPr marL="0" indent="0" algn="just">
              <a:buNone/>
            </a:pPr>
            <a:r>
              <a:rPr lang="en-US" dirty="0"/>
              <a:t>I hope you are doing well. I would like to schedule a short meeting to discuss the model deployment plan and get your feedback on the current progress.</a:t>
            </a:r>
          </a:p>
          <a:p>
            <a:pPr marL="0" indent="0" algn="just">
              <a:buNone/>
            </a:pPr>
            <a:r>
              <a:rPr lang="en-US" dirty="0"/>
              <a:t>Are you available tomorrow between 2:00–4:00 PM?</a:t>
            </a:r>
          </a:p>
          <a:p>
            <a:pPr marL="0" indent="0" algn="just">
              <a:buNone/>
            </a:pPr>
            <a:r>
              <a:rPr lang="en-US" dirty="0"/>
              <a:t>Best regards,</a:t>
            </a:r>
          </a:p>
          <a:p>
            <a:pPr marL="0" indent="0" algn="just">
              <a:buNone/>
            </a:pPr>
            <a:r>
              <a:rPr lang="en-US" dirty="0"/>
              <a:t>[Name]</a:t>
            </a:r>
          </a:p>
          <a:p>
            <a:pPr marL="0" indent="0" algn="just">
              <a:buNone/>
            </a:pPr>
            <a:r>
              <a:rPr lang="en-US" dirty="0"/>
              <a:t>AI Engineer – NLP Team</a:t>
            </a:r>
          </a:p>
        </p:txBody>
      </p:sp>
      <p:sp>
        <p:nvSpPr>
          <p:cNvPr id="4" name="Slide Number Placeholder 3">
            <a:extLst>
              <a:ext uri="{FF2B5EF4-FFF2-40B4-BE49-F238E27FC236}">
                <a16:creationId xmlns:a16="http://schemas.microsoft.com/office/drawing/2014/main" id="{B6A648DA-E5A7-5DED-E403-EEECD930F67D}"/>
              </a:ext>
            </a:extLst>
          </p:cNvPr>
          <p:cNvSpPr>
            <a:spLocks noGrp="1"/>
          </p:cNvSpPr>
          <p:nvPr>
            <p:ph type="sldNum" sz="quarter" idx="12"/>
          </p:nvPr>
        </p:nvSpPr>
        <p:spPr/>
        <p:txBody>
          <a:bodyPr/>
          <a:lstStyle/>
          <a:p>
            <a:fld id="{ECAB64A0-D49F-4356-A295-EC5B0CCCE6D4}" type="slidenum">
              <a:rPr lang="en-US" smtClean="0"/>
              <a:t>47</a:t>
            </a:fld>
            <a:endParaRPr lang="en-US"/>
          </a:p>
        </p:txBody>
      </p:sp>
    </p:spTree>
    <p:extLst>
      <p:ext uri="{BB962C8B-B14F-4D97-AF65-F5344CB8AC3E}">
        <p14:creationId xmlns:p14="http://schemas.microsoft.com/office/powerpoint/2010/main" val="22792477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Closing</a:t>
            </a:r>
          </a:p>
        </p:txBody>
      </p:sp>
      <p:sp>
        <p:nvSpPr>
          <p:cNvPr id="3" name="Content Placeholder 2"/>
          <p:cNvSpPr>
            <a:spLocks noGrp="1"/>
          </p:cNvSpPr>
          <p:nvPr>
            <p:ph idx="1"/>
          </p:nvPr>
        </p:nvSpPr>
        <p:spPr/>
        <p:txBody>
          <a:bodyPr>
            <a:normAutofit/>
          </a:bodyPr>
          <a:lstStyle/>
          <a:p>
            <a:pPr algn="ctr"/>
            <a:endParaRPr sz="2400" b="1" dirty="0"/>
          </a:p>
          <a:p>
            <a:pPr algn="ctr">
              <a:defRPr sz="2000">
                <a:latin typeface="Arial"/>
              </a:defRPr>
            </a:pPr>
            <a:r>
              <a:rPr sz="2800" b="1" dirty="0"/>
              <a:t>🚀 Scientific English = Your Passport to International Data Science!</a:t>
            </a:r>
          </a:p>
        </p:txBody>
      </p:sp>
      <p:sp>
        <p:nvSpPr>
          <p:cNvPr id="4" name="Slide Number Placeholder 3">
            <a:extLst>
              <a:ext uri="{FF2B5EF4-FFF2-40B4-BE49-F238E27FC236}">
                <a16:creationId xmlns:a16="http://schemas.microsoft.com/office/drawing/2014/main" id="{B0245834-ECA9-79F1-B2CE-FD6F80EE56AF}"/>
              </a:ext>
            </a:extLst>
          </p:cNvPr>
          <p:cNvSpPr>
            <a:spLocks noGrp="1"/>
          </p:cNvSpPr>
          <p:nvPr>
            <p:ph type="sldNum" sz="quarter" idx="12"/>
          </p:nvPr>
        </p:nvSpPr>
        <p:spPr/>
        <p:txBody>
          <a:bodyPr/>
          <a:lstStyle/>
          <a:p>
            <a:fld id="{ECAB64A0-D49F-4356-A295-EC5B0CCCE6D4}" type="slidenum">
              <a:rPr lang="en-US" smtClean="0"/>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FF812-710C-8107-E883-994DDBD503BE}"/>
              </a:ext>
            </a:extLst>
          </p:cNvPr>
          <p:cNvSpPr>
            <a:spLocks noGrp="1"/>
          </p:cNvSpPr>
          <p:nvPr>
            <p:ph type="title"/>
          </p:nvPr>
        </p:nvSpPr>
        <p:spPr/>
        <p:txBody>
          <a:bodyPr/>
          <a:lstStyle/>
          <a:p>
            <a:r>
              <a:rPr lang="en-US"/>
              <a:t>Homework</a:t>
            </a:r>
            <a:endParaRPr lang="en-US" dirty="0"/>
          </a:p>
        </p:txBody>
      </p:sp>
      <p:sp>
        <p:nvSpPr>
          <p:cNvPr id="3" name="Content Placeholder 2">
            <a:extLst>
              <a:ext uri="{FF2B5EF4-FFF2-40B4-BE49-F238E27FC236}">
                <a16:creationId xmlns:a16="http://schemas.microsoft.com/office/drawing/2014/main" id="{A9217BCD-4F6D-F7FD-5E58-1D631173A832}"/>
              </a:ext>
            </a:extLst>
          </p:cNvPr>
          <p:cNvSpPr>
            <a:spLocks noGrp="1"/>
          </p:cNvSpPr>
          <p:nvPr>
            <p:ph idx="1"/>
          </p:nvPr>
        </p:nvSpPr>
        <p:spPr/>
        <p:txBody>
          <a:bodyPr/>
          <a:lstStyle/>
          <a:p>
            <a:r>
              <a:rPr lang="en-US" dirty="0"/>
              <a:t>Email 1: Thank you email after meeting: Follow-up after receiving guidance or support</a:t>
            </a:r>
          </a:p>
          <a:p>
            <a:r>
              <a:rPr lang="en-US" dirty="0"/>
              <a:t>Email 2: Share a code snippet or solution: Send code or solution to a colleague</a:t>
            </a:r>
          </a:p>
          <a:p>
            <a:endParaRPr lang="en-US" dirty="0"/>
          </a:p>
        </p:txBody>
      </p:sp>
      <p:sp>
        <p:nvSpPr>
          <p:cNvPr id="4" name="Slide Number Placeholder 3">
            <a:extLst>
              <a:ext uri="{FF2B5EF4-FFF2-40B4-BE49-F238E27FC236}">
                <a16:creationId xmlns:a16="http://schemas.microsoft.com/office/drawing/2014/main" id="{C05ABF99-5564-5EDF-81C9-D9A2FA2961AE}"/>
              </a:ext>
            </a:extLst>
          </p:cNvPr>
          <p:cNvSpPr>
            <a:spLocks noGrp="1"/>
          </p:cNvSpPr>
          <p:nvPr>
            <p:ph type="sldNum" sz="quarter" idx="12"/>
          </p:nvPr>
        </p:nvSpPr>
        <p:spPr/>
        <p:txBody>
          <a:bodyPr/>
          <a:lstStyle/>
          <a:p>
            <a:fld id="{ECAB64A0-D49F-4356-A295-EC5B0CCCE6D4}" type="slidenum">
              <a:rPr lang="en-US" smtClean="0"/>
              <a:t>49</a:t>
            </a:fld>
            <a:endParaRPr lang="en-US"/>
          </a:p>
        </p:txBody>
      </p:sp>
    </p:spTree>
    <p:extLst>
      <p:ext uri="{BB962C8B-B14F-4D97-AF65-F5344CB8AC3E}">
        <p14:creationId xmlns:p14="http://schemas.microsoft.com/office/powerpoint/2010/main" val="1933621955"/>
      </p:ext>
    </p:extLst>
  </p:cSld>
  <p:clrMapOvr>
    <a:masterClrMapping/>
  </p:clrMapOvr>
</p:sld>
</file>

<file path=ppt/theme/theme1.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Frame</Template>
  <TotalTime>393</TotalTime>
  <Words>3569</Words>
  <Application>Microsoft Office PowerPoint</Application>
  <PresentationFormat>Widescreen</PresentationFormat>
  <Paragraphs>464</Paragraphs>
  <Slides>49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49</vt:i4>
      </vt:variant>
    </vt:vector>
  </HeadingPairs>
  <TitlesOfParts>
    <vt:vector size="54" baseType="lpstr">
      <vt:lpstr>Calibri</vt:lpstr>
      <vt:lpstr>Corbel</vt:lpstr>
      <vt:lpstr>Wingdings</vt:lpstr>
      <vt:lpstr>Wingdings 2</vt:lpstr>
      <vt:lpstr>Frame</vt:lpstr>
      <vt:lpstr>Scientific English and communication skills</vt:lpstr>
      <vt:lpstr>Outline </vt:lpstr>
      <vt:lpstr>Chapter 1: Introduction to Scientific and Professional English </vt:lpstr>
      <vt:lpstr>What is Scientific English?</vt:lpstr>
      <vt:lpstr>Why English in Science?</vt:lpstr>
      <vt:lpstr>Characteristics of Scientific English</vt:lpstr>
      <vt:lpstr>Why learn it?</vt:lpstr>
      <vt:lpstr>Vocabulary for Scientific English</vt:lpstr>
      <vt:lpstr>Activity : Presentation Practice </vt:lpstr>
      <vt:lpstr>Example</vt:lpstr>
      <vt:lpstr>Scientific English in Data Science &amp; AI </vt:lpstr>
      <vt:lpstr>PowerPoint Presentation</vt:lpstr>
      <vt:lpstr>Example: Professional Report Language</vt:lpstr>
      <vt:lpstr>Exercise 1: Identify Features </vt:lpstr>
      <vt:lpstr>Passive voice</vt:lpstr>
      <vt:lpstr>Exercise: Rewrite informal text into scientific English. </vt:lpstr>
      <vt:lpstr>Exercise: Rewrite informal text into scientific English</vt:lpstr>
      <vt:lpstr>Exercise: Rewrite informal text into scientific English</vt:lpstr>
      <vt:lpstr>Exercise: Rewrite informal text into scientific English</vt:lpstr>
      <vt:lpstr>Academic vs Professional English</vt:lpstr>
      <vt:lpstr>Example Comparison </vt:lpstr>
      <vt:lpstr>Vocabulary Matching </vt:lpstr>
      <vt:lpstr>IMRaD Structure (Research Writing) </vt:lpstr>
      <vt:lpstr>Why IMRaD is useful for Professional Master students</vt:lpstr>
      <vt:lpstr>IMRaD Example – Fake News Detection Using Machine Learning</vt:lpstr>
      <vt:lpstr>IMRaD Example – Fake News Detection Using Machine Learning</vt:lpstr>
      <vt:lpstr>IMRaD Example – Fake News Detection Using Machine Learning</vt:lpstr>
      <vt:lpstr>Example (Deep Learning context) </vt:lpstr>
      <vt:lpstr>Mini Exercise (10 min): Write IMRaD outline for: "Detecting fake images using GANs"</vt:lpstr>
      <vt:lpstr>Mini Exercise (10 min): Write IMRaD outline for: "Detecting fake images using GANs" </vt:lpstr>
      <vt:lpstr>Academic Integrity &amp; Avoiding Plagiarism </vt:lpstr>
      <vt:lpstr>Professional Communication</vt:lpstr>
      <vt:lpstr>Types of Professional Communication </vt:lpstr>
      <vt:lpstr>Professional Email Writing in Academia &amp; AI Industry</vt:lpstr>
      <vt:lpstr>Professional Communication (Email)</vt:lpstr>
      <vt:lpstr>Activity 1: Writing a Professional Email </vt:lpstr>
      <vt:lpstr>Scientific and Technical Vocabulary for AI Industry</vt:lpstr>
      <vt:lpstr>Main Group Activity – AI Team Communication + Email Task</vt:lpstr>
      <vt:lpstr>Part 1 – Team Meeting Roleplay </vt:lpstr>
      <vt:lpstr>PowerPoint Presentation</vt:lpstr>
      <vt:lpstr>Part 1 – AI Team Meeting Roleplay (Sample Dialogue) </vt:lpstr>
      <vt:lpstr>Part 2 – Professional Email Writing</vt:lpstr>
      <vt:lpstr>Part 2 – Professional Email Writing (Sample Answers)</vt:lpstr>
      <vt:lpstr>Email 2 – Reporting Model Accuracy Issue</vt:lpstr>
      <vt:lpstr>Email 3 – Deadline Extension Request</vt:lpstr>
      <vt:lpstr>Email 4 – Missing Dataset Files</vt:lpstr>
      <vt:lpstr>Email 5 – Request for Meeting with Supervisor</vt:lpstr>
      <vt:lpstr>Closing</vt:lpstr>
      <vt:lpstr>Homework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Zeinab Abbas</dc:creator>
  <cp:lastModifiedBy>Zeinab Abbas</cp:lastModifiedBy>
  <cp:revision>84</cp:revision>
  <dcterms:created xsi:type="dcterms:W3CDTF">2025-10-10T17:00:03Z</dcterms:created>
  <dcterms:modified xsi:type="dcterms:W3CDTF">2026-09-22T09:58:44Z</dcterms:modified>
</cp:coreProperties>
</file>